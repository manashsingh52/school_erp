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2fa6356-1293-51e2-2ff0-7ed03cd00f57}">
          <p14:sldIdLst>
            <p14:sldId id="256"/>
          </p14:sldIdLst>
        </p14:section>
        <p14:section name="Your school today" id="{f8bae2de-1175-f9ec-8a2b-8cceff4ceef3}">
          <p14:sldIdLst>
            <p14:sldId id="257"/>
            <p14:sldId id="258"/>
            <p14:sldId id="259"/>
          </p14:sldIdLst>
        </p14:section>
        <p14:section name="What changes" id="{6ed947ad-9142-5e04-fc5a-88883c4e7059}">
          <p14:sldIdLst>
            <p14:sldId id="260"/>
            <p14:sldId id="261"/>
            <p14:sldId id="262"/>
            <p14:sldId id="263"/>
            <p14:sldId id="264"/>
            <p14:sldId id="265"/>
            <p14:sldId id="266"/>
            <p14:sldId id="267"/>
          </p14:sldIdLst>
        </p14:section>
        <p14:section name="A day with Bastaa" id="{62c6383a-966c-c608-9315-632689717c2d}">
          <p14:sldIdLst>
            <p14:sldId id="268"/>
          </p14:sldIdLst>
        </p14:section>
        <p14:section name="Why Bastaa" id="{e62bb169-75ec-31e0-bb98-5d32e9802a44}">
          <p14:sldIdLst>
            <p14:sldId id="269"/>
            <p14:sldId id="270"/>
            <p14:sldId id="271"/>
          </p14:sldIdLst>
        </p14:section>
        <p14:section name="Plans" id="{6a9d68c0-0069-07e6-db33-baeb9477cf44}">
          <p14:sldIdLst>
            <p14:sldId id="272"/>
          </p14:sldIdLst>
        </p14:section>
        <p14:section name="Questions schools ask" id="{c672ab77-d105-4951-f163-47968e8602b0}">
          <p14:sldIdLst>
            <p14:sldId id="273"/>
            <p14:sldId id="274"/>
          </p14:sldIdLst>
        </p14:section>
        <p14:section name="Next step" id="{d6e24a63-8f3f-b5a8-68ed-90f3a37c4694}">
          <p14:sldIdLst>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Namaste, and thank you for your time.
Let me start with a simple question: how much of your school's day goes into paperwork instead of teaching? Registers, fee books, result sheets, phone calls from parents, WhatsApp groups.
Bastaa puts all of it into one simple app. Your office works on a computer. Your teachers and every parent use it on their phones.
In the next 15 minutes I'll show you exactly what changes for your school, using real screens from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ask you: how many of these happen in your school?
The office phone rings all day with parents asking simple questions. Fees come in late and someone has to chase them. Teachers fill registers and marks sheets, then type them again. Result season takes weeks. Notices get lost in WhatsApp groups. ID cards go to a print shop every year.
[Pause and let them answer. Most principals will nod at three or four of these.]
Each one costs time, money, and most importantly, parents'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imagine your school where fees come in on time because parents pay from their phone. Where every parent knows about absence, homework and results without calling the office. Where teachers spend a few taps on registers instead of twenty minutes. And where you, as principal, see the whole school on one screen.
That's Bastaa. It's built for how Indian schools actually work: CBSE, ICSE or state board, with Indian fee structures and installments.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in your school uses the same system, each with exactly what they need.
You and the management get a live dashboard and reports. The office and accountant handle admissions, fees, receipts, and print ID cards and report cards in-house. Teachers use the mobile app for attendance, marks and homework. And parents get their child's whole school life on their phone, or on the website if they prefer.
One record per student, entered once, used everywhere. Nobody types the same thing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what every school worries about: fees.
With Bastaa, you set up your fee structure once: tuition, transport, installments, concessions. Every student gets an invoice automatically.
Parents see exactly what's due on their phone and pay by UPI, card or net banking. The money goes straight into your school's own account. Bastaa never holds your money.
Reminders and late fees happen automatically, so nobody has to call parents. Every payment, at the counter or online, gets an instant receipt. At the end of the day the accountant closes the counter in one click and you see the day's collection.
The result: fewer pending dues, and every rupee accounted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Parents today expect to know what's happening, the way they track a food delivery.
Here's Rajesh's app. He's Ananya's father. He sees whether Ananya is in school today, her attendance, homework, timetable, fees and results. If she's absent, he gets an alert right away.
On the right are his notifications: results published, fee reminders, payment received.
When parents get information without asking, they stop calling the office. And a school that keeps parents informed is a school they recommend to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teachers are your most valuable people, and today they lose a lot of time to paperwork.
This is the register on a teacher's phone. Every student starts as present, so the teacher only taps the ones who are absent or late, then submits. It works even when the internet is down and syncs later.
Marks go in from the phone or an Excel sheet. Homework goes out with a photo of the board.
The teacher's home screen shows today's classes and what's pending. Less paperwork, more teaching.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 season is usually the most stressful time of the year for your office.
With Bastaa, teachers enter marks for their subjects. You can see on one screen which marks sheets are done and which are pending. Grades and ranks are calculated automatically, with CBSE 9-point grading or your own scale.
Report cards come out ready to print, in a design you choose, with your logo and the principal's signature.
And when you publish results, parents see them instantly on their phone, with a chart showing where their child is strong and where they need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year schools send student lists to a print shop for ID cards, then wait, then fix mistakes, then pay for reprints.
With Bastaa, the office picks a class and clicks "Open for printing". You get A4 sheets of ID cards at the standard card size, nine per sheet, with cut lines. Print on any printer, cut and laminate.
Look at Ananya's card. It has your school's name and colour, her photo, class and roll number, admission number, date of birth, blood group, and her father's name and phone number. In an emergency, that's exactly what matters.
Lost a card? Reprint just that one student's card from their profile in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a principal, you shouldn't have to wait for month-end to know what's happening.
When you log in, the dashboard shows what needs attention today: which registers aren't taken, which students are falling below 75% attendance, which fees are overdue.
Any report you need, attendance, fee collection, defaulters, results, is one click away, and you can download it as Excel or PDF. Save the reports you use often and Bastaa emails them to you every week or month.
You can check all of this from your phone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schools run on WhatsApp groups today, and important notices get lost between good-morning messages.
With Bastaa, notices go to exactly the right audience, the whole school, one class, or only parents, and you can see who has read them. Parents message their child's teacher directly, and complaints are tracked until they're resolved.
You can hold parent–teacher meetings by video, with reminders. And quiet hours mean nobody gets alerts at midnight.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parents open the app or receive a receipt, they should see your school, not a software company.
Upload your logo, pick your school colour, add the principal's signature once. From then on, everything carries your brand: the app, your own web address, receipts, report cards and ID cards.
For parents choosing a school, this says you're a modern, organised school, and that helps admissions.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you through a normal day with Bastaa.
At 8 o'clock, teachers mark attendance on their phones. By 8:05, parents of absent children already know. At 11, a parent pays the term fee from their phone and gets the receipt instantly. After lunch, a teacher posts homework with a photo of the board. At 4, you open the dashboard and see the whole day. And every Monday morning, your weekly report is already in your inbox.
No registers to collect, no fee books to tally, no calls to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may already be looking at other school software. Before you decide, here are eight questions I'd ask any vendor, including us.
Will parents and teachers actually use it? Does it work when the internet is down? Will you pay for every SMS? Does fee money come straight to you? Can you print ID cards and report cards yourself? Will it carry your school's name? How hard is it to move your data? And is your data private to your school?
With Bastaa, the answer to every one of these is yes, and I can show you each one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Changing systems sounds scary, so we've made it simple.
Step one: a free demo, so you see exactly how it works. Step two: send us your existing Excel sheets of students, parents, teachers and fees. Bastaa checks every row and shows anything that needs fixing before it's saved. Step three: we set up your classes, subjects, fees, logo and logins together with your office. Step four: go live. Teachers and parents get their logins and start using it.
You don't need to buy any hardware. It works on the phones and computers you already have, and ID cards and report cards print on any printer.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Schools hold sensitive information about children, so let me be clear about safety.
Your data is private to your school. No other school can see it. Inside your school, everyone sees only what they should: parents only their own child, teachers only their classes.
Every important change is recorded, so you can always see who changed what. Our support team can look at your school only when your admin approves it, and only to view. We never show ads and never sell data.
And you don't depend on SMS. People can sign in with a password or a one-time code from your office.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plans for every size of school, priced by the number of students, so a small school never pays for what a big school needs.
Basic covers all core school management for up to 500 students. Professional, our most popular plan, adds online fee payments and the report builder, for up to 2,000 students. Enterprise is for large schools and groups, with no student limit and the AI assistant as soon as it launches.
Tell us your school size and we'll send you a quote for your school.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questions schools ask us most often. [Use this slide if time allows, or keep it ready for the Q&amp;A.]
The short version: parents can use the app or the website, teachers find it easy, attendance works offline, fee money comes straight to you, your existing Excel data comes in, and you don't need any new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common questions. Be honest about iPhone: today iPhone parents use the website, and an iPhone app is planned. On price, always offer to send a quote for their school size rather than quoting on the spot.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that's Bastaa: fees on time, parents informed, teachers free to teach, ID cards and report cards printed in-house, and you in full control.
Here's what I'd suggest as the next step. Let us give you a free 30-minute demo at your school, on your own phone. If you like what you see, send us your Excel sheets and we'll set it up with your office. Your teachers and parents can be on it soon after.
Shall we fix a time for the demo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0B153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1783080"/>
            <a:ext cx="5760720" cy="1920240"/>
          </a:xfrm>
          <a:prstGeom prst="rect">
            <a:avLst/>
          </a:prstGeom>
          <a:noFill/>
          <a:ln/>
        </p:spPr>
        <p:txBody>
          <a:bodyPr wrap="square" rtlCol="0"/>
          <a:lstStyle>
            <a:lvl1pPr algn="l" indent="0" marL="0">
              <a:buNone/>
              <a:defRPr lang="en-US" sz="4600" b="1" dirty="0">
                <a:solidFill>
                  <a:schemeClr val="bg1"/>
                </a:solidFill>
                <a:latin typeface="Arial" pitchFamily="34" charset="0"/>
                <a:ea typeface="Arial" pitchFamily="34" charset="-122"/>
                <a:cs typeface="Arial" pitchFamily="34" charset="-120"/>
              </a:defRPr>
            </a:lvl1pPr>
          </a:lstStyle>
          <a:p>
            <a:pPr algn="l" indent="0" marL="0">
              <a:buNone/>
            </a:pPr>
            <a:r>
              <a:rPr lang="en-US" sz="4600" b="1" dirty="0">
                <a:solidFill>
                  <a:schemeClr val="bg1"/>
                </a:solidFill>
                <a:latin typeface="Arial" pitchFamily="34" charset="0"/>
                <a:ea typeface="Arial" pitchFamily="34" charset="-122"/>
                <a:cs typeface="Arial" pitchFamily="34" charset="-120"/>
              </a:rPr>
              <a:t>Title</a:t>
            </a:r>
            <a:endParaRPr lang="en-US" sz="4600" dirty="0"/>
          </a:p>
        </p:txBody>
      </p:sp>
      <p:sp>
        <p:nvSpPr>
          <p:cNvPr id="3" name="Text 0"/>
          <p:cNvSpPr/>
          <p:nvPr>
            <p:ph idx="101" type="body" hasCustomPrompt="1"/>
          </p:nvPr>
        </p:nvSpPr>
        <p:spPr>
          <a:xfrm>
            <a:off x="685800" y="3794760"/>
            <a:ext cx="5394960" cy="1097280"/>
          </a:xfrm>
          <a:prstGeom prst="rect">
            <a:avLst/>
          </a:prstGeom>
          <a:noFill/>
          <a:ln/>
        </p:spPr>
        <p:txBody>
          <a:bodyPr wrap="square" rtlCol="0"/>
          <a:lstStyle>
            <a:lvl1pPr algn="l" indent="0" marL="0">
              <a:buNone/>
              <a:defRPr lang="en-US" sz="1900" dirty="0">
                <a:solidFill>
                  <a:schemeClr val="accent5"/>
                </a:solidFill>
              </a:defRPr>
            </a:lvl1pPr>
          </a:lstStyle>
          <a:p>
            <a:pPr algn="l" indent="0" marL="0">
              <a:buNone/>
            </a:pPr>
            <a:r>
              <a:rPr lang="en-US" sz="1900" dirty="0">
                <a:solidFill>
                  <a:schemeClr val="accent5"/>
                </a:solidFill>
              </a:rPr>
              <a:t>Subtitle</a:t>
            </a:r>
            <a:endParaRPr lang="en-US" sz="19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enefit">
    <p:bg>
      <p:bgPr>
        <a:solidFill>
          <a:srgbClr val="FFFFFF"/>
        </a:solidFill>
      </p:bgPr>
    </p:bg>
    <p:spTree>
      <p:nvGrpSpPr>
        <p:cNvPr id="1" name=""/>
        <p:cNvGrpSpPr/>
        <p:nvPr/>
      </p:nvGrpSpPr>
      <p:grpSpPr>
        <a:xfrm>
          <a:off x="0" y="0"/>
          <a:ext cx="0" cy="0"/>
          <a:chOff x="0" y="0"/>
          <a:chExt cx="0" cy="0"/>
        </a:xfrm>
      </p:grpSpPr>
      <p:sp>
        <p:nvSpPr>
          <p:cNvPr id="2" name="Text 0"/>
          <p:cNvSpPr/>
          <p:nvPr>
            <p:ph idx="101" type="body" hasCustomPrompt="1"/>
          </p:nvPr>
        </p:nvSpPr>
        <p:spPr>
          <a:xfrm>
            <a:off x="804672" y="384048"/>
            <a:ext cx="5486400" cy="274320"/>
          </a:xfrm>
          <a:prstGeom prst="rect">
            <a:avLst/>
          </a:prstGeom>
          <a:noFill/>
          <a:ln/>
        </p:spPr>
        <p:txBody>
          <a:bodyPr wrap="square" rtlCol="0"/>
          <a:lstStyle>
            <a:lvl1pPr algn="l" indent="0" marL="0">
              <a:buNone/>
              <a:defRPr lang="en-US" sz="1200" b="1" spc="200" kern="0" dirty="0">
                <a:solidFill>
                  <a:schemeClr val="accent2"/>
                </a:solidFill>
              </a:defRPr>
            </a:lvl1pPr>
          </a:lstStyle>
          <a:p>
            <a:pPr algn="l" indent="0" marL="0">
              <a:buNone/>
            </a:pPr>
            <a:r>
              <a:rPr lang="en-US" sz="1200" b="1" spc="200" kern="0" dirty="0">
                <a:solidFill>
                  <a:schemeClr val="accent2"/>
                </a:solidFill>
              </a:rPr>
              <a:t>KICKER</a:t>
            </a:r>
            <a:endParaRPr lang="en-US" sz="1200" dirty="0"/>
          </a:p>
        </p:txBody>
      </p:sp>
      <p:sp>
        <p:nvSpPr>
          <p:cNvPr id="3" name="Text 0"/>
          <p:cNvSpPr/>
          <p:nvPr>
            <p:ph idx="102" type="title" hasCustomPrompt="1"/>
          </p:nvPr>
        </p:nvSpPr>
        <p:spPr>
          <a:xfrm>
            <a:off x="548640" y="749808"/>
            <a:ext cx="4800600" cy="1371600"/>
          </a:xfrm>
          <a:prstGeom prst="rect">
            <a:avLst/>
          </a:prstGeom>
          <a:noFill/>
          <a:ln/>
        </p:spPr>
        <p:txBody>
          <a:bodyPr wrap="square" rtlCol="0"/>
          <a:lstStyle>
            <a:lvl1pPr algn="l" indent="0" marL="0">
              <a:buNone/>
              <a:defRPr lang="en-US" sz="3000" b="1" dirty="0">
                <a:solidFill>
                  <a:schemeClr val="tx1"/>
                </a:solidFill>
                <a:latin typeface="Arial" pitchFamily="34" charset="0"/>
                <a:ea typeface="Arial" pitchFamily="34" charset="-122"/>
                <a:cs typeface="Arial" pitchFamily="34" charset="-120"/>
              </a:defRPr>
            </a:lvl1pPr>
          </a:lstStyle>
          <a:p>
            <a:pPr algn="l" indent="0" marL="0">
              <a:buNone/>
            </a:pPr>
            <a:r>
              <a:rPr lang="en-US" sz="3000" b="1" dirty="0">
                <a:solidFill>
                  <a:schemeClr val="tx1"/>
                </a:solidFill>
                <a:latin typeface="Arial" pitchFamily="34" charset="0"/>
                <a:ea typeface="Arial" pitchFamily="34" charset="-122"/>
                <a:cs typeface="Arial" pitchFamily="34" charset="-120"/>
              </a:rPr>
              <a:t>Title</a:t>
            </a:r>
            <a:endParaRPr lang="en-US" sz="3000" dirty="0"/>
          </a:p>
        </p:txBody>
      </p:sp>
      <p:sp>
        <p:nvSpPr>
          <p:cNvPr id="4" name="Shape 0"/>
          <p:cNvSpPr/>
          <p:nvPr/>
        </p:nvSpPr>
        <p:spPr>
          <a:xfrm>
            <a:off x="5577840" y="0"/>
            <a:ext cx="6613855" cy="6858000"/>
          </a:xfrm>
          <a:prstGeom prst="rect">
            <a:avLst/>
          </a:prstGeom>
          <a:solidFill>
            <a:srgbClr val="EAF1FE"/>
          </a:solidFill>
          <a:ln/>
        </p:spPr>
      </p:sp>
      <p:pic>
        <p:nvPicPr>
          <p:cNvPr id="5" name="Image 0" descr="/tmp/claude-0/-home-user-school-erp/e29ee0a4-43fe-57b9-bbca-796e49c4c9e9/scratchpad/deck/assets2/mark.png">    </p:cNvPr>
          <p:cNvPicPr>
            <a:picLocks noChangeAspect="1"/>
          </p:cNvPicPr>
          <p:nvPr/>
        </p:nvPicPr>
        <p:blipFill>
          <a:blip r:embed="rId1"/>
          <a:stretch>
            <a:fillRect/>
          </a:stretch>
        </p:blipFill>
        <p:spPr>
          <a:xfrm>
            <a:off x="548640" y="6400800"/>
            <a:ext cx="219456" cy="219456"/>
          </a:xfrm>
          <a:prstGeom prst="rect">
            <a:avLst/>
          </a:prstGeom>
        </p:spPr>
      </p:pic>
      <p:sp>
        <p:nvSpPr>
          <p:cNvPr id="6" name="Text 1"/>
          <p:cNvSpPr/>
          <p:nvPr/>
        </p:nvSpPr>
        <p:spPr>
          <a:xfrm>
            <a:off x="841248" y="6382512"/>
            <a:ext cx="4572000" cy="256032"/>
          </a:xfrm>
          <a:prstGeom prst="rect">
            <a:avLst/>
          </a:prstGeom>
          <a:noFill/>
          <a:ln/>
        </p:spPr>
        <p:txBody>
          <a:bodyPr wrap="square" lIns="0" tIns="0" rIns="0" bIns="0" rtlCol="0" anchor="ctr"/>
          <a:lstStyle/>
          <a:p>
            <a:pPr indent="0" marL="0">
              <a:buNone/>
            </a:pPr>
            <a:r>
              <a:rPr lang="en-US" sz="1000" dirty="0">
                <a:solidFill>
                  <a:schemeClr val="accent4"/>
                </a:solidFill>
              </a:rPr>
              <a:t>Bastaa · Your whole school in one simple app</a:t>
            </a:r>
            <a:endParaRPr lang="en-US" sz="1000" dirty="0"/>
          </a:p>
        </p:txBody>
      </p:sp>
      <p:sp>
        <p:nvSpPr>
          <p:cNvPr id="25" name="Slide Number Placeholder 0"/>
          <p:cNvSpPr>
            <a:spLocks noGrp="1"/>
          </p:cNvSpPr>
          <p:nvPr>
            <p:ph type="sldNum" sz="quarter" idx="4294967295"/>
          </p:nvPr>
        </p:nvSpPr>
        <p:spPr>
          <a:xfrm>
            <a:off x="11201400"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Wide">
    <p:bg>
      <p:bgPr>
        <a:solidFill>
          <a:srgbClr val="FFFFFF"/>
        </a:solidFill>
      </p:bgPr>
    </p:bg>
    <p:spTree>
      <p:nvGrpSpPr>
        <p:cNvPr id="1" name=""/>
        <p:cNvGrpSpPr/>
        <p:nvPr/>
      </p:nvGrpSpPr>
      <p:grpSpPr>
        <a:xfrm>
          <a:off x="0" y="0"/>
          <a:ext cx="0" cy="0"/>
          <a:chOff x="0" y="0"/>
          <a:chExt cx="0" cy="0"/>
        </a:xfrm>
      </p:grpSpPr>
      <p:sp>
        <p:nvSpPr>
          <p:cNvPr id="2" name="Text 0"/>
          <p:cNvSpPr/>
          <p:nvPr>
            <p:ph idx="101" type="body" hasCustomPrompt="1"/>
          </p:nvPr>
        </p:nvSpPr>
        <p:spPr>
          <a:xfrm>
            <a:off x="804672" y="384048"/>
            <a:ext cx="5486400" cy="274320"/>
          </a:xfrm>
          <a:prstGeom prst="rect">
            <a:avLst/>
          </a:prstGeom>
          <a:noFill/>
          <a:ln/>
        </p:spPr>
        <p:txBody>
          <a:bodyPr wrap="square" rtlCol="0"/>
          <a:lstStyle>
            <a:lvl1pPr algn="l" indent="0" marL="0">
              <a:buNone/>
              <a:defRPr lang="en-US" sz="1200" b="1" spc="200" kern="0" dirty="0">
                <a:solidFill>
                  <a:schemeClr val="accent2"/>
                </a:solidFill>
              </a:defRPr>
            </a:lvl1pPr>
          </a:lstStyle>
          <a:p>
            <a:pPr algn="l" indent="0" marL="0">
              <a:buNone/>
            </a:pPr>
            <a:r>
              <a:rPr lang="en-US" sz="1200" b="1" spc="200" kern="0" dirty="0">
                <a:solidFill>
                  <a:schemeClr val="accent2"/>
                </a:solidFill>
              </a:rPr>
              <a:t>KICKER</a:t>
            </a:r>
            <a:endParaRPr lang="en-US" sz="1200" dirty="0"/>
          </a:p>
        </p:txBody>
      </p:sp>
      <p:sp>
        <p:nvSpPr>
          <p:cNvPr id="3" name="Text 0"/>
          <p:cNvSpPr/>
          <p:nvPr>
            <p:ph idx="102" type="title" hasCustomPrompt="1"/>
          </p:nvPr>
        </p:nvSpPr>
        <p:spPr>
          <a:xfrm>
            <a:off x="548640" y="749808"/>
            <a:ext cx="11064240" cy="731520"/>
          </a:xfrm>
          <a:prstGeom prst="rect">
            <a:avLst/>
          </a:prstGeom>
          <a:noFill/>
          <a:ln/>
        </p:spPr>
        <p:txBody>
          <a:bodyPr wrap="square" rtlCol="0"/>
          <a:lstStyle>
            <a:lvl1pPr algn="l" indent="0" marL="0">
              <a:buNone/>
              <a:defRPr lang="en-US" sz="3000" b="1" dirty="0">
                <a:solidFill>
                  <a:schemeClr val="tx1"/>
                </a:solidFill>
                <a:latin typeface="Arial" pitchFamily="34" charset="0"/>
                <a:ea typeface="Arial" pitchFamily="34" charset="-122"/>
                <a:cs typeface="Arial" pitchFamily="34" charset="-120"/>
              </a:defRPr>
            </a:lvl1pPr>
          </a:lstStyle>
          <a:p>
            <a:pPr algn="l" indent="0" marL="0">
              <a:buNone/>
            </a:pPr>
            <a:r>
              <a:rPr lang="en-US" sz="3000" b="1" dirty="0">
                <a:solidFill>
                  <a:schemeClr val="tx1"/>
                </a:solidFill>
                <a:latin typeface="Arial" pitchFamily="34" charset="0"/>
                <a:ea typeface="Arial" pitchFamily="34" charset="-122"/>
                <a:cs typeface="Arial" pitchFamily="34" charset="-120"/>
              </a:rPr>
              <a:t>Title</a:t>
            </a:r>
            <a:endParaRPr lang="en-US" sz="3000" dirty="0"/>
          </a:p>
        </p:txBody>
      </p:sp>
      <p:pic>
        <p:nvPicPr>
          <p:cNvPr id="4" name="Image 0" descr="/tmp/claude-0/-home-user-school-erp/e29ee0a4-43fe-57b9-bbca-796e49c4c9e9/scratchpad/deck/assets2/mark.png">    </p:cNvPr>
          <p:cNvPicPr>
            <a:picLocks noChangeAspect="1"/>
          </p:cNvPicPr>
          <p:nvPr/>
        </p:nvPicPr>
        <p:blipFill>
          <a:blip r:embed="rId1"/>
          <a:stretch>
            <a:fillRect/>
          </a:stretch>
        </p:blipFill>
        <p:spPr>
          <a:xfrm>
            <a:off x="548640" y="6400800"/>
            <a:ext cx="219456" cy="219456"/>
          </a:xfrm>
          <a:prstGeom prst="rect">
            <a:avLst/>
          </a:prstGeom>
        </p:spPr>
      </p:pic>
      <p:sp>
        <p:nvSpPr>
          <p:cNvPr id="5" name="Text 0"/>
          <p:cNvSpPr/>
          <p:nvPr/>
        </p:nvSpPr>
        <p:spPr>
          <a:xfrm>
            <a:off x="841248" y="6382512"/>
            <a:ext cx="4572000" cy="256032"/>
          </a:xfrm>
          <a:prstGeom prst="rect">
            <a:avLst/>
          </a:prstGeom>
          <a:noFill/>
          <a:ln/>
        </p:spPr>
        <p:txBody>
          <a:bodyPr wrap="square" lIns="0" tIns="0" rIns="0" bIns="0" rtlCol="0" anchor="ctr"/>
          <a:lstStyle/>
          <a:p>
            <a:pPr indent="0" marL="0">
              <a:buNone/>
            </a:pPr>
            <a:r>
              <a:rPr lang="en-US" sz="1000" dirty="0">
                <a:solidFill>
                  <a:schemeClr val="accent4"/>
                </a:solidFill>
              </a:rPr>
              <a:t>Bastaa · Your whole school in one simple app</a:t>
            </a:r>
            <a:endParaRPr lang="en-US" sz="1000" dirty="0"/>
          </a:p>
        </p:txBody>
      </p:sp>
      <p:sp>
        <p:nvSpPr>
          <p:cNvPr id="25" name="Slide Number Placeholder 0"/>
          <p:cNvSpPr>
            <a:spLocks noGrp="1"/>
          </p:cNvSpPr>
          <p:nvPr>
            <p:ph type="sldNum" sz="quarter" idx="4294967295"/>
          </p:nvPr>
        </p:nvSpPr>
        <p:spPr>
          <a:xfrm>
            <a:off x="11201400"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Wide Dark">
    <p:bg>
      <p:bgPr>
        <a:solidFill>
          <a:srgbClr val="0B1530"/>
        </a:solidFill>
      </p:bgPr>
    </p:bg>
    <p:spTree>
      <p:nvGrpSpPr>
        <p:cNvPr id="1" name=""/>
        <p:cNvGrpSpPr/>
        <p:nvPr/>
      </p:nvGrpSpPr>
      <p:grpSpPr>
        <a:xfrm>
          <a:off x="0" y="0"/>
          <a:ext cx="0" cy="0"/>
          <a:chOff x="0" y="0"/>
          <a:chExt cx="0" cy="0"/>
        </a:xfrm>
      </p:grpSpPr>
      <p:sp>
        <p:nvSpPr>
          <p:cNvPr id="2" name="Text 0"/>
          <p:cNvSpPr/>
          <p:nvPr>
            <p:ph idx="101" type="body" hasCustomPrompt="1"/>
          </p:nvPr>
        </p:nvSpPr>
        <p:spPr>
          <a:xfrm>
            <a:off x="804672" y="384048"/>
            <a:ext cx="5486400" cy="274320"/>
          </a:xfrm>
          <a:prstGeom prst="rect">
            <a:avLst/>
          </a:prstGeom>
          <a:noFill/>
          <a:ln/>
        </p:spPr>
        <p:txBody>
          <a:bodyPr wrap="square" rtlCol="0"/>
          <a:lstStyle>
            <a:lvl1pPr algn="l" indent="0" marL="0">
              <a:buNone/>
              <a:defRPr lang="en-US" sz="1200" b="1" spc="200" kern="0" dirty="0">
                <a:solidFill>
                  <a:schemeClr val="accent2"/>
                </a:solidFill>
              </a:defRPr>
            </a:lvl1pPr>
          </a:lstStyle>
          <a:p>
            <a:pPr algn="l" indent="0" marL="0">
              <a:buNone/>
            </a:pPr>
            <a:r>
              <a:rPr lang="en-US" sz="1200" b="1" spc="200" kern="0" dirty="0">
                <a:solidFill>
                  <a:schemeClr val="accent2"/>
                </a:solidFill>
              </a:rPr>
              <a:t>KICKER</a:t>
            </a:r>
            <a:endParaRPr lang="en-US" sz="1200" dirty="0"/>
          </a:p>
        </p:txBody>
      </p:sp>
      <p:sp>
        <p:nvSpPr>
          <p:cNvPr id="3" name="Text 0"/>
          <p:cNvSpPr/>
          <p:nvPr>
            <p:ph idx="102" type="title" hasCustomPrompt="1"/>
          </p:nvPr>
        </p:nvSpPr>
        <p:spPr>
          <a:xfrm>
            <a:off x="548640" y="749808"/>
            <a:ext cx="11064240" cy="731520"/>
          </a:xfrm>
          <a:prstGeom prst="rect">
            <a:avLst/>
          </a:prstGeom>
          <a:noFill/>
          <a:ln/>
        </p:spPr>
        <p:txBody>
          <a:bodyPr wrap="square" rtlCol="0"/>
          <a:lstStyle>
            <a:lvl1pPr algn="l" indent="0" marL="0">
              <a:buNone/>
              <a:defRPr lang="en-US" sz="3000" b="1" dirty="0">
                <a:solidFill>
                  <a:schemeClr val="bg1"/>
                </a:solidFill>
                <a:latin typeface="Arial" pitchFamily="34" charset="0"/>
                <a:ea typeface="Arial" pitchFamily="34" charset="-122"/>
                <a:cs typeface="Arial" pitchFamily="34" charset="-120"/>
              </a:defRPr>
            </a:lvl1pPr>
          </a:lstStyle>
          <a:p>
            <a:pPr algn="l" indent="0" marL="0">
              <a:buNone/>
            </a:pPr>
            <a:r>
              <a:rPr lang="en-US" sz="3000" b="1" dirty="0">
                <a:solidFill>
                  <a:schemeClr val="bg1"/>
                </a:solidFill>
                <a:latin typeface="Arial" pitchFamily="34" charset="0"/>
                <a:ea typeface="Arial" pitchFamily="34" charset="-122"/>
                <a:cs typeface="Arial" pitchFamily="34" charset="-120"/>
              </a:rPr>
              <a:t>Title</a:t>
            </a:r>
            <a:endParaRPr lang="en-US" sz="3000" dirty="0"/>
          </a:p>
        </p:txBody>
      </p:sp>
      <p:pic>
        <p:nvPicPr>
          <p:cNvPr id="4" name="Image 0" descr="/tmp/claude-0/-home-user-school-erp/e29ee0a4-43fe-57b9-bbca-796e49c4c9e9/scratchpad/deck/assets2/mark.png">    </p:cNvPr>
          <p:cNvPicPr>
            <a:picLocks noChangeAspect="1"/>
          </p:cNvPicPr>
          <p:nvPr/>
        </p:nvPicPr>
        <p:blipFill>
          <a:blip r:embed="rId1"/>
          <a:stretch>
            <a:fillRect/>
          </a:stretch>
        </p:blipFill>
        <p:spPr>
          <a:xfrm>
            <a:off x="548640" y="6400800"/>
            <a:ext cx="219456" cy="219456"/>
          </a:xfrm>
          <a:prstGeom prst="rect">
            <a:avLst/>
          </a:prstGeom>
        </p:spPr>
      </p:pic>
      <p:sp>
        <p:nvSpPr>
          <p:cNvPr id="5" name="Text 0"/>
          <p:cNvSpPr/>
          <p:nvPr/>
        </p:nvSpPr>
        <p:spPr>
          <a:xfrm>
            <a:off x="841248" y="6382512"/>
            <a:ext cx="4572000" cy="256032"/>
          </a:xfrm>
          <a:prstGeom prst="rect">
            <a:avLst/>
          </a:prstGeom>
          <a:noFill/>
          <a:ln/>
        </p:spPr>
        <p:txBody>
          <a:bodyPr wrap="square" lIns="0" tIns="0" rIns="0" bIns="0" rtlCol="0" anchor="ctr"/>
          <a:lstStyle/>
          <a:p>
            <a:pPr indent="0" marL="0">
              <a:buNone/>
            </a:pPr>
            <a:r>
              <a:rPr lang="en-US" sz="1000" dirty="0">
                <a:solidFill>
                  <a:schemeClr val="accent5"/>
                </a:solidFill>
              </a:rPr>
              <a:t>Bastaa · Your whole school in one simple app</a:t>
            </a:r>
            <a:endParaRPr lang="en-US" sz="1000" dirty="0"/>
          </a:p>
        </p:txBody>
      </p:sp>
      <p:sp>
        <p:nvSpPr>
          <p:cNvPr id="25" name="Slide Number Placeholder 0"/>
          <p:cNvSpPr>
            <a:spLocks noGrp="1"/>
          </p:cNvSpPr>
          <p:nvPr>
            <p:ph type="sldNum" sz="quarter" idx="4294967295"/>
          </p:nvPr>
        </p:nvSpPr>
        <p:spPr>
          <a:xfrm>
            <a:off x="11201400"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image" Target="../media/image-1-3.jpg"/><Relationship Id="rId4" Type="http://schemas.openxmlformats.org/officeDocument/2006/relationships/image" Target="../media/image-1-4.jp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4.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5.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4.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jpg"/><Relationship Id="rId5" Type="http://schemas.openxmlformats.org/officeDocument/2006/relationships/image" Target="../media/image-5-5.jp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jpg"/><Relationship Id="rId5" Type="http://schemas.openxmlformats.org/officeDocument/2006/relationships/image" Target="../media/image-6-5.jp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jpg"/><Relationship Id="rId5" Type="http://schemas.openxmlformats.org/officeDocument/2006/relationships/image" Target="../media/image-7-5.jp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jpg"/><Relationship Id="rId5" Type="http://schemas.openxmlformats.org/officeDocument/2006/relationships/image" Target="../media/image-8-5.jp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jpg"/><Relationship Id="rId5" Type="http://schemas.openxmlformats.org/officeDocument/2006/relationships/image" Target="../media/image-9-5.png"/><Relationship Id="rId6" Type="http://schemas.openxmlformats.org/officeDocument/2006/relationships/image" Target="../media/image-9-6.jp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jpg"/><Relationship Id="rId5" Type="http://schemas.openxmlformats.org/officeDocument/2006/relationships/image" Target="../media/image-10-5.jpg"/><Relationship Id="rId6" Type="http://schemas.openxmlformats.org/officeDocument/2006/relationships/slideLayout" Target="../slideLayouts/slideLayout3.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jpg"/><Relationship Id="rId5" Type="http://schemas.openxmlformats.org/officeDocument/2006/relationships/image" Target="../media/image-11-5.jpg"/><Relationship Id="rId6" Type="http://schemas.openxmlformats.org/officeDocument/2006/relationships/slideLayout" Target="../slideLayouts/slideLayout3.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jpg"/><Relationship Id="rId5" Type="http://schemas.openxmlformats.org/officeDocument/2006/relationships/image" Target="../media/image-12-5.png"/><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4.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slideLayout" Target="../slideLayouts/slideLayout4.xml"/><Relationship Id="rId1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slideLayout" Target="../slideLayouts/slideLayout4.xml"/><Relationship Id="rId1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5.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4.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4.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jpg"/><Relationship Id="rId3" Type="http://schemas.openxmlformats.org/officeDocument/2006/relationships/image" Target="../media/image-20-3.png"/><Relationship Id="rId4" Type="http://schemas.openxmlformats.org/officeDocument/2006/relationships/slideLayout" Target="../slideLayouts/slideLayout2.xml"/><Relationship Id="rId5"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tmp/claude-0/-home-user-school-erp/e29ee0a4-43fe-57b9-bbca-796e49c4c9e9/scratchpad/deck/assets2/bastaa-logo-white.png">    </p:cNvPr>
          <p:cNvPicPr>
            <a:picLocks noChangeAspect="1"/>
          </p:cNvPicPr>
          <p:nvPr/>
        </p:nvPicPr>
        <p:blipFill>
          <a:blip r:embed="rId1"/>
          <a:stretch>
            <a:fillRect/>
          </a:stretch>
        </p:blipFill>
        <p:spPr>
          <a:xfrm>
            <a:off x="685800" y="640080"/>
            <a:ext cx="2194560" cy="655093"/>
          </a:xfrm>
          <a:prstGeom prst="rect">
            <a:avLst/>
          </a:prstGeom>
        </p:spPr>
      </p:pic>
      <p:sp>
        <p:nvSpPr>
          <p:cNvPr id="3" name="Text 0"/>
          <p:cNvSpPr/>
          <p:nvPr>
            <p:ph idx="100" type="title" hasCustomPrompt="1"/>
          </p:nvPr>
        </p:nvSpPr>
        <p:spPr>
          <a:xfrm>
            <a:off x="685800" y="1783080"/>
            <a:ext cx="5760720" cy="1920240"/>
          </a:xfrm>
          <a:prstGeom prst="rect">
            <a:avLst/>
          </a:prstGeom>
          <a:noFill/>
          <a:ln/>
        </p:spPr>
        <p:txBody>
          <a:bodyPr wrap="square" lIns="0" tIns="0" rIns="0" bIns="0" rtlCol="0" anchor="t"/>
          <a:lstStyle/>
          <a:p>
            <a:pPr algn="l" indent="0" marL="0">
              <a:buNone/>
            </a:pPr>
            <a:r>
              <a:rPr lang="en-US" sz="4600" b="1" dirty="0">
                <a:solidFill>
                  <a:schemeClr val="bg1"/>
                </a:solidFill>
                <a:latin typeface="Arial" pitchFamily="34" charset="0"/>
                <a:ea typeface="Arial" pitchFamily="34" charset="-122"/>
                <a:cs typeface="Arial" pitchFamily="34" charset="-120"/>
              </a:rPr>
              <a:t>Run your school.</a:t>
            </a:r>
            <a:endParaRPr lang="en-US" sz="4600" dirty="0"/>
          </a:p>
          <a:p>
            <a:pPr algn="l" indent="0" marL="0">
              <a:buNone/>
            </a:pPr>
            <a:r>
              <a:rPr lang="en-US" sz="4600" b="1" dirty="0">
                <a:solidFill>
                  <a:schemeClr val="bg1"/>
                </a:solidFill>
                <a:latin typeface="Arial" pitchFamily="34" charset="0"/>
                <a:ea typeface="Arial" pitchFamily="34" charset="-122"/>
                <a:cs typeface="Arial" pitchFamily="34" charset="-120"/>
              </a:rPr>
              <a:t>Not the paperwork.</a:t>
            </a:r>
            <a:endParaRPr lang="en-US" sz="4600" dirty="0"/>
          </a:p>
        </p:txBody>
      </p:sp>
      <p:sp>
        <p:nvSpPr>
          <p:cNvPr id="4" name="Text 0"/>
          <p:cNvSpPr/>
          <p:nvPr>
            <p:ph idx="101" type="body" hasCustomPrompt="1"/>
          </p:nvPr>
        </p:nvSpPr>
        <p:spPr>
          <a:xfrm>
            <a:off x="685800" y="3794760"/>
            <a:ext cx="5394960" cy="1097280"/>
          </a:xfrm>
          <a:prstGeom prst="rect">
            <a:avLst/>
          </a:prstGeom>
          <a:noFill/>
          <a:ln/>
        </p:spPr>
        <p:txBody>
          <a:bodyPr wrap="square" lIns="0" tIns="0" rIns="0" bIns="0" rtlCol="0" anchor="t"/>
          <a:lstStyle/>
          <a:p>
            <a:pPr algn="l" indent="0" marL="0">
              <a:buNone/>
            </a:pPr>
            <a:r>
              <a:rPr lang="en-US" sz="1900" dirty="0">
                <a:solidFill>
                  <a:schemeClr val="accent5"/>
                </a:solidFill>
              </a:rPr>
              <a:t>Attendance, fees, exams, homework, ID cards and parent updates in one simple app, for your office, your teachers and every parent.</a:t>
            </a:r>
            <a:endParaRPr lang="en-US" sz="1900" dirty="0"/>
          </a:p>
        </p:txBody>
      </p:sp>
      <p:sp>
        <p:nvSpPr>
          <p:cNvPr id="5" name="Demo button"/>
          <p:cNvSpPr/>
          <p:nvPr/>
        </p:nvSpPr>
        <p:spPr>
          <a:xfrm>
            <a:off x="685800" y="5257800"/>
            <a:ext cx="2468880" cy="502920"/>
          </a:xfrm>
          <a:prstGeom prst="roundRect">
            <a:avLst>
              <a:gd name="adj" fmla="val 49091"/>
            </a:avLst>
          </a:prstGeom>
          <a:solidFill>
            <a:srgbClr val="F7A400"/>
          </a:solidFill>
          <a:ln w="12700">
            <a:solidFill>
              <a:srgbClr val="F7A400"/>
            </a:solidFill>
            <a:prstDash val="solid"/>
          </a:ln>
        </p:spPr>
      </p:sp>
      <p:sp>
        <p:nvSpPr>
          <p:cNvPr id="6" name="Text 3"/>
          <p:cNvSpPr txBox="1"/>
          <p:nvPr/>
        </p:nvSpPr>
        <p:spPr>
          <a:xfrm>
            <a:off x="685800" y="5257800"/>
            <a:ext cx="2468880" cy="502920"/>
          </a:xfrm>
          <a:prstGeom prst="rect">
            <a:avLst/>
          </a:prstGeom>
          <a:noFill/>
          <a:ln/>
        </p:spPr>
        <p:txBody>
          <a:bodyPr wrap="square" lIns="0" tIns="0" rIns="0" bIns="0" rtlCol="0" anchor="ctr"/>
          <a:lstStyle/>
          <a:p>
            <a:pPr algn="ctr" indent="0" marL="0">
              <a:buNone/>
            </a:pPr>
            <a:r>
              <a:rPr lang="en-US" sz="1600" b="1" dirty="0">
                <a:solidFill>
                  <a:schemeClr val="tx1"/>
                </a:solidFill>
              </a:rPr>
              <a:t>Book a free demo</a:t>
            </a:r>
            <a:endParaRPr lang="en-US" sz="1600" dirty="0"/>
          </a:p>
        </p:txBody>
      </p:sp>
      <p:sp>
        <p:nvSpPr>
          <p:cNvPr id="7" name="Text 4"/>
          <p:cNvSpPr txBox="1"/>
          <p:nvPr/>
        </p:nvSpPr>
        <p:spPr>
          <a:xfrm>
            <a:off x="3337560" y="5330952"/>
            <a:ext cx="2926080" cy="365760"/>
          </a:xfrm>
          <a:prstGeom prst="rect">
            <a:avLst/>
          </a:prstGeom>
          <a:noFill/>
          <a:ln/>
        </p:spPr>
        <p:txBody>
          <a:bodyPr wrap="square" lIns="0" tIns="0" rIns="0" bIns="0" rtlCol="0" anchor="ctr"/>
          <a:lstStyle/>
          <a:p>
            <a:pPr indent="0" marL="0">
              <a:buNone/>
            </a:pPr>
            <a:r>
              <a:rPr lang="en-US" sz="1300" dirty="0">
                <a:solidFill>
                  <a:schemeClr val="accent5"/>
                </a:solidFill>
              </a:rPr>
              <a:t>See it with your own school's data</a:t>
            </a:r>
            <a:endParaRPr lang="en-US" sz="1300" dirty="0"/>
          </a:p>
        </p:txBody>
      </p:sp>
      <p:sp>
        <p:nvSpPr>
          <p:cNvPr id="8" name="Principal dashboard window"/>
          <p:cNvSpPr/>
          <p:nvPr/>
        </p:nvSpPr>
        <p:spPr>
          <a:xfrm>
            <a:off x="6675120" y="1051560"/>
            <a:ext cx="5029200" cy="3355848"/>
          </a:xfrm>
          <a:prstGeom prst="roundRect">
            <a:avLst>
              <a:gd name="adj" fmla="val 1907"/>
            </a:avLst>
          </a:prstGeom>
          <a:solidFill>
            <a:srgbClr val="FFFFFF"/>
          </a:solidFill>
          <a:ln w="9525">
            <a:solidFill>
              <a:srgbClr val="DCE3EF"/>
            </a:solidFill>
            <a:prstDash val="solid"/>
          </a:ln>
          <a:effectLst>
            <a:outerShdw sx="100000" sy="100000" kx="0" ky="0" algn="bl" rotWithShape="0" blurRad="177800" dist="50800" dir="5400000">
              <a:srgbClr val="0B1530">
                <a:alpha val="20000"/>
              </a:srgbClr>
            </a:outerShdw>
          </a:effectLst>
        </p:spPr>
      </p:sp>
      <p:sp>
        <p:nvSpPr>
          <p:cNvPr id="9" name="Shape 6"/>
          <p:cNvSpPr/>
          <p:nvPr/>
        </p:nvSpPr>
        <p:spPr>
          <a:xfrm>
            <a:off x="6793992" y="1124712"/>
            <a:ext cx="73152" cy="73152"/>
          </a:xfrm>
          <a:prstGeom prst="ellipse">
            <a:avLst/>
          </a:prstGeom>
          <a:solidFill>
            <a:srgbClr val="E2554F"/>
          </a:solidFill>
          <a:ln w="12700">
            <a:solidFill>
              <a:srgbClr val="E2554F"/>
            </a:solidFill>
            <a:prstDash val="solid"/>
          </a:ln>
        </p:spPr>
      </p:sp>
      <p:sp>
        <p:nvSpPr>
          <p:cNvPr id="10" name="Shape 7"/>
          <p:cNvSpPr/>
          <p:nvPr/>
        </p:nvSpPr>
        <p:spPr>
          <a:xfrm>
            <a:off x="6931152" y="1124712"/>
            <a:ext cx="73152" cy="73152"/>
          </a:xfrm>
          <a:prstGeom prst="ellipse">
            <a:avLst/>
          </a:prstGeom>
          <a:solidFill>
            <a:srgbClr val="F7A400"/>
          </a:solidFill>
          <a:ln w="12700">
            <a:solidFill>
              <a:srgbClr val="F7A400"/>
            </a:solidFill>
            <a:prstDash val="solid"/>
          </a:ln>
        </p:spPr>
      </p:sp>
      <p:sp>
        <p:nvSpPr>
          <p:cNvPr id="11" name="Shape 8"/>
          <p:cNvSpPr/>
          <p:nvPr/>
        </p:nvSpPr>
        <p:spPr>
          <a:xfrm>
            <a:off x="7068312" y="1124712"/>
            <a:ext cx="73152" cy="73152"/>
          </a:xfrm>
          <a:prstGeom prst="ellipse">
            <a:avLst/>
          </a:prstGeom>
          <a:solidFill>
            <a:srgbClr val="2EB872"/>
          </a:solidFill>
          <a:ln w="12700">
            <a:solidFill>
              <a:srgbClr val="2EB872"/>
            </a:solidFill>
            <a:prstDash val="solid"/>
          </a:ln>
        </p:spPr>
      </p:sp>
      <p:pic>
        <p:nvPicPr>
          <p:cNvPr id="12" name="Principal dashboard" descr="Principal dashboard">    </p:cNvPr>
          <p:cNvPicPr>
            <a:picLocks noChangeAspect="1"/>
          </p:cNvPicPr>
          <p:nvPr/>
        </p:nvPicPr>
        <p:blipFill>
          <a:blip r:embed="rId2"/>
          <a:stretch>
            <a:fillRect/>
          </a:stretch>
        </p:blipFill>
        <p:spPr>
          <a:xfrm>
            <a:off x="6702552" y="1271016"/>
            <a:ext cx="4974336" cy="3108960"/>
          </a:xfrm>
          <a:prstGeom prst="rect">
            <a:avLst/>
          </a:prstGeom>
        </p:spPr>
      </p:pic>
      <p:sp>
        <p:nvSpPr>
          <p:cNvPr id="13" name="Parent app phone"/>
          <p:cNvSpPr/>
          <p:nvPr/>
        </p:nvSpPr>
        <p:spPr>
          <a:xfrm>
            <a:off x="6400800" y="2788920"/>
            <a:ext cx="1669580" cy="3520440"/>
          </a:xfrm>
          <a:prstGeom prst="roundRect">
            <a:avLst>
              <a:gd name="adj" fmla="val 10954"/>
            </a:avLst>
          </a:prstGeom>
          <a:solidFill>
            <a:srgbClr val="0B1530"/>
          </a:solidFill>
          <a:ln w="12700">
            <a:solidFill>
              <a:srgbClr val="17234A"/>
            </a:solidFill>
            <a:prstDash val="solid"/>
          </a:ln>
          <a:effectLst>
            <a:outerShdw sx="100000" sy="100000" kx="0" ky="0" algn="bl" rotWithShape="0" blurRad="177800" dist="50800" dir="5400000">
              <a:srgbClr val="0B1530">
                <a:alpha val="20000"/>
              </a:srgbClr>
            </a:outerShdw>
          </a:effectLst>
        </p:spPr>
      </p:sp>
      <p:pic>
        <p:nvPicPr>
          <p:cNvPr id="14" name="Parent app" descr="Parent app">    </p:cNvPr>
          <p:cNvPicPr>
            <a:picLocks noChangeAspect="1"/>
          </p:cNvPicPr>
          <p:nvPr/>
        </p:nvPicPr>
        <p:blipFill>
          <a:blip r:embed="rId3"/>
          <a:stretch>
            <a:fillRect/>
          </a:stretch>
        </p:blipFill>
        <p:spPr>
          <a:xfrm>
            <a:off x="6464808" y="2880360"/>
            <a:ext cx="1541564" cy="3337560"/>
          </a:xfrm>
          <a:prstGeom prst="rect">
            <a:avLst/>
          </a:prstGeom>
        </p:spPr>
      </p:pic>
      <p:sp>
        <p:nvSpPr>
          <p:cNvPr id="15" name="Teacher app phone"/>
          <p:cNvSpPr/>
          <p:nvPr/>
        </p:nvSpPr>
        <p:spPr>
          <a:xfrm>
            <a:off x="10332720" y="3154680"/>
            <a:ext cx="1500641" cy="3154680"/>
          </a:xfrm>
          <a:prstGeom prst="roundRect">
            <a:avLst>
              <a:gd name="adj" fmla="val 12187"/>
            </a:avLst>
          </a:prstGeom>
          <a:solidFill>
            <a:srgbClr val="0B1530"/>
          </a:solidFill>
          <a:ln w="12700">
            <a:solidFill>
              <a:srgbClr val="17234A"/>
            </a:solidFill>
            <a:prstDash val="solid"/>
          </a:ln>
          <a:effectLst>
            <a:outerShdw sx="100000" sy="100000" kx="0" ky="0" algn="bl" rotWithShape="0" blurRad="177800" dist="50800" dir="5400000">
              <a:srgbClr val="0B1530">
                <a:alpha val="20000"/>
              </a:srgbClr>
            </a:outerShdw>
          </a:effectLst>
        </p:spPr>
      </p:sp>
      <p:pic>
        <p:nvPicPr>
          <p:cNvPr id="16" name="Teacher app" descr="Teacher app">    </p:cNvPr>
          <p:cNvPicPr>
            <a:picLocks noChangeAspect="1"/>
          </p:cNvPicPr>
          <p:nvPr/>
        </p:nvPicPr>
        <p:blipFill>
          <a:blip r:embed="rId4"/>
          <a:stretch>
            <a:fillRect/>
          </a:stretch>
        </p:blipFill>
        <p:spPr>
          <a:xfrm>
            <a:off x="10396728" y="3246120"/>
            <a:ext cx="1372625" cy="2971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body" hasCustomPrompt="1"/>
          </p:nvPr>
        </p:nvSpPr>
        <p:spPr>
          <a:xfrm>
            <a:off x="804672" y="384048"/>
            <a:ext cx="54864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YOUR SCHOOL TODAY</a:t>
            </a:r>
            <a:endParaRPr lang="en-US" sz="1200" dirty="0"/>
          </a:p>
        </p:txBody>
      </p:sp>
      <p:sp>
        <p:nvSpPr>
          <p:cNvPr id="3" name="Text 0"/>
          <p:cNvSpPr/>
          <p:nvPr>
            <p:ph idx="102" type="title" hasCustomPrompt="1"/>
          </p:nvPr>
        </p:nvSpPr>
        <p:spPr>
          <a:xfrm>
            <a:off x="548640" y="749808"/>
            <a:ext cx="11064240" cy="73152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Does this sound like your school?</a:t>
            </a:r>
            <a:endParaRPr lang="en-US" sz="3000" dirty="0"/>
          </a:p>
        </p:txBody>
      </p:sp>
      <p:sp>
        <p:nvSpPr>
          <p:cNvPr id="4" name="Pain 1"/>
          <p:cNvSpPr/>
          <p:nvPr/>
        </p:nvSpPr>
        <p:spPr>
          <a:xfrm>
            <a:off x="548640" y="1691640"/>
            <a:ext cx="3538728" cy="1828800"/>
          </a:xfrm>
          <a:prstGeom prst="roundRect">
            <a:avLst>
              <a:gd name="adj" fmla="val 6000"/>
            </a:avLst>
          </a:prstGeom>
          <a:solidFill>
            <a:srgbClr val="F4F7FC"/>
          </a:solidFill>
          <a:ln w="12700">
            <a:solidFill>
              <a:srgbClr val="F4F7FC"/>
            </a:solidFill>
            <a:prstDash val="solid"/>
          </a:ln>
        </p:spPr>
      </p:sp>
      <p:sp>
        <p:nvSpPr>
          <p:cNvPr id="5" name="Shape 3"/>
          <p:cNvSpPr/>
          <p:nvPr/>
        </p:nvSpPr>
        <p:spPr>
          <a:xfrm>
            <a:off x="804672" y="1947672"/>
            <a:ext cx="512064" cy="512064"/>
          </a:xfrm>
          <a:prstGeom prst="ellipse">
            <a:avLst/>
          </a:prstGeom>
          <a:solidFill>
            <a:srgbClr val="FDECEC"/>
          </a:solidFill>
          <a:ln w="12700">
            <a:solidFill>
              <a:srgbClr val="FDECEC"/>
            </a:solidFill>
            <a:prstDash val="solid"/>
          </a:ln>
        </p:spPr>
      </p:sp>
      <p:pic>
        <p:nvPicPr>
          <p:cNvPr id="6" name="Image 0" descr="preencoded.png">    </p:cNvPr>
          <p:cNvPicPr>
            <a:picLocks noChangeAspect="1"/>
          </p:cNvPicPr>
          <p:nvPr/>
        </p:nvPicPr>
        <p:blipFill>
          <a:blip r:embed="rId1"/>
          <a:stretch>
            <a:fillRect/>
          </a:stretch>
        </p:blipFill>
        <p:spPr>
          <a:xfrm>
            <a:off x="932688" y="2075688"/>
            <a:ext cx="256032" cy="256032"/>
          </a:xfrm>
          <a:prstGeom prst="rect">
            <a:avLst/>
          </a:prstGeom>
        </p:spPr>
      </p:pic>
      <p:sp>
        <p:nvSpPr>
          <p:cNvPr id="7" name="Text 4"/>
          <p:cNvSpPr txBox="1"/>
          <p:nvPr/>
        </p:nvSpPr>
        <p:spPr>
          <a:xfrm>
            <a:off x="804672" y="2587752"/>
            <a:ext cx="3063240" cy="329184"/>
          </a:xfrm>
          <a:prstGeom prst="rect">
            <a:avLst/>
          </a:prstGeom>
          <a:noFill/>
          <a:ln/>
        </p:spPr>
        <p:txBody>
          <a:bodyPr wrap="square" lIns="0" tIns="0" rIns="0" bIns="0" rtlCol="0" anchor="t"/>
          <a:lstStyle/>
          <a:p>
            <a:pPr indent="0" marL="0">
              <a:buNone/>
            </a:pPr>
            <a:r>
              <a:rPr lang="en-US" sz="1600" b="1" dirty="0">
                <a:solidFill>
                  <a:schemeClr val="tx1"/>
                </a:solidFill>
              </a:rPr>
              <a:t>The office phone never stops</a:t>
            </a:r>
            <a:endParaRPr lang="en-US" sz="1600" dirty="0"/>
          </a:p>
        </p:txBody>
      </p:sp>
      <p:sp>
        <p:nvSpPr>
          <p:cNvPr id="8" name="Text 5"/>
          <p:cNvSpPr txBox="1"/>
          <p:nvPr/>
        </p:nvSpPr>
        <p:spPr>
          <a:xfrm>
            <a:off x="804672" y="2935224"/>
            <a:ext cx="3063240" cy="548640"/>
          </a:xfrm>
          <a:prstGeom prst="rect">
            <a:avLst/>
          </a:prstGeom>
          <a:noFill/>
          <a:ln/>
        </p:spPr>
        <p:txBody>
          <a:bodyPr wrap="square" lIns="0" tIns="0" rIns="0" bIns="0" rtlCol="0" anchor="t"/>
          <a:lstStyle/>
          <a:p>
            <a:pPr indent="0" marL="0">
              <a:buNone/>
            </a:pPr>
            <a:r>
              <a:rPr lang="en-US" sz="1300" dirty="0">
                <a:solidFill>
                  <a:schemeClr val="accent4"/>
                </a:solidFill>
              </a:rPr>
              <a:t>Parents call to ask about attendance, fees, homework and results.</a:t>
            </a:r>
            <a:endParaRPr lang="en-US" sz="1300" dirty="0"/>
          </a:p>
        </p:txBody>
      </p:sp>
      <p:sp>
        <p:nvSpPr>
          <p:cNvPr id="9" name="Pain 2"/>
          <p:cNvSpPr/>
          <p:nvPr/>
        </p:nvSpPr>
        <p:spPr>
          <a:xfrm>
            <a:off x="4270248" y="1691640"/>
            <a:ext cx="3538728" cy="1828800"/>
          </a:xfrm>
          <a:prstGeom prst="roundRect">
            <a:avLst>
              <a:gd name="adj" fmla="val 6000"/>
            </a:avLst>
          </a:prstGeom>
          <a:solidFill>
            <a:srgbClr val="F4F7FC"/>
          </a:solidFill>
          <a:ln w="12700">
            <a:solidFill>
              <a:srgbClr val="F4F7FC"/>
            </a:solidFill>
            <a:prstDash val="solid"/>
          </a:ln>
        </p:spPr>
      </p:sp>
      <p:sp>
        <p:nvSpPr>
          <p:cNvPr id="10" name="Shape 7"/>
          <p:cNvSpPr/>
          <p:nvPr/>
        </p:nvSpPr>
        <p:spPr>
          <a:xfrm>
            <a:off x="4526280" y="1947672"/>
            <a:ext cx="512064" cy="512064"/>
          </a:xfrm>
          <a:prstGeom prst="ellipse">
            <a:avLst/>
          </a:prstGeom>
          <a:solidFill>
            <a:srgbClr val="FDECEC"/>
          </a:solidFill>
          <a:ln w="12700">
            <a:solidFill>
              <a:srgbClr val="FDECEC"/>
            </a:solidFill>
            <a:prstDash val="solid"/>
          </a:ln>
        </p:spPr>
      </p:sp>
      <p:pic>
        <p:nvPicPr>
          <p:cNvPr id="11" name="Image 1" descr="preencoded.png">    </p:cNvPr>
          <p:cNvPicPr>
            <a:picLocks noChangeAspect="1"/>
          </p:cNvPicPr>
          <p:nvPr/>
        </p:nvPicPr>
        <p:blipFill>
          <a:blip r:embed="rId2"/>
          <a:stretch>
            <a:fillRect/>
          </a:stretch>
        </p:blipFill>
        <p:spPr>
          <a:xfrm>
            <a:off x="4654296" y="2075688"/>
            <a:ext cx="256032" cy="256032"/>
          </a:xfrm>
          <a:prstGeom prst="rect">
            <a:avLst/>
          </a:prstGeom>
        </p:spPr>
      </p:pic>
      <p:sp>
        <p:nvSpPr>
          <p:cNvPr id="12" name="Text 8"/>
          <p:cNvSpPr txBox="1"/>
          <p:nvPr/>
        </p:nvSpPr>
        <p:spPr>
          <a:xfrm>
            <a:off x="4526280" y="2587752"/>
            <a:ext cx="3063240" cy="329184"/>
          </a:xfrm>
          <a:prstGeom prst="rect">
            <a:avLst/>
          </a:prstGeom>
          <a:noFill/>
          <a:ln/>
        </p:spPr>
        <p:txBody>
          <a:bodyPr wrap="square" lIns="0" tIns="0" rIns="0" bIns="0" rtlCol="0" anchor="t"/>
          <a:lstStyle/>
          <a:p>
            <a:pPr indent="0" marL="0">
              <a:buNone/>
            </a:pPr>
            <a:r>
              <a:rPr lang="en-US" sz="1600" b="1" dirty="0">
                <a:solidFill>
                  <a:schemeClr val="tx1"/>
                </a:solidFill>
              </a:rPr>
              <a:t>Fees come late</a:t>
            </a:r>
            <a:endParaRPr lang="en-US" sz="1600" dirty="0"/>
          </a:p>
        </p:txBody>
      </p:sp>
      <p:sp>
        <p:nvSpPr>
          <p:cNvPr id="13" name="Text 9"/>
          <p:cNvSpPr txBox="1"/>
          <p:nvPr/>
        </p:nvSpPr>
        <p:spPr>
          <a:xfrm>
            <a:off x="4526280" y="2935224"/>
            <a:ext cx="3063240" cy="548640"/>
          </a:xfrm>
          <a:prstGeom prst="rect">
            <a:avLst/>
          </a:prstGeom>
          <a:noFill/>
          <a:ln/>
        </p:spPr>
        <p:txBody>
          <a:bodyPr wrap="square" lIns="0" tIns="0" rIns="0" bIns="0" rtlCol="0" anchor="t"/>
          <a:lstStyle/>
          <a:p>
            <a:pPr indent="0" marL="0">
              <a:buNone/>
            </a:pPr>
            <a:r>
              <a:rPr lang="en-US" sz="1300" dirty="0">
                <a:solidFill>
                  <a:schemeClr val="accent4"/>
                </a:solidFill>
              </a:rPr>
              <a:t>Dues pile up, receipts get lost, and someone has to chase every parent.</a:t>
            </a:r>
            <a:endParaRPr lang="en-US" sz="1300" dirty="0"/>
          </a:p>
        </p:txBody>
      </p:sp>
      <p:sp>
        <p:nvSpPr>
          <p:cNvPr id="14" name="Pain 3"/>
          <p:cNvSpPr/>
          <p:nvPr/>
        </p:nvSpPr>
        <p:spPr>
          <a:xfrm>
            <a:off x="7991856" y="1691640"/>
            <a:ext cx="3538728" cy="1828800"/>
          </a:xfrm>
          <a:prstGeom prst="roundRect">
            <a:avLst>
              <a:gd name="adj" fmla="val 6000"/>
            </a:avLst>
          </a:prstGeom>
          <a:solidFill>
            <a:srgbClr val="F4F7FC"/>
          </a:solidFill>
          <a:ln w="12700">
            <a:solidFill>
              <a:srgbClr val="F4F7FC"/>
            </a:solidFill>
            <a:prstDash val="solid"/>
          </a:ln>
        </p:spPr>
      </p:sp>
      <p:sp>
        <p:nvSpPr>
          <p:cNvPr id="15" name="Shape 11"/>
          <p:cNvSpPr/>
          <p:nvPr/>
        </p:nvSpPr>
        <p:spPr>
          <a:xfrm>
            <a:off x="8247888" y="1947672"/>
            <a:ext cx="512064" cy="512064"/>
          </a:xfrm>
          <a:prstGeom prst="ellipse">
            <a:avLst/>
          </a:prstGeom>
          <a:solidFill>
            <a:srgbClr val="FDECEC"/>
          </a:solidFill>
          <a:ln w="12700">
            <a:solidFill>
              <a:srgbClr val="FDECEC"/>
            </a:solidFill>
            <a:prstDash val="solid"/>
          </a:ln>
        </p:spPr>
      </p:sp>
      <p:pic>
        <p:nvPicPr>
          <p:cNvPr id="16" name="Image 2" descr="preencoded.png">    </p:cNvPr>
          <p:cNvPicPr>
            <a:picLocks noChangeAspect="1"/>
          </p:cNvPicPr>
          <p:nvPr/>
        </p:nvPicPr>
        <p:blipFill>
          <a:blip r:embed="rId3"/>
          <a:stretch>
            <a:fillRect/>
          </a:stretch>
        </p:blipFill>
        <p:spPr>
          <a:xfrm>
            <a:off x="8375904" y="2075688"/>
            <a:ext cx="256032" cy="256032"/>
          </a:xfrm>
          <a:prstGeom prst="rect">
            <a:avLst/>
          </a:prstGeom>
        </p:spPr>
      </p:pic>
      <p:sp>
        <p:nvSpPr>
          <p:cNvPr id="17" name="Text 12"/>
          <p:cNvSpPr txBox="1"/>
          <p:nvPr/>
        </p:nvSpPr>
        <p:spPr>
          <a:xfrm>
            <a:off x="8247888" y="2587752"/>
            <a:ext cx="3063240" cy="329184"/>
          </a:xfrm>
          <a:prstGeom prst="rect">
            <a:avLst/>
          </a:prstGeom>
          <a:noFill/>
          <a:ln/>
        </p:spPr>
        <p:txBody>
          <a:bodyPr wrap="square" lIns="0" tIns="0" rIns="0" bIns="0" rtlCol="0" anchor="t"/>
          <a:lstStyle/>
          <a:p>
            <a:pPr indent="0" marL="0">
              <a:buNone/>
            </a:pPr>
            <a:r>
              <a:rPr lang="en-US" sz="1600" b="1" dirty="0">
                <a:solidFill>
                  <a:schemeClr val="tx1"/>
                </a:solidFill>
              </a:rPr>
              <a:t>Teachers buried in registers</a:t>
            </a:r>
            <a:endParaRPr lang="en-US" sz="1600" dirty="0"/>
          </a:p>
        </p:txBody>
      </p:sp>
      <p:sp>
        <p:nvSpPr>
          <p:cNvPr id="18" name="Text 13"/>
          <p:cNvSpPr txBox="1"/>
          <p:nvPr/>
        </p:nvSpPr>
        <p:spPr>
          <a:xfrm>
            <a:off x="8247888" y="2935224"/>
            <a:ext cx="3063240" cy="548640"/>
          </a:xfrm>
          <a:prstGeom prst="rect">
            <a:avLst/>
          </a:prstGeom>
          <a:noFill/>
          <a:ln/>
        </p:spPr>
        <p:txBody>
          <a:bodyPr wrap="square" lIns="0" tIns="0" rIns="0" bIns="0" rtlCol="0" anchor="t"/>
          <a:lstStyle/>
          <a:p>
            <a:pPr indent="0" marL="0">
              <a:buNone/>
            </a:pPr>
            <a:r>
              <a:rPr lang="en-US" sz="1300" dirty="0">
                <a:solidFill>
                  <a:schemeClr val="accent4"/>
                </a:solidFill>
              </a:rPr>
              <a:t>Attendance and marks on paper, then typed again into Excel.</a:t>
            </a:r>
            <a:endParaRPr lang="en-US" sz="1300" dirty="0"/>
          </a:p>
        </p:txBody>
      </p:sp>
      <p:sp>
        <p:nvSpPr>
          <p:cNvPr id="19" name="Pain 4"/>
          <p:cNvSpPr/>
          <p:nvPr/>
        </p:nvSpPr>
        <p:spPr>
          <a:xfrm>
            <a:off x="548640" y="3703320"/>
            <a:ext cx="3538728" cy="1828800"/>
          </a:xfrm>
          <a:prstGeom prst="roundRect">
            <a:avLst>
              <a:gd name="adj" fmla="val 6000"/>
            </a:avLst>
          </a:prstGeom>
          <a:solidFill>
            <a:srgbClr val="F4F7FC"/>
          </a:solidFill>
          <a:ln w="12700">
            <a:solidFill>
              <a:srgbClr val="F4F7FC"/>
            </a:solidFill>
            <a:prstDash val="solid"/>
          </a:ln>
        </p:spPr>
      </p:sp>
      <p:sp>
        <p:nvSpPr>
          <p:cNvPr id="20" name="Shape 15"/>
          <p:cNvSpPr/>
          <p:nvPr/>
        </p:nvSpPr>
        <p:spPr>
          <a:xfrm>
            <a:off x="804672" y="3959352"/>
            <a:ext cx="512064" cy="512064"/>
          </a:xfrm>
          <a:prstGeom prst="ellipse">
            <a:avLst/>
          </a:prstGeom>
          <a:solidFill>
            <a:srgbClr val="FDECEC"/>
          </a:solidFill>
          <a:ln w="12700">
            <a:solidFill>
              <a:srgbClr val="FDECEC"/>
            </a:solidFill>
            <a:prstDash val="solid"/>
          </a:ln>
        </p:spPr>
      </p:sp>
      <p:pic>
        <p:nvPicPr>
          <p:cNvPr id="21" name="Image 3" descr="preencoded.png">    </p:cNvPr>
          <p:cNvPicPr>
            <a:picLocks noChangeAspect="1"/>
          </p:cNvPicPr>
          <p:nvPr/>
        </p:nvPicPr>
        <p:blipFill>
          <a:blip r:embed="rId4"/>
          <a:stretch>
            <a:fillRect/>
          </a:stretch>
        </p:blipFill>
        <p:spPr>
          <a:xfrm>
            <a:off x="932688" y="4087368"/>
            <a:ext cx="256032" cy="256032"/>
          </a:xfrm>
          <a:prstGeom prst="rect">
            <a:avLst/>
          </a:prstGeom>
        </p:spPr>
      </p:pic>
      <p:sp>
        <p:nvSpPr>
          <p:cNvPr id="22" name="Text 16"/>
          <p:cNvSpPr txBox="1"/>
          <p:nvPr/>
        </p:nvSpPr>
        <p:spPr>
          <a:xfrm>
            <a:off x="804672" y="4599432"/>
            <a:ext cx="3063240" cy="329184"/>
          </a:xfrm>
          <a:prstGeom prst="rect">
            <a:avLst/>
          </a:prstGeom>
          <a:noFill/>
          <a:ln/>
        </p:spPr>
        <p:txBody>
          <a:bodyPr wrap="square" lIns="0" tIns="0" rIns="0" bIns="0" rtlCol="0" anchor="t"/>
          <a:lstStyle/>
          <a:p>
            <a:pPr indent="0" marL="0">
              <a:buNone/>
            </a:pPr>
            <a:r>
              <a:rPr lang="en-US" sz="1600" b="1" dirty="0">
                <a:solidFill>
                  <a:schemeClr val="tx1"/>
                </a:solidFill>
              </a:rPr>
              <a:t>Result season is stressful</a:t>
            </a:r>
            <a:endParaRPr lang="en-US" sz="1600" dirty="0"/>
          </a:p>
        </p:txBody>
      </p:sp>
      <p:sp>
        <p:nvSpPr>
          <p:cNvPr id="23" name="Text 17"/>
          <p:cNvSpPr txBox="1"/>
          <p:nvPr/>
        </p:nvSpPr>
        <p:spPr>
          <a:xfrm>
            <a:off x="804672" y="4946904"/>
            <a:ext cx="3063240" cy="548640"/>
          </a:xfrm>
          <a:prstGeom prst="rect">
            <a:avLst/>
          </a:prstGeom>
          <a:noFill/>
          <a:ln/>
        </p:spPr>
        <p:txBody>
          <a:bodyPr wrap="square" lIns="0" tIns="0" rIns="0" bIns="0" rtlCol="0" anchor="t"/>
          <a:lstStyle/>
          <a:p>
            <a:pPr indent="0" marL="0">
              <a:buNone/>
            </a:pPr>
            <a:r>
              <a:rPr lang="en-US" sz="1300" dirty="0">
                <a:solidFill>
                  <a:schemeClr val="accent4"/>
                </a:solidFill>
              </a:rPr>
              <a:t>Marks sheets, calculations and report cards take weeks.</a:t>
            </a:r>
            <a:endParaRPr lang="en-US" sz="1300" dirty="0"/>
          </a:p>
        </p:txBody>
      </p:sp>
      <p:sp>
        <p:nvSpPr>
          <p:cNvPr id="24" name="Pain 5"/>
          <p:cNvSpPr/>
          <p:nvPr/>
        </p:nvSpPr>
        <p:spPr>
          <a:xfrm>
            <a:off x="4270248" y="3703320"/>
            <a:ext cx="3538728" cy="1828800"/>
          </a:xfrm>
          <a:prstGeom prst="roundRect">
            <a:avLst>
              <a:gd name="adj" fmla="val 6000"/>
            </a:avLst>
          </a:prstGeom>
          <a:solidFill>
            <a:srgbClr val="F4F7FC"/>
          </a:solidFill>
          <a:ln w="12700">
            <a:solidFill>
              <a:srgbClr val="F4F7FC"/>
            </a:solidFill>
            <a:prstDash val="solid"/>
          </a:ln>
        </p:spPr>
      </p:sp>
      <p:sp>
        <p:nvSpPr>
          <p:cNvPr id="25" name="Shape 19"/>
          <p:cNvSpPr/>
          <p:nvPr/>
        </p:nvSpPr>
        <p:spPr>
          <a:xfrm>
            <a:off x="4526280" y="3959352"/>
            <a:ext cx="512064" cy="512064"/>
          </a:xfrm>
          <a:prstGeom prst="ellipse">
            <a:avLst/>
          </a:prstGeom>
          <a:solidFill>
            <a:srgbClr val="FDECEC"/>
          </a:solidFill>
          <a:ln w="12700">
            <a:solidFill>
              <a:srgbClr val="FDECEC"/>
            </a:solidFill>
            <a:prstDash val="solid"/>
          </a:ln>
        </p:spPr>
      </p:sp>
      <p:pic>
        <p:nvPicPr>
          <p:cNvPr id="26" name="Image 4" descr="preencoded.png">    </p:cNvPr>
          <p:cNvPicPr>
            <a:picLocks noChangeAspect="1"/>
          </p:cNvPicPr>
          <p:nvPr/>
        </p:nvPicPr>
        <p:blipFill>
          <a:blip r:embed="rId5"/>
          <a:stretch>
            <a:fillRect/>
          </a:stretch>
        </p:blipFill>
        <p:spPr>
          <a:xfrm>
            <a:off x="4654296" y="4087368"/>
            <a:ext cx="256032" cy="256032"/>
          </a:xfrm>
          <a:prstGeom prst="rect">
            <a:avLst/>
          </a:prstGeom>
        </p:spPr>
      </p:pic>
      <p:sp>
        <p:nvSpPr>
          <p:cNvPr id="27" name="Text 20"/>
          <p:cNvSpPr txBox="1"/>
          <p:nvPr/>
        </p:nvSpPr>
        <p:spPr>
          <a:xfrm>
            <a:off x="4526280" y="4599432"/>
            <a:ext cx="3063240" cy="329184"/>
          </a:xfrm>
          <a:prstGeom prst="rect">
            <a:avLst/>
          </a:prstGeom>
          <a:noFill/>
          <a:ln/>
        </p:spPr>
        <p:txBody>
          <a:bodyPr wrap="square" lIns="0" tIns="0" rIns="0" bIns="0" rtlCol="0" anchor="t"/>
          <a:lstStyle/>
          <a:p>
            <a:pPr indent="0" marL="0">
              <a:buNone/>
            </a:pPr>
            <a:r>
              <a:rPr lang="en-US" sz="1600" b="1" dirty="0">
                <a:solidFill>
                  <a:schemeClr val="tx1"/>
                </a:solidFill>
              </a:rPr>
              <a:t>WhatsApp groups out of control</a:t>
            </a:r>
            <a:endParaRPr lang="en-US" sz="1600" dirty="0"/>
          </a:p>
        </p:txBody>
      </p:sp>
      <p:sp>
        <p:nvSpPr>
          <p:cNvPr id="28" name="Text 21"/>
          <p:cNvSpPr txBox="1"/>
          <p:nvPr/>
        </p:nvSpPr>
        <p:spPr>
          <a:xfrm>
            <a:off x="4526280" y="4946904"/>
            <a:ext cx="3063240" cy="548640"/>
          </a:xfrm>
          <a:prstGeom prst="rect">
            <a:avLst/>
          </a:prstGeom>
          <a:noFill/>
          <a:ln/>
        </p:spPr>
        <p:txBody>
          <a:bodyPr wrap="square" lIns="0" tIns="0" rIns="0" bIns="0" rtlCol="0" anchor="t"/>
          <a:lstStyle/>
          <a:p>
            <a:pPr indent="0" marL="0">
              <a:buNone/>
            </a:pPr>
            <a:r>
              <a:rPr lang="en-US" sz="1300" dirty="0">
                <a:solidFill>
                  <a:schemeClr val="accent4"/>
                </a:solidFill>
              </a:rPr>
              <a:t>Important notices get lost; nobody knows who has read what.</a:t>
            </a:r>
            <a:endParaRPr lang="en-US" sz="1300" dirty="0"/>
          </a:p>
        </p:txBody>
      </p:sp>
      <p:sp>
        <p:nvSpPr>
          <p:cNvPr id="29" name="Pain 6"/>
          <p:cNvSpPr/>
          <p:nvPr/>
        </p:nvSpPr>
        <p:spPr>
          <a:xfrm>
            <a:off x="7991856" y="3703320"/>
            <a:ext cx="3538728" cy="1828800"/>
          </a:xfrm>
          <a:prstGeom prst="roundRect">
            <a:avLst>
              <a:gd name="adj" fmla="val 6000"/>
            </a:avLst>
          </a:prstGeom>
          <a:solidFill>
            <a:srgbClr val="F4F7FC"/>
          </a:solidFill>
          <a:ln w="12700">
            <a:solidFill>
              <a:srgbClr val="F4F7FC"/>
            </a:solidFill>
            <a:prstDash val="solid"/>
          </a:ln>
        </p:spPr>
      </p:sp>
      <p:sp>
        <p:nvSpPr>
          <p:cNvPr id="30" name="Shape 23"/>
          <p:cNvSpPr/>
          <p:nvPr/>
        </p:nvSpPr>
        <p:spPr>
          <a:xfrm>
            <a:off x="8247888" y="3959352"/>
            <a:ext cx="512064" cy="512064"/>
          </a:xfrm>
          <a:prstGeom prst="ellipse">
            <a:avLst/>
          </a:prstGeom>
          <a:solidFill>
            <a:srgbClr val="FDECEC"/>
          </a:solidFill>
          <a:ln w="12700">
            <a:solidFill>
              <a:srgbClr val="FDECEC"/>
            </a:solidFill>
            <a:prstDash val="solid"/>
          </a:ln>
        </p:spPr>
      </p:sp>
      <p:pic>
        <p:nvPicPr>
          <p:cNvPr id="31" name="Image 5" descr="preencoded.png">    </p:cNvPr>
          <p:cNvPicPr>
            <a:picLocks noChangeAspect="1"/>
          </p:cNvPicPr>
          <p:nvPr/>
        </p:nvPicPr>
        <p:blipFill>
          <a:blip r:embed="rId6"/>
          <a:stretch>
            <a:fillRect/>
          </a:stretch>
        </p:blipFill>
        <p:spPr>
          <a:xfrm>
            <a:off x="8375904" y="4087368"/>
            <a:ext cx="256032" cy="256032"/>
          </a:xfrm>
          <a:prstGeom prst="rect">
            <a:avLst/>
          </a:prstGeom>
        </p:spPr>
      </p:pic>
      <p:sp>
        <p:nvSpPr>
          <p:cNvPr id="32" name="Text 24"/>
          <p:cNvSpPr txBox="1"/>
          <p:nvPr/>
        </p:nvSpPr>
        <p:spPr>
          <a:xfrm>
            <a:off x="8247888" y="4599432"/>
            <a:ext cx="3063240" cy="329184"/>
          </a:xfrm>
          <a:prstGeom prst="rect">
            <a:avLst/>
          </a:prstGeom>
          <a:noFill/>
          <a:ln/>
        </p:spPr>
        <p:txBody>
          <a:bodyPr wrap="square" lIns="0" tIns="0" rIns="0" bIns="0" rtlCol="0" anchor="t"/>
          <a:lstStyle/>
          <a:p>
            <a:pPr indent="0" marL="0">
              <a:buNone/>
            </a:pPr>
            <a:r>
              <a:rPr lang="en-US" sz="1600" b="1" dirty="0">
                <a:solidFill>
                  <a:schemeClr val="tx1"/>
                </a:solidFill>
              </a:rPr>
              <a:t>ID cards from the print shop</a:t>
            </a:r>
            <a:endParaRPr lang="en-US" sz="1600" dirty="0"/>
          </a:p>
        </p:txBody>
      </p:sp>
      <p:sp>
        <p:nvSpPr>
          <p:cNvPr id="33" name="Text 25"/>
          <p:cNvSpPr txBox="1"/>
          <p:nvPr/>
        </p:nvSpPr>
        <p:spPr>
          <a:xfrm>
            <a:off x="8247888" y="4946904"/>
            <a:ext cx="3063240" cy="548640"/>
          </a:xfrm>
          <a:prstGeom prst="rect">
            <a:avLst/>
          </a:prstGeom>
          <a:noFill/>
          <a:ln/>
        </p:spPr>
        <p:txBody>
          <a:bodyPr wrap="square" lIns="0" tIns="0" rIns="0" bIns="0" rtlCol="0" anchor="t"/>
          <a:lstStyle/>
          <a:p>
            <a:pPr indent="0" marL="0">
              <a:buNone/>
            </a:pPr>
            <a:r>
              <a:rPr lang="en-US" sz="1300" dirty="0">
                <a:solidFill>
                  <a:schemeClr val="accent4"/>
                </a:solidFill>
              </a:rPr>
              <a:t>Lists sent outside, mistakes, delays and reprint costs every year.</a:t>
            </a:r>
            <a:endParaRPr lang="en-US" sz="1300" dirty="0"/>
          </a:p>
        </p:txBody>
      </p:sp>
      <p:sp>
        <p:nvSpPr>
          <p:cNvPr id="34" name="Text 26"/>
          <p:cNvSpPr txBox="1"/>
          <p:nvPr/>
        </p:nvSpPr>
        <p:spPr>
          <a:xfrm>
            <a:off x="548640" y="5806440"/>
            <a:ext cx="10972800" cy="365760"/>
          </a:xfrm>
          <a:prstGeom prst="rect">
            <a:avLst/>
          </a:prstGeom>
          <a:noFill/>
          <a:ln/>
        </p:spPr>
        <p:txBody>
          <a:bodyPr wrap="square" lIns="0" tIns="0" rIns="0" bIns="0" rtlCol="0" anchor="t"/>
          <a:lstStyle/>
          <a:p>
            <a:pPr indent="0" marL="0">
              <a:buNone/>
            </a:pPr>
            <a:r>
              <a:rPr lang="en-US" sz="1600" b="1" i="1" dirty="0">
                <a:solidFill>
                  <a:schemeClr val="accent1"/>
                </a:solidFill>
              </a:rPr>
              <a:t>Each of these costs your school time, money and parents' trust, every single day.</a:t>
            </a:r>
            <a:endParaRPr lang="en-US" sz="1600" dirty="0"/>
          </a:p>
        </p:txBody>
      </p:sp>
      <p:sp>
        <p:nvSpPr>
          <p:cNvPr id="25" name="Slide Number Placeholder 0"/>
          <p:cNvSpPr>
            <a:spLocks noGrp="1"/>
          </p:cNvSpPr>
          <p:nvPr>
            <p:ph type="sldNum" sz="quarter" idx="4294967295"/>
          </p:nvPr>
        </p:nvSpPr>
        <p:spPr>
          <a:xfrm>
            <a:off x="11201400"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body" hasCustomPrompt="1"/>
          </p:nvPr>
        </p:nvSpPr>
        <p:spPr>
          <a:xfrm>
            <a:off x="804672" y="384048"/>
            <a:ext cx="54864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IMAGINE THIS INSTEAD</a:t>
            </a:r>
            <a:endParaRPr lang="en-US" sz="1200" dirty="0"/>
          </a:p>
        </p:txBody>
      </p:sp>
      <p:sp>
        <p:nvSpPr>
          <p:cNvPr id="3" name="Text 0"/>
          <p:cNvSpPr/>
          <p:nvPr>
            <p:ph idx="102" type="title" hasCustomPrompt="1"/>
          </p:nvPr>
        </p:nvSpPr>
        <p:spPr>
          <a:xfrm>
            <a:off x="548640" y="749808"/>
            <a:ext cx="11064240" cy="731520"/>
          </a:xfrm>
          <a:prstGeom prst="rect">
            <a:avLst/>
          </a:prstGeom>
          <a:noFill/>
          <a:ln/>
        </p:spPr>
        <p:txBody>
          <a:bodyPr wrap="square" lIns="0" tIns="0" rIns="0" bIns="0" rtlCol="0" anchor="t"/>
          <a:lstStyle/>
          <a:p>
            <a:pPr algn="l" indent="0" marL="0">
              <a:buNone/>
            </a:pPr>
            <a:r>
              <a:rPr lang="en-US" sz="3000" b="1" dirty="0">
                <a:solidFill>
                  <a:schemeClr val="bg1"/>
                </a:solidFill>
                <a:latin typeface="Arial" pitchFamily="34" charset="0"/>
                <a:ea typeface="Arial" pitchFamily="34" charset="-122"/>
                <a:cs typeface="Arial" pitchFamily="34" charset="-120"/>
              </a:rPr>
              <a:t>One simple app that takes care of all of it</a:t>
            </a:r>
            <a:endParaRPr lang="en-US" sz="3000" dirty="0"/>
          </a:p>
        </p:txBody>
      </p:sp>
      <p:sp>
        <p:nvSpPr>
          <p:cNvPr id="4" name="Fees on time"/>
          <p:cNvSpPr/>
          <p:nvPr/>
        </p:nvSpPr>
        <p:spPr>
          <a:xfrm>
            <a:off x="548640" y="1783080"/>
            <a:ext cx="2615184" cy="3017520"/>
          </a:xfrm>
          <a:prstGeom prst="roundRect">
            <a:avLst>
              <a:gd name="adj" fmla="val 4895"/>
            </a:avLst>
          </a:prstGeom>
          <a:solidFill>
            <a:srgbClr val="17234A"/>
          </a:solidFill>
          <a:ln w="12700">
            <a:solidFill>
              <a:srgbClr val="17234A"/>
            </a:solidFill>
            <a:prstDash val="solid"/>
          </a:ln>
        </p:spPr>
      </p:sp>
      <p:sp>
        <p:nvSpPr>
          <p:cNvPr id="5" name="Shape 3"/>
          <p:cNvSpPr/>
          <p:nvPr/>
        </p:nvSpPr>
        <p:spPr>
          <a:xfrm>
            <a:off x="822960" y="2057400"/>
            <a:ext cx="640080" cy="640080"/>
          </a:xfrm>
          <a:prstGeom prst="ellipse">
            <a:avLst/>
          </a:prstGeom>
          <a:solidFill>
            <a:srgbClr val="F7A400"/>
          </a:solidFill>
          <a:ln w="12700">
            <a:solidFill>
              <a:srgbClr val="F7A400"/>
            </a:solidFill>
            <a:prstDash val="solid"/>
          </a:ln>
        </p:spPr>
      </p:sp>
      <p:pic>
        <p:nvPicPr>
          <p:cNvPr id="6" name="Image 0" descr="preencoded.png">    </p:cNvPr>
          <p:cNvPicPr>
            <a:picLocks noChangeAspect="1"/>
          </p:cNvPicPr>
          <p:nvPr/>
        </p:nvPicPr>
        <p:blipFill>
          <a:blip r:embed="rId1"/>
          <a:stretch>
            <a:fillRect/>
          </a:stretch>
        </p:blipFill>
        <p:spPr>
          <a:xfrm>
            <a:off x="982980" y="2217420"/>
            <a:ext cx="320040" cy="320040"/>
          </a:xfrm>
          <a:prstGeom prst="rect">
            <a:avLst/>
          </a:prstGeom>
        </p:spPr>
      </p:pic>
      <p:sp>
        <p:nvSpPr>
          <p:cNvPr id="7" name="Text 4"/>
          <p:cNvSpPr txBox="1"/>
          <p:nvPr/>
        </p:nvSpPr>
        <p:spPr>
          <a:xfrm>
            <a:off x="822960" y="2926080"/>
            <a:ext cx="2148840" cy="731520"/>
          </a:xfrm>
          <a:prstGeom prst="rect">
            <a:avLst/>
          </a:prstGeom>
          <a:noFill/>
          <a:ln/>
        </p:spPr>
        <p:txBody>
          <a:bodyPr wrap="square" lIns="0" tIns="0" rIns="0" bIns="0" rtlCol="0" anchor="t"/>
          <a:lstStyle/>
          <a:p>
            <a:pPr indent="0" marL="0">
              <a:buNone/>
            </a:pPr>
            <a:r>
              <a:rPr lang="en-US" sz="2100" b="1" dirty="0">
                <a:solidFill>
                  <a:schemeClr val="bg1"/>
                </a:solidFill>
              </a:rPr>
              <a:t>Fees on time</a:t>
            </a:r>
            <a:endParaRPr lang="en-US" sz="2100" dirty="0"/>
          </a:p>
        </p:txBody>
      </p:sp>
      <p:sp>
        <p:nvSpPr>
          <p:cNvPr id="8" name="Text 5"/>
          <p:cNvSpPr txBox="1"/>
          <p:nvPr/>
        </p:nvSpPr>
        <p:spPr>
          <a:xfrm>
            <a:off x="822960" y="3703320"/>
            <a:ext cx="2148840" cy="914400"/>
          </a:xfrm>
          <a:prstGeom prst="rect">
            <a:avLst/>
          </a:prstGeom>
          <a:noFill/>
          <a:ln/>
        </p:spPr>
        <p:txBody>
          <a:bodyPr wrap="square" lIns="0" tIns="0" rIns="0" bIns="0" rtlCol="0" anchor="t"/>
          <a:lstStyle/>
          <a:p>
            <a:pPr indent="0" marL="0">
              <a:buNone/>
            </a:pPr>
            <a:r>
              <a:rPr lang="en-US" sz="1400" dirty="0">
                <a:solidFill>
                  <a:schemeClr val="accent5"/>
                </a:solidFill>
              </a:rPr>
              <a:t>Parents pay from their phone. Receipts are instant.</a:t>
            </a:r>
            <a:endParaRPr lang="en-US" sz="1400" dirty="0"/>
          </a:p>
        </p:txBody>
      </p:sp>
      <p:sp>
        <p:nvSpPr>
          <p:cNvPr id="9" name="Parents always informed"/>
          <p:cNvSpPr/>
          <p:nvPr/>
        </p:nvSpPr>
        <p:spPr>
          <a:xfrm>
            <a:off x="3346704" y="1783080"/>
            <a:ext cx="2615184" cy="3017520"/>
          </a:xfrm>
          <a:prstGeom prst="roundRect">
            <a:avLst>
              <a:gd name="adj" fmla="val 4895"/>
            </a:avLst>
          </a:prstGeom>
          <a:solidFill>
            <a:srgbClr val="17234A"/>
          </a:solidFill>
          <a:ln w="12700">
            <a:solidFill>
              <a:srgbClr val="17234A"/>
            </a:solidFill>
            <a:prstDash val="solid"/>
          </a:ln>
        </p:spPr>
      </p:sp>
      <p:sp>
        <p:nvSpPr>
          <p:cNvPr id="10" name="Shape 7"/>
          <p:cNvSpPr/>
          <p:nvPr/>
        </p:nvSpPr>
        <p:spPr>
          <a:xfrm>
            <a:off x="3621024" y="2057400"/>
            <a:ext cx="640080" cy="640080"/>
          </a:xfrm>
          <a:prstGeom prst="ellipse">
            <a:avLst/>
          </a:prstGeom>
          <a:solidFill>
            <a:srgbClr val="F7A400"/>
          </a:solidFill>
          <a:ln w="12700">
            <a:solidFill>
              <a:srgbClr val="F7A400"/>
            </a:solidFill>
            <a:prstDash val="solid"/>
          </a:ln>
        </p:spPr>
      </p:sp>
      <p:pic>
        <p:nvPicPr>
          <p:cNvPr id="11" name="Image 1" descr="preencoded.png">    </p:cNvPr>
          <p:cNvPicPr>
            <a:picLocks noChangeAspect="1"/>
          </p:cNvPicPr>
          <p:nvPr/>
        </p:nvPicPr>
        <p:blipFill>
          <a:blip r:embed="rId2"/>
          <a:stretch>
            <a:fillRect/>
          </a:stretch>
        </p:blipFill>
        <p:spPr>
          <a:xfrm>
            <a:off x="3781044" y="2217420"/>
            <a:ext cx="320040" cy="320040"/>
          </a:xfrm>
          <a:prstGeom prst="rect">
            <a:avLst/>
          </a:prstGeom>
        </p:spPr>
      </p:pic>
      <p:sp>
        <p:nvSpPr>
          <p:cNvPr id="12" name="Text 8"/>
          <p:cNvSpPr txBox="1"/>
          <p:nvPr/>
        </p:nvSpPr>
        <p:spPr>
          <a:xfrm>
            <a:off x="3621024" y="2926080"/>
            <a:ext cx="2148840" cy="731520"/>
          </a:xfrm>
          <a:prstGeom prst="rect">
            <a:avLst/>
          </a:prstGeom>
          <a:noFill/>
          <a:ln/>
        </p:spPr>
        <p:txBody>
          <a:bodyPr wrap="square" lIns="0" tIns="0" rIns="0" bIns="0" rtlCol="0" anchor="t"/>
          <a:lstStyle/>
          <a:p>
            <a:pPr indent="0" marL="0">
              <a:buNone/>
            </a:pPr>
            <a:r>
              <a:rPr lang="en-US" sz="2100" b="1" dirty="0">
                <a:solidFill>
                  <a:schemeClr val="bg1"/>
                </a:solidFill>
              </a:rPr>
              <a:t>Parents always informed</a:t>
            </a:r>
            <a:endParaRPr lang="en-US" sz="2100" dirty="0"/>
          </a:p>
        </p:txBody>
      </p:sp>
      <p:sp>
        <p:nvSpPr>
          <p:cNvPr id="13" name="Text 9"/>
          <p:cNvSpPr txBox="1"/>
          <p:nvPr/>
        </p:nvSpPr>
        <p:spPr>
          <a:xfrm>
            <a:off x="3621024" y="3703320"/>
            <a:ext cx="2148840" cy="914400"/>
          </a:xfrm>
          <a:prstGeom prst="rect">
            <a:avLst/>
          </a:prstGeom>
          <a:noFill/>
          <a:ln/>
        </p:spPr>
        <p:txBody>
          <a:bodyPr wrap="square" lIns="0" tIns="0" rIns="0" bIns="0" rtlCol="0" anchor="t"/>
          <a:lstStyle/>
          <a:p>
            <a:pPr indent="0" marL="0">
              <a:buNone/>
            </a:pPr>
            <a:r>
              <a:rPr lang="en-US" sz="1400" dirty="0">
                <a:solidFill>
                  <a:schemeClr val="accent5"/>
                </a:solidFill>
              </a:rPr>
              <a:t>Absence, homework, notices and results reach them on their phone.</a:t>
            </a:r>
            <a:endParaRPr lang="en-US" sz="1400" dirty="0"/>
          </a:p>
        </p:txBody>
      </p:sp>
      <p:sp>
        <p:nvSpPr>
          <p:cNvPr id="14" name="Teachers free to teach"/>
          <p:cNvSpPr/>
          <p:nvPr/>
        </p:nvSpPr>
        <p:spPr>
          <a:xfrm>
            <a:off x="6144768" y="1783080"/>
            <a:ext cx="2615184" cy="3017520"/>
          </a:xfrm>
          <a:prstGeom prst="roundRect">
            <a:avLst>
              <a:gd name="adj" fmla="val 4895"/>
            </a:avLst>
          </a:prstGeom>
          <a:solidFill>
            <a:srgbClr val="17234A"/>
          </a:solidFill>
          <a:ln w="12700">
            <a:solidFill>
              <a:srgbClr val="17234A"/>
            </a:solidFill>
            <a:prstDash val="solid"/>
          </a:ln>
        </p:spPr>
      </p:sp>
      <p:sp>
        <p:nvSpPr>
          <p:cNvPr id="15" name="Shape 11"/>
          <p:cNvSpPr/>
          <p:nvPr/>
        </p:nvSpPr>
        <p:spPr>
          <a:xfrm>
            <a:off x="6419088" y="2057400"/>
            <a:ext cx="640080" cy="640080"/>
          </a:xfrm>
          <a:prstGeom prst="ellipse">
            <a:avLst/>
          </a:prstGeom>
          <a:solidFill>
            <a:srgbClr val="F7A400"/>
          </a:solidFill>
          <a:ln w="12700">
            <a:solidFill>
              <a:srgbClr val="F7A400"/>
            </a:solidFill>
            <a:prstDash val="solid"/>
          </a:ln>
        </p:spPr>
      </p:sp>
      <p:pic>
        <p:nvPicPr>
          <p:cNvPr id="16" name="Image 2" descr="preencoded.png">    </p:cNvPr>
          <p:cNvPicPr>
            <a:picLocks noChangeAspect="1"/>
          </p:cNvPicPr>
          <p:nvPr/>
        </p:nvPicPr>
        <p:blipFill>
          <a:blip r:embed="rId3"/>
          <a:stretch>
            <a:fillRect/>
          </a:stretch>
        </p:blipFill>
        <p:spPr>
          <a:xfrm>
            <a:off x="6579108" y="2217420"/>
            <a:ext cx="320040" cy="320040"/>
          </a:xfrm>
          <a:prstGeom prst="rect">
            <a:avLst/>
          </a:prstGeom>
        </p:spPr>
      </p:pic>
      <p:sp>
        <p:nvSpPr>
          <p:cNvPr id="17" name="Text 12"/>
          <p:cNvSpPr txBox="1"/>
          <p:nvPr/>
        </p:nvSpPr>
        <p:spPr>
          <a:xfrm>
            <a:off x="6419088" y="2926080"/>
            <a:ext cx="2148840" cy="731520"/>
          </a:xfrm>
          <a:prstGeom prst="rect">
            <a:avLst/>
          </a:prstGeom>
          <a:noFill/>
          <a:ln/>
        </p:spPr>
        <p:txBody>
          <a:bodyPr wrap="square" lIns="0" tIns="0" rIns="0" bIns="0" rtlCol="0" anchor="t"/>
          <a:lstStyle/>
          <a:p>
            <a:pPr indent="0" marL="0">
              <a:buNone/>
            </a:pPr>
            <a:r>
              <a:rPr lang="en-US" sz="2100" b="1" dirty="0">
                <a:solidFill>
                  <a:schemeClr val="bg1"/>
                </a:solidFill>
              </a:rPr>
              <a:t>Teachers free to teach</a:t>
            </a:r>
            <a:endParaRPr lang="en-US" sz="2100" dirty="0"/>
          </a:p>
        </p:txBody>
      </p:sp>
      <p:sp>
        <p:nvSpPr>
          <p:cNvPr id="18" name="Text 13"/>
          <p:cNvSpPr txBox="1"/>
          <p:nvPr/>
        </p:nvSpPr>
        <p:spPr>
          <a:xfrm>
            <a:off x="6419088" y="3703320"/>
            <a:ext cx="2148840" cy="914400"/>
          </a:xfrm>
          <a:prstGeom prst="rect">
            <a:avLst/>
          </a:prstGeom>
          <a:noFill/>
          <a:ln/>
        </p:spPr>
        <p:txBody>
          <a:bodyPr wrap="square" lIns="0" tIns="0" rIns="0" bIns="0" rtlCol="0" anchor="t"/>
          <a:lstStyle/>
          <a:p>
            <a:pPr indent="0" marL="0">
              <a:buNone/>
            </a:pPr>
            <a:r>
              <a:rPr lang="en-US" sz="1400" dirty="0">
                <a:solidFill>
                  <a:schemeClr val="accent5"/>
                </a:solidFill>
              </a:rPr>
              <a:t>Registers, marks and homework take a few taps.</a:t>
            </a:r>
            <a:endParaRPr lang="en-US" sz="1400" dirty="0"/>
          </a:p>
        </p:txBody>
      </p:sp>
      <p:sp>
        <p:nvSpPr>
          <p:cNvPr id="19" name="You in full control"/>
          <p:cNvSpPr/>
          <p:nvPr/>
        </p:nvSpPr>
        <p:spPr>
          <a:xfrm>
            <a:off x="8942832" y="1783080"/>
            <a:ext cx="2615184" cy="3017520"/>
          </a:xfrm>
          <a:prstGeom prst="roundRect">
            <a:avLst>
              <a:gd name="adj" fmla="val 4895"/>
            </a:avLst>
          </a:prstGeom>
          <a:solidFill>
            <a:srgbClr val="17234A"/>
          </a:solidFill>
          <a:ln w="12700">
            <a:solidFill>
              <a:srgbClr val="17234A"/>
            </a:solidFill>
            <a:prstDash val="solid"/>
          </a:ln>
        </p:spPr>
      </p:sp>
      <p:sp>
        <p:nvSpPr>
          <p:cNvPr id="20" name="Shape 15"/>
          <p:cNvSpPr/>
          <p:nvPr/>
        </p:nvSpPr>
        <p:spPr>
          <a:xfrm>
            <a:off x="9217152" y="2057400"/>
            <a:ext cx="640080" cy="640080"/>
          </a:xfrm>
          <a:prstGeom prst="ellipse">
            <a:avLst/>
          </a:prstGeom>
          <a:solidFill>
            <a:srgbClr val="F7A400"/>
          </a:solidFill>
          <a:ln w="12700">
            <a:solidFill>
              <a:srgbClr val="F7A400"/>
            </a:solidFill>
            <a:prstDash val="solid"/>
          </a:ln>
        </p:spPr>
      </p:sp>
      <p:pic>
        <p:nvPicPr>
          <p:cNvPr id="21" name="Image 3" descr="preencoded.png">    </p:cNvPr>
          <p:cNvPicPr>
            <a:picLocks noChangeAspect="1"/>
          </p:cNvPicPr>
          <p:nvPr/>
        </p:nvPicPr>
        <p:blipFill>
          <a:blip r:embed="rId4"/>
          <a:stretch>
            <a:fillRect/>
          </a:stretch>
        </p:blipFill>
        <p:spPr>
          <a:xfrm>
            <a:off x="9377172" y="2217420"/>
            <a:ext cx="320040" cy="320040"/>
          </a:xfrm>
          <a:prstGeom prst="rect">
            <a:avLst/>
          </a:prstGeom>
        </p:spPr>
      </p:pic>
      <p:sp>
        <p:nvSpPr>
          <p:cNvPr id="22" name="Text 16"/>
          <p:cNvSpPr txBox="1"/>
          <p:nvPr/>
        </p:nvSpPr>
        <p:spPr>
          <a:xfrm>
            <a:off x="9217152" y="2926080"/>
            <a:ext cx="2148840" cy="731520"/>
          </a:xfrm>
          <a:prstGeom prst="rect">
            <a:avLst/>
          </a:prstGeom>
          <a:noFill/>
          <a:ln/>
        </p:spPr>
        <p:txBody>
          <a:bodyPr wrap="square" lIns="0" tIns="0" rIns="0" bIns="0" rtlCol="0" anchor="t"/>
          <a:lstStyle/>
          <a:p>
            <a:pPr indent="0" marL="0">
              <a:buNone/>
            </a:pPr>
            <a:r>
              <a:rPr lang="en-US" sz="2100" b="1" dirty="0">
                <a:solidFill>
                  <a:schemeClr val="bg1"/>
                </a:solidFill>
              </a:rPr>
              <a:t>You in full control</a:t>
            </a:r>
            <a:endParaRPr lang="en-US" sz="2100" dirty="0"/>
          </a:p>
        </p:txBody>
      </p:sp>
      <p:sp>
        <p:nvSpPr>
          <p:cNvPr id="23" name="Text 17"/>
          <p:cNvSpPr txBox="1"/>
          <p:nvPr/>
        </p:nvSpPr>
        <p:spPr>
          <a:xfrm>
            <a:off x="9217152" y="3703320"/>
            <a:ext cx="2148840" cy="914400"/>
          </a:xfrm>
          <a:prstGeom prst="rect">
            <a:avLst/>
          </a:prstGeom>
          <a:noFill/>
          <a:ln/>
        </p:spPr>
        <p:txBody>
          <a:bodyPr wrap="square" lIns="0" tIns="0" rIns="0" bIns="0" rtlCol="0" anchor="t"/>
          <a:lstStyle/>
          <a:p>
            <a:pPr indent="0" marL="0">
              <a:buNone/>
            </a:pPr>
            <a:r>
              <a:rPr lang="en-US" sz="1400" dirty="0">
                <a:solidFill>
                  <a:schemeClr val="accent5"/>
                </a:solidFill>
              </a:rPr>
              <a:t>See your whole school on one screen, any time.</a:t>
            </a:r>
            <a:endParaRPr lang="en-US" sz="1400" dirty="0"/>
          </a:p>
        </p:txBody>
      </p:sp>
      <p:pic>
        <p:nvPicPr>
          <p:cNvPr id="24" name="Image 4" descr="/tmp/claude-0/-home-user-school-erp/e29ee0a4-43fe-57b9-bbca-796e49c4c9e9/scratchpad/deck/assets2/bastaa-logo-white.png">    </p:cNvPr>
          <p:cNvPicPr>
            <a:picLocks noChangeAspect="1"/>
          </p:cNvPicPr>
          <p:nvPr/>
        </p:nvPicPr>
        <p:blipFill>
          <a:blip r:embed="rId5"/>
          <a:stretch>
            <a:fillRect/>
          </a:stretch>
        </p:blipFill>
        <p:spPr>
          <a:xfrm>
            <a:off x="548640" y="5257800"/>
            <a:ext cx="1828800" cy="545910"/>
          </a:xfrm>
          <a:prstGeom prst="rect">
            <a:avLst/>
          </a:prstGeom>
        </p:spPr>
      </p:pic>
      <p:sp>
        <p:nvSpPr>
          <p:cNvPr id="25" name="Text 18"/>
          <p:cNvSpPr txBox="1"/>
          <p:nvPr/>
        </p:nvSpPr>
        <p:spPr>
          <a:xfrm>
            <a:off x="2606040" y="5285232"/>
            <a:ext cx="8961120" cy="502920"/>
          </a:xfrm>
          <a:prstGeom prst="rect">
            <a:avLst/>
          </a:prstGeom>
          <a:noFill/>
          <a:ln/>
        </p:spPr>
        <p:txBody>
          <a:bodyPr wrap="square" lIns="0" tIns="0" rIns="0" bIns="0" rtlCol="0" anchor="ctr"/>
          <a:lstStyle/>
          <a:p>
            <a:pPr indent="0" marL="0">
              <a:buNone/>
            </a:pPr>
            <a:r>
              <a:rPr lang="en-US" sz="1800" b="1" dirty="0">
                <a:solidFill>
                  <a:schemeClr val="bg1"/>
                </a:solidFill>
              </a:rPr>
              <a:t>That's Bastaa. Built for Indian schools: CBSE, ICSE and state boards.</a:t>
            </a:r>
            <a:endParaRPr lang="en-US" sz="1800" dirty="0"/>
          </a:p>
        </p:txBody>
      </p:sp>
      <p:sp>
        <p:nvSpPr>
          <p:cNvPr id="25" name="Slide Number Placeholder 0"/>
          <p:cNvSpPr>
            <a:spLocks noGrp="1"/>
          </p:cNvSpPr>
          <p:nvPr>
            <p:ph type="sldNum" sz="quarter" idx="4294967295"/>
          </p:nvPr>
        </p:nvSpPr>
        <p:spPr>
          <a:xfrm>
            <a:off x="11201400"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body" hasCustomPrompt="1"/>
          </p:nvPr>
        </p:nvSpPr>
        <p:spPr>
          <a:xfrm>
            <a:off x="804672" y="384048"/>
            <a:ext cx="54864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FOR EVERYONE IN YOUR SCHOOL</a:t>
            </a:r>
            <a:endParaRPr lang="en-US" sz="1200" dirty="0"/>
          </a:p>
        </p:txBody>
      </p:sp>
      <p:sp>
        <p:nvSpPr>
          <p:cNvPr id="3" name="Text 0"/>
          <p:cNvSpPr/>
          <p:nvPr>
            <p:ph idx="102" type="title" hasCustomPrompt="1"/>
          </p:nvPr>
        </p:nvSpPr>
        <p:spPr>
          <a:xfrm>
            <a:off x="548640" y="749808"/>
            <a:ext cx="11064240" cy="73152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One system. Everyone on the same page.</a:t>
            </a:r>
            <a:endParaRPr lang="en-US" sz="3000" dirty="0"/>
          </a:p>
        </p:txBody>
      </p:sp>
      <p:sp>
        <p:nvSpPr>
          <p:cNvPr id="4" name="Management &amp; principal"/>
          <p:cNvSpPr/>
          <p:nvPr/>
        </p:nvSpPr>
        <p:spPr>
          <a:xfrm>
            <a:off x="548640" y="1691640"/>
            <a:ext cx="2615184" cy="4343400"/>
          </a:xfrm>
          <a:prstGeom prst="roundRect">
            <a:avLst>
              <a:gd name="adj" fmla="val 4895"/>
            </a:avLst>
          </a:prstGeom>
          <a:solidFill>
            <a:srgbClr val="F4F7FC"/>
          </a:solidFill>
          <a:ln w="12700">
            <a:solidFill>
              <a:srgbClr val="F4F7FC"/>
            </a:solidFill>
            <a:prstDash val="solid"/>
          </a:ln>
        </p:spPr>
      </p:sp>
      <p:sp>
        <p:nvSpPr>
          <p:cNvPr id="5" name="Shape 3"/>
          <p:cNvSpPr/>
          <p:nvPr/>
        </p:nvSpPr>
        <p:spPr>
          <a:xfrm>
            <a:off x="804672" y="1965960"/>
            <a:ext cx="548640" cy="548640"/>
          </a:xfrm>
          <a:prstGeom prst="ellipse">
            <a:avLst/>
          </a:prstGeom>
          <a:solidFill>
            <a:srgbClr val="2F6FEB"/>
          </a:solidFill>
          <a:ln w="12700">
            <a:solidFill>
              <a:srgbClr val="2F6FEB"/>
            </a:solidFill>
            <a:prstDash val="solid"/>
          </a:ln>
        </p:spPr>
      </p:sp>
      <p:pic>
        <p:nvPicPr>
          <p:cNvPr id="6" name="Image 0" descr="preencoded.png">    </p:cNvPr>
          <p:cNvPicPr>
            <a:picLocks noChangeAspect="1"/>
          </p:cNvPicPr>
          <p:nvPr/>
        </p:nvPicPr>
        <p:blipFill>
          <a:blip r:embed="rId1"/>
          <a:stretch>
            <a:fillRect/>
          </a:stretch>
        </p:blipFill>
        <p:spPr>
          <a:xfrm>
            <a:off x="941832" y="2103120"/>
            <a:ext cx="274320" cy="274320"/>
          </a:xfrm>
          <a:prstGeom prst="rect">
            <a:avLst/>
          </a:prstGeom>
        </p:spPr>
      </p:pic>
      <p:sp>
        <p:nvSpPr>
          <p:cNvPr id="7" name="Text 4"/>
          <p:cNvSpPr txBox="1"/>
          <p:nvPr/>
        </p:nvSpPr>
        <p:spPr>
          <a:xfrm>
            <a:off x="804672" y="2697480"/>
            <a:ext cx="2194560" cy="640080"/>
          </a:xfrm>
          <a:prstGeom prst="rect">
            <a:avLst/>
          </a:prstGeom>
          <a:noFill/>
          <a:ln/>
        </p:spPr>
        <p:txBody>
          <a:bodyPr wrap="square" lIns="0" tIns="0" rIns="0" bIns="0" rtlCol="0" anchor="t"/>
          <a:lstStyle/>
          <a:p>
            <a:pPr indent="0" marL="0">
              <a:buNone/>
            </a:pPr>
            <a:r>
              <a:rPr lang="en-US" sz="1800" b="1" dirty="0">
                <a:solidFill>
                  <a:schemeClr val="tx1"/>
                </a:solidFill>
              </a:rPr>
              <a:t>Management &amp; principal</a:t>
            </a:r>
            <a:endParaRPr lang="en-US" sz="1800" dirty="0"/>
          </a:p>
        </p:txBody>
      </p:sp>
      <p:sp>
        <p:nvSpPr>
          <p:cNvPr id="8" name="Shape 5"/>
          <p:cNvSpPr/>
          <p:nvPr/>
        </p:nvSpPr>
        <p:spPr>
          <a:xfrm>
            <a:off x="804672" y="3383280"/>
            <a:ext cx="2103120" cy="292608"/>
          </a:xfrm>
          <a:prstGeom prst="roundRect">
            <a:avLst>
              <a:gd name="adj" fmla="val 50000"/>
            </a:avLst>
          </a:prstGeom>
          <a:solidFill>
            <a:srgbClr val="DFE8FB"/>
          </a:solidFill>
          <a:ln w="12700">
            <a:solidFill>
              <a:srgbClr val="DFE8FB"/>
            </a:solidFill>
            <a:prstDash val="solid"/>
          </a:ln>
        </p:spPr>
      </p:sp>
      <p:sp>
        <p:nvSpPr>
          <p:cNvPr id="9" name="Text 6"/>
          <p:cNvSpPr txBox="1"/>
          <p:nvPr/>
        </p:nvSpPr>
        <p:spPr>
          <a:xfrm>
            <a:off x="804672" y="3383280"/>
            <a:ext cx="2103120" cy="292608"/>
          </a:xfrm>
          <a:prstGeom prst="rect">
            <a:avLst/>
          </a:prstGeom>
          <a:noFill/>
          <a:ln/>
        </p:spPr>
        <p:txBody>
          <a:bodyPr wrap="square" lIns="0" tIns="0" rIns="0" bIns="0" rtlCol="0" anchor="ctr"/>
          <a:lstStyle/>
          <a:p>
            <a:pPr algn="ctr" indent="0" marL="0">
              <a:buNone/>
            </a:pPr>
            <a:r>
              <a:rPr lang="en-US" sz="1100" b="1" dirty="0">
                <a:solidFill>
                  <a:schemeClr val="accent1"/>
                </a:solidFill>
              </a:rPr>
              <a:t>Computer or phone browser</a:t>
            </a:r>
            <a:endParaRPr lang="en-US" sz="1100" dirty="0"/>
          </a:p>
        </p:txBody>
      </p:sp>
      <p:sp>
        <p:nvSpPr>
          <p:cNvPr id="10" name="Text 7"/>
          <p:cNvSpPr txBox="1"/>
          <p:nvPr/>
        </p:nvSpPr>
        <p:spPr>
          <a:xfrm>
            <a:off x="804672" y="3886200"/>
            <a:ext cx="2194560" cy="201168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rPr>
              <a:t>Live dashboard of the whole school</a:t>
            </a:r>
            <a:endParaRPr lang="en-US" sz="1400" dirty="0"/>
          </a:p>
          <a:p>
            <a:pPr marL="203200" indent="-203200">
              <a:spcAft>
                <a:spcPts val="800"/>
              </a:spcAft>
              <a:buSzPct val="100000"/>
              <a:buChar char="✓"/>
            </a:pPr>
            <a:r>
              <a:rPr lang="en-US" sz="1400" dirty="0">
                <a:solidFill>
                  <a:schemeClr val="tx1"/>
                </a:solidFill>
              </a:rPr>
              <a:t>Approve, publish results, send notices</a:t>
            </a:r>
            <a:endParaRPr lang="en-US" sz="1400" dirty="0"/>
          </a:p>
          <a:p>
            <a:pPr marL="203200" indent="-203200">
              <a:spcAft>
                <a:spcPts val="800"/>
              </a:spcAft>
              <a:buSzPct val="100000"/>
              <a:buChar char="✓"/>
            </a:pPr>
            <a:r>
              <a:rPr lang="en-US" sz="1400" dirty="0">
                <a:solidFill>
                  <a:schemeClr val="tx1"/>
                </a:solidFill>
              </a:rPr>
              <a:t>Reports any time, in one click</a:t>
            </a:r>
            <a:endParaRPr lang="en-US" sz="1400" dirty="0"/>
          </a:p>
        </p:txBody>
      </p:sp>
      <p:sp>
        <p:nvSpPr>
          <p:cNvPr id="11" name="Office &amp; accountant"/>
          <p:cNvSpPr/>
          <p:nvPr/>
        </p:nvSpPr>
        <p:spPr>
          <a:xfrm>
            <a:off x="3346704" y="1691640"/>
            <a:ext cx="2615184" cy="4343400"/>
          </a:xfrm>
          <a:prstGeom prst="roundRect">
            <a:avLst>
              <a:gd name="adj" fmla="val 4895"/>
            </a:avLst>
          </a:prstGeom>
          <a:solidFill>
            <a:srgbClr val="F4F7FC"/>
          </a:solidFill>
          <a:ln w="12700">
            <a:solidFill>
              <a:srgbClr val="F4F7FC"/>
            </a:solidFill>
            <a:prstDash val="solid"/>
          </a:ln>
        </p:spPr>
      </p:sp>
      <p:sp>
        <p:nvSpPr>
          <p:cNvPr id="12" name="Shape 9"/>
          <p:cNvSpPr/>
          <p:nvPr/>
        </p:nvSpPr>
        <p:spPr>
          <a:xfrm>
            <a:off x="3602736" y="1965960"/>
            <a:ext cx="548640" cy="548640"/>
          </a:xfrm>
          <a:prstGeom prst="ellipse">
            <a:avLst/>
          </a:prstGeom>
          <a:solidFill>
            <a:srgbClr val="2F6FEB"/>
          </a:solidFill>
          <a:ln w="12700">
            <a:solidFill>
              <a:srgbClr val="2F6FEB"/>
            </a:solidFill>
            <a:prstDash val="solid"/>
          </a:ln>
        </p:spPr>
      </p:sp>
      <p:pic>
        <p:nvPicPr>
          <p:cNvPr id="13" name="Image 1" descr="preencoded.png">    </p:cNvPr>
          <p:cNvPicPr>
            <a:picLocks noChangeAspect="1"/>
          </p:cNvPicPr>
          <p:nvPr/>
        </p:nvPicPr>
        <p:blipFill>
          <a:blip r:embed="rId2"/>
          <a:stretch>
            <a:fillRect/>
          </a:stretch>
        </p:blipFill>
        <p:spPr>
          <a:xfrm>
            <a:off x="3739896" y="2103120"/>
            <a:ext cx="274320" cy="274320"/>
          </a:xfrm>
          <a:prstGeom prst="rect">
            <a:avLst/>
          </a:prstGeom>
        </p:spPr>
      </p:pic>
      <p:sp>
        <p:nvSpPr>
          <p:cNvPr id="14" name="Text 10"/>
          <p:cNvSpPr txBox="1"/>
          <p:nvPr/>
        </p:nvSpPr>
        <p:spPr>
          <a:xfrm>
            <a:off x="3602736" y="2697480"/>
            <a:ext cx="2194560" cy="640080"/>
          </a:xfrm>
          <a:prstGeom prst="rect">
            <a:avLst/>
          </a:prstGeom>
          <a:noFill/>
          <a:ln/>
        </p:spPr>
        <p:txBody>
          <a:bodyPr wrap="square" lIns="0" tIns="0" rIns="0" bIns="0" rtlCol="0" anchor="t"/>
          <a:lstStyle/>
          <a:p>
            <a:pPr indent="0" marL="0">
              <a:buNone/>
            </a:pPr>
            <a:r>
              <a:rPr lang="en-US" sz="1800" b="1" dirty="0">
                <a:solidFill>
                  <a:schemeClr val="tx1"/>
                </a:solidFill>
              </a:rPr>
              <a:t>Office &amp; accountant</a:t>
            </a:r>
            <a:endParaRPr lang="en-US" sz="1800" dirty="0"/>
          </a:p>
        </p:txBody>
      </p:sp>
      <p:sp>
        <p:nvSpPr>
          <p:cNvPr id="15" name="Shape 11"/>
          <p:cNvSpPr/>
          <p:nvPr/>
        </p:nvSpPr>
        <p:spPr>
          <a:xfrm>
            <a:off x="3602736" y="3383280"/>
            <a:ext cx="2103120" cy="292608"/>
          </a:xfrm>
          <a:prstGeom prst="roundRect">
            <a:avLst>
              <a:gd name="adj" fmla="val 50000"/>
            </a:avLst>
          </a:prstGeom>
          <a:solidFill>
            <a:srgbClr val="DFE8FB"/>
          </a:solidFill>
          <a:ln w="12700">
            <a:solidFill>
              <a:srgbClr val="DFE8FB"/>
            </a:solidFill>
            <a:prstDash val="solid"/>
          </a:ln>
        </p:spPr>
      </p:sp>
      <p:sp>
        <p:nvSpPr>
          <p:cNvPr id="16" name="Text 12"/>
          <p:cNvSpPr txBox="1"/>
          <p:nvPr/>
        </p:nvSpPr>
        <p:spPr>
          <a:xfrm>
            <a:off x="3602736" y="3383280"/>
            <a:ext cx="2103120" cy="292608"/>
          </a:xfrm>
          <a:prstGeom prst="rect">
            <a:avLst/>
          </a:prstGeom>
          <a:noFill/>
          <a:ln/>
        </p:spPr>
        <p:txBody>
          <a:bodyPr wrap="square" lIns="0" tIns="0" rIns="0" bIns="0" rtlCol="0" anchor="ctr"/>
          <a:lstStyle/>
          <a:p>
            <a:pPr algn="ctr" indent="0" marL="0">
              <a:buNone/>
            </a:pPr>
            <a:r>
              <a:rPr lang="en-US" sz="1100" b="1" dirty="0">
                <a:solidFill>
                  <a:schemeClr val="accent1"/>
                </a:solidFill>
              </a:rPr>
              <a:t>Computer</a:t>
            </a:r>
            <a:endParaRPr lang="en-US" sz="1100" dirty="0"/>
          </a:p>
        </p:txBody>
      </p:sp>
      <p:sp>
        <p:nvSpPr>
          <p:cNvPr id="17" name="Text 13"/>
          <p:cNvSpPr txBox="1"/>
          <p:nvPr/>
        </p:nvSpPr>
        <p:spPr>
          <a:xfrm>
            <a:off x="3602736" y="3886200"/>
            <a:ext cx="2194560" cy="201168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rPr>
              <a:t>Admissions and student records</a:t>
            </a:r>
            <a:endParaRPr lang="en-US" sz="1400" dirty="0"/>
          </a:p>
          <a:p>
            <a:pPr marL="203200" indent="-203200">
              <a:spcAft>
                <a:spcPts val="800"/>
              </a:spcAft>
              <a:buSzPct val="100000"/>
              <a:buChar char="✓"/>
            </a:pPr>
            <a:r>
              <a:rPr lang="en-US" sz="1400" dirty="0">
                <a:solidFill>
                  <a:schemeClr val="tx1"/>
                </a:solidFill>
              </a:rPr>
              <a:t>Fees, receipts and daily collection</a:t>
            </a:r>
            <a:endParaRPr lang="en-US" sz="1400" dirty="0"/>
          </a:p>
          <a:p>
            <a:pPr marL="203200" indent="-203200">
              <a:spcAft>
                <a:spcPts val="800"/>
              </a:spcAft>
              <a:buSzPct val="100000"/>
              <a:buChar char="✓"/>
            </a:pPr>
            <a:r>
              <a:rPr lang="en-US" sz="1400" dirty="0">
                <a:solidFill>
                  <a:schemeClr val="tx1"/>
                </a:solidFill>
              </a:rPr>
              <a:t>ID cards and report cards printed in-house</a:t>
            </a:r>
            <a:endParaRPr lang="en-US" sz="1400" dirty="0"/>
          </a:p>
        </p:txBody>
      </p:sp>
      <p:sp>
        <p:nvSpPr>
          <p:cNvPr id="18" name="Teachers"/>
          <p:cNvSpPr/>
          <p:nvPr/>
        </p:nvSpPr>
        <p:spPr>
          <a:xfrm>
            <a:off x="6144768" y="1691640"/>
            <a:ext cx="2615184" cy="4343400"/>
          </a:xfrm>
          <a:prstGeom prst="roundRect">
            <a:avLst>
              <a:gd name="adj" fmla="val 4895"/>
            </a:avLst>
          </a:prstGeom>
          <a:solidFill>
            <a:srgbClr val="F4F7FC"/>
          </a:solidFill>
          <a:ln w="12700">
            <a:solidFill>
              <a:srgbClr val="F4F7FC"/>
            </a:solidFill>
            <a:prstDash val="solid"/>
          </a:ln>
        </p:spPr>
      </p:sp>
      <p:sp>
        <p:nvSpPr>
          <p:cNvPr id="19" name="Shape 15"/>
          <p:cNvSpPr/>
          <p:nvPr/>
        </p:nvSpPr>
        <p:spPr>
          <a:xfrm>
            <a:off x="6400800" y="1965960"/>
            <a:ext cx="548640" cy="548640"/>
          </a:xfrm>
          <a:prstGeom prst="ellipse">
            <a:avLst/>
          </a:prstGeom>
          <a:solidFill>
            <a:srgbClr val="2F6FEB"/>
          </a:solidFill>
          <a:ln w="12700">
            <a:solidFill>
              <a:srgbClr val="2F6FEB"/>
            </a:solidFill>
            <a:prstDash val="solid"/>
          </a:ln>
        </p:spPr>
      </p:sp>
      <p:pic>
        <p:nvPicPr>
          <p:cNvPr id="20" name="Image 2" descr="preencoded.png">    </p:cNvPr>
          <p:cNvPicPr>
            <a:picLocks noChangeAspect="1"/>
          </p:cNvPicPr>
          <p:nvPr/>
        </p:nvPicPr>
        <p:blipFill>
          <a:blip r:embed="rId3"/>
          <a:stretch>
            <a:fillRect/>
          </a:stretch>
        </p:blipFill>
        <p:spPr>
          <a:xfrm>
            <a:off x="6537960" y="2103120"/>
            <a:ext cx="274320" cy="274320"/>
          </a:xfrm>
          <a:prstGeom prst="rect">
            <a:avLst/>
          </a:prstGeom>
        </p:spPr>
      </p:pic>
      <p:sp>
        <p:nvSpPr>
          <p:cNvPr id="21" name="Text 16"/>
          <p:cNvSpPr txBox="1"/>
          <p:nvPr/>
        </p:nvSpPr>
        <p:spPr>
          <a:xfrm>
            <a:off x="6400800" y="2697480"/>
            <a:ext cx="2194560" cy="640080"/>
          </a:xfrm>
          <a:prstGeom prst="rect">
            <a:avLst/>
          </a:prstGeom>
          <a:noFill/>
          <a:ln/>
        </p:spPr>
        <p:txBody>
          <a:bodyPr wrap="square" lIns="0" tIns="0" rIns="0" bIns="0" rtlCol="0" anchor="t"/>
          <a:lstStyle/>
          <a:p>
            <a:pPr indent="0" marL="0">
              <a:buNone/>
            </a:pPr>
            <a:r>
              <a:rPr lang="en-US" sz="1800" b="1" dirty="0">
                <a:solidFill>
                  <a:schemeClr val="tx1"/>
                </a:solidFill>
              </a:rPr>
              <a:t>Teachers</a:t>
            </a:r>
            <a:endParaRPr lang="en-US" sz="1800" dirty="0"/>
          </a:p>
        </p:txBody>
      </p:sp>
      <p:sp>
        <p:nvSpPr>
          <p:cNvPr id="22" name="Shape 17"/>
          <p:cNvSpPr/>
          <p:nvPr/>
        </p:nvSpPr>
        <p:spPr>
          <a:xfrm>
            <a:off x="6400800" y="3383280"/>
            <a:ext cx="2103120" cy="292608"/>
          </a:xfrm>
          <a:prstGeom prst="roundRect">
            <a:avLst>
              <a:gd name="adj" fmla="val 50000"/>
            </a:avLst>
          </a:prstGeom>
          <a:solidFill>
            <a:srgbClr val="DFE8FB"/>
          </a:solidFill>
          <a:ln w="12700">
            <a:solidFill>
              <a:srgbClr val="DFE8FB"/>
            </a:solidFill>
            <a:prstDash val="solid"/>
          </a:ln>
        </p:spPr>
      </p:sp>
      <p:sp>
        <p:nvSpPr>
          <p:cNvPr id="23" name="Text 18"/>
          <p:cNvSpPr txBox="1"/>
          <p:nvPr/>
        </p:nvSpPr>
        <p:spPr>
          <a:xfrm>
            <a:off x="6400800" y="3383280"/>
            <a:ext cx="2103120" cy="292608"/>
          </a:xfrm>
          <a:prstGeom prst="rect">
            <a:avLst/>
          </a:prstGeom>
          <a:noFill/>
          <a:ln/>
        </p:spPr>
        <p:txBody>
          <a:bodyPr wrap="square" lIns="0" tIns="0" rIns="0" bIns="0" rtlCol="0" anchor="ctr"/>
          <a:lstStyle/>
          <a:p>
            <a:pPr algn="ctr" indent="0" marL="0">
              <a:buNone/>
            </a:pPr>
            <a:r>
              <a:rPr lang="en-US" sz="1100" b="1" dirty="0">
                <a:solidFill>
                  <a:schemeClr val="accent1"/>
                </a:solidFill>
              </a:rPr>
              <a:t>Mobile app</a:t>
            </a:r>
            <a:endParaRPr lang="en-US" sz="1100" dirty="0"/>
          </a:p>
        </p:txBody>
      </p:sp>
      <p:sp>
        <p:nvSpPr>
          <p:cNvPr id="24" name="Text 19"/>
          <p:cNvSpPr txBox="1"/>
          <p:nvPr/>
        </p:nvSpPr>
        <p:spPr>
          <a:xfrm>
            <a:off x="6400800" y="3886200"/>
            <a:ext cx="2194560" cy="201168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rPr>
              <a:t>Attendance in a few taps, even offline</a:t>
            </a:r>
            <a:endParaRPr lang="en-US" sz="1400" dirty="0"/>
          </a:p>
          <a:p>
            <a:pPr marL="203200" indent="-203200">
              <a:spcAft>
                <a:spcPts val="800"/>
              </a:spcAft>
              <a:buSzPct val="100000"/>
              <a:buChar char="✓"/>
            </a:pPr>
            <a:r>
              <a:rPr lang="en-US" sz="1400" dirty="0">
                <a:solidFill>
                  <a:schemeClr val="tx1"/>
                </a:solidFill>
              </a:rPr>
              <a:t>Marks and homework from the phone</a:t>
            </a:r>
            <a:endParaRPr lang="en-US" sz="1400" dirty="0"/>
          </a:p>
          <a:p>
            <a:pPr marL="203200" indent="-203200">
              <a:spcAft>
                <a:spcPts val="800"/>
              </a:spcAft>
              <a:buSzPct val="100000"/>
              <a:buChar char="✓"/>
            </a:pPr>
            <a:r>
              <a:rPr lang="en-US" sz="1400" dirty="0">
                <a:solidFill>
                  <a:schemeClr val="tx1"/>
                </a:solidFill>
              </a:rPr>
              <a:t>Their own timetable and classes</a:t>
            </a:r>
            <a:endParaRPr lang="en-US" sz="1400" dirty="0"/>
          </a:p>
        </p:txBody>
      </p:sp>
      <p:sp>
        <p:nvSpPr>
          <p:cNvPr id="25" name="Parents"/>
          <p:cNvSpPr/>
          <p:nvPr/>
        </p:nvSpPr>
        <p:spPr>
          <a:xfrm>
            <a:off x="8942832" y="1691640"/>
            <a:ext cx="2615184" cy="4343400"/>
          </a:xfrm>
          <a:prstGeom prst="roundRect">
            <a:avLst>
              <a:gd name="adj" fmla="val 4895"/>
            </a:avLst>
          </a:prstGeom>
          <a:solidFill>
            <a:srgbClr val="2F6FEB"/>
          </a:solidFill>
          <a:ln w="12700">
            <a:solidFill>
              <a:srgbClr val="2F6FEB"/>
            </a:solidFill>
            <a:prstDash val="solid"/>
          </a:ln>
        </p:spPr>
      </p:sp>
      <p:sp>
        <p:nvSpPr>
          <p:cNvPr id="26" name="Shape 21"/>
          <p:cNvSpPr/>
          <p:nvPr/>
        </p:nvSpPr>
        <p:spPr>
          <a:xfrm>
            <a:off x="9198864" y="1965960"/>
            <a:ext cx="548640" cy="548640"/>
          </a:xfrm>
          <a:prstGeom prst="ellipse">
            <a:avLst/>
          </a:prstGeom>
          <a:solidFill>
            <a:srgbClr val="FFFFFF"/>
          </a:solidFill>
          <a:ln w="12700">
            <a:solidFill>
              <a:srgbClr val="FFFFFF"/>
            </a:solidFill>
            <a:prstDash val="solid"/>
          </a:ln>
        </p:spPr>
      </p:sp>
      <p:pic>
        <p:nvPicPr>
          <p:cNvPr id="27" name="Image 3" descr="preencoded.png">    </p:cNvPr>
          <p:cNvPicPr>
            <a:picLocks noChangeAspect="1"/>
          </p:cNvPicPr>
          <p:nvPr/>
        </p:nvPicPr>
        <p:blipFill>
          <a:blip r:embed="rId4"/>
          <a:stretch>
            <a:fillRect/>
          </a:stretch>
        </p:blipFill>
        <p:spPr>
          <a:xfrm>
            <a:off x="9336024" y="2103120"/>
            <a:ext cx="274320" cy="274320"/>
          </a:xfrm>
          <a:prstGeom prst="rect">
            <a:avLst/>
          </a:prstGeom>
        </p:spPr>
      </p:pic>
      <p:sp>
        <p:nvSpPr>
          <p:cNvPr id="28" name="Text 22"/>
          <p:cNvSpPr txBox="1"/>
          <p:nvPr/>
        </p:nvSpPr>
        <p:spPr>
          <a:xfrm>
            <a:off x="9198864" y="2697480"/>
            <a:ext cx="2194560" cy="640080"/>
          </a:xfrm>
          <a:prstGeom prst="rect">
            <a:avLst/>
          </a:prstGeom>
          <a:noFill/>
          <a:ln/>
        </p:spPr>
        <p:txBody>
          <a:bodyPr wrap="square" lIns="0" tIns="0" rIns="0" bIns="0" rtlCol="0" anchor="t"/>
          <a:lstStyle/>
          <a:p>
            <a:pPr indent="0" marL="0">
              <a:buNone/>
            </a:pPr>
            <a:r>
              <a:rPr lang="en-US" sz="1800" b="1" dirty="0">
                <a:solidFill>
                  <a:schemeClr val="bg1"/>
                </a:solidFill>
              </a:rPr>
              <a:t>Parents</a:t>
            </a:r>
            <a:endParaRPr lang="en-US" sz="1800" dirty="0"/>
          </a:p>
        </p:txBody>
      </p:sp>
      <p:sp>
        <p:nvSpPr>
          <p:cNvPr id="29" name="Shape 23"/>
          <p:cNvSpPr/>
          <p:nvPr/>
        </p:nvSpPr>
        <p:spPr>
          <a:xfrm>
            <a:off x="9198864" y="3383280"/>
            <a:ext cx="2103120" cy="292608"/>
          </a:xfrm>
          <a:prstGeom prst="roundRect">
            <a:avLst>
              <a:gd name="adj" fmla="val 50000"/>
            </a:avLst>
          </a:prstGeom>
          <a:solidFill>
            <a:srgbClr val="1E4FC0"/>
          </a:solidFill>
          <a:ln w="12700">
            <a:solidFill>
              <a:srgbClr val="1E4FC0"/>
            </a:solidFill>
            <a:prstDash val="solid"/>
          </a:ln>
        </p:spPr>
      </p:sp>
      <p:sp>
        <p:nvSpPr>
          <p:cNvPr id="30" name="Text 24"/>
          <p:cNvSpPr txBox="1"/>
          <p:nvPr/>
        </p:nvSpPr>
        <p:spPr>
          <a:xfrm>
            <a:off x="9198864" y="3383280"/>
            <a:ext cx="2103120" cy="292608"/>
          </a:xfrm>
          <a:prstGeom prst="rect">
            <a:avLst/>
          </a:prstGeom>
          <a:noFill/>
          <a:ln/>
        </p:spPr>
        <p:txBody>
          <a:bodyPr wrap="square" lIns="0" tIns="0" rIns="0" bIns="0" rtlCol="0" anchor="ctr"/>
          <a:lstStyle/>
          <a:p>
            <a:pPr algn="ctr" indent="0" marL="0">
              <a:buNone/>
            </a:pPr>
            <a:r>
              <a:rPr lang="en-US" sz="1100" b="1" dirty="0">
                <a:solidFill>
                  <a:schemeClr val="bg1"/>
                </a:solidFill>
              </a:rPr>
              <a:t>Mobile app or website</a:t>
            </a:r>
            <a:endParaRPr lang="en-US" sz="1100" dirty="0"/>
          </a:p>
        </p:txBody>
      </p:sp>
      <p:sp>
        <p:nvSpPr>
          <p:cNvPr id="31" name="Text 25"/>
          <p:cNvSpPr txBox="1"/>
          <p:nvPr/>
        </p:nvSpPr>
        <p:spPr>
          <a:xfrm>
            <a:off x="9198864" y="3886200"/>
            <a:ext cx="2194560" cy="201168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bg1"/>
                </a:solidFill>
              </a:rPr>
              <a:t>Child's attendance, homework, timetable</a:t>
            </a:r>
            <a:endParaRPr lang="en-US" sz="1400" dirty="0"/>
          </a:p>
          <a:p>
            <a:pPr marL="203200" indent="-203200">
              <a:spcAft>
                <a:spcPts val="800"/>
              </a:spcAft>
              <a:buSzPct val="100000"/>
              <a:buChar char="✓"/>
            </a:pPr>
            <a:r>
              <a:rPr lang="en-US" sz="1400" dirty="0">
                <a:solidFill>
                  <a:schemeClr val="bg1"/>
                </a:solidFill>
              </a:rPr>
              <a:t>Results, fees and receipts</a:t>
            </a:r>
            <a:endParaRPr lang="en-US" sz="1400" dirty="0"/>
          </a:p>
          <a:p>
            <a:pPr marL="203200" indent="-203200">
              <a:spcAft>
                <a:spcPts val="800"/>
              </a:spcAft>
              <a:buSzPct val="100000"/>
              <a:buChar char="✓"/>
            </a:pPr>
            <a:r>
              <a:rPr lang="en-US" sz="1400" dirty="0">
                <a:solidFill>
                  <a:schemeClr val="bg1"/>
                </a:solidFill>
              </a:rPr>
              <a:t>Message the teacher directly</a:t>
            </a:r>
            <a:endParaRPr lang="en-US" sz="1400" dirty="0"/>
          </a:p>
        </p:txBody>
      </p:sp>
      <p:sp>
        <p:nvSpPr>
          <p:cNvPr id="25" name="Slide Number Placeholder 0"/>
          <p:cNvSpPr>
            <a:spLocks noGrp="1"/>
          </p:cNvSpPr>
          <p:nvPr>
            <p:ph type="sldNum" sz="quarter" idx="4294967295"/>
          </p:nvPr>
        </p:nvSpPr>
        <p:spPr>
          <a:xfrm>
            <a:off x="11201400"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body" hasCustomPrompt="1"/>
          </p:nvPr>
        </p:nvSpPr>
        <p:spPr>
          <a:xfrm>
            <a:off x="804672" y="384048"/>
            <a:ext cx="54864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FEES</a:t>
            </a:r>
            <a:endParaRPr lang="en-US" sz="1200" dirty="0"/>
          </a:p>
        </p:txBody>
      </p:sp>
      <p:sp>
        <p:nvSpPr>
          <p:cNvPr id="3" name="Text 0"/>
          <p:cNvSpPr/>
          <p:nvPr>
            <p:ph idx="102" type="title" hasCustomPrompt="1"/>
          </p:nvPr>
        </p:nvSpPr>
        <p:spPr>
          <a:xfrm>
            <a:off x="548640" y="749808"/>
            <a:ext cx="4800600" cy="137160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Collect fees on time, without chasing anyone</a:t>
            </a:r>
            <a:endParaRPr lang="en-US" sz="3000" dirty="0"/>
          </a:p>
        </p:txBody>
      </p:sp>
      <p:sp>
        <p:nvSpPr>
          <p:cNvPr id="4" name="Text 2"/>
          <p:cNvSpPr txBox="1"/>
          <p:nvPr/>
        </p:nvSpPr>
        <p:spPr>
          <a:xfrm>
            <a:off x="548640" y="2194560"/>
            <a:ext cx="4709160" cy="685800"/>
          </a:xfrm>
          <a:prstGeom prst="rect">
            <a:avLst/>
          </a:prstGeom>
          <a:noFill/>
          <a:ln/>
        </p:spPr>
        <p:txBody>
          <a:bodyPr wrap="square" lIns="0" tIns="0" rIns="0" bIns="0" rtlCol="0" anchor="t"/>
          <a:lstStyle/>
          <a:p>
            <a:pPr indent="0" marL="0">
              <a:buNone/>
            </a:pPr>
            <a:r>
              <a:rPr lang="en-US" sz="1500" dirty="0">
                <a:solidFill>
                  <a:schemeClr val="accent4"/>
                </a:solidFill>
              </a:rPr>
              <a:t>Parents pay from their phone in seconds. You see every rupee, every day.</a:t>
            </a:r>
            <a:endParaRPr lang="en-US" sz="1500" dirty="0"/>
          </a:p>
        </p:txBody>
      </p:sp>
      <p:sp>
        <p:nvSpPr>
          <p:cNvPr id="5" name="Shape 3"/>
          <p:cNvSpPr/>
          <p:nvPr/>
        </p:nvSpPr>
        <p:spPr>
          <a:xfrm>
            <a:off x="548640" y="2971800"/>
            <a:ext cx="402336" cy="402336"/>
          </a:xfrm>
          <a:prstGeom prst="ellipse">
            <a:avLst/>
          </a:prstGeom>
          <a:solidFill>
            <a:srgbClr val="2F6FEB"/>
          </a:solidFill>
          <a:ln w="12700">
            <a:solidFill>
              <a:srgbClr val="2F6FEB"/>
            </a:solidFill>
            <a:prstDash val="solid"/>
          </a:ln>
        </p:spPr>
      </p:sp>
      <p:pic>
        <p:nvPicPr>
          <p:cNvPr id="6" name="Image 0" descr="preencoded.png">    </p:cNvPr>
          <p:cNvPicPr>
            <a:picLocks noChangeAspect="1"/>
          </p:cNvPicPr>
          <p:nvPr/>
        </p:nvPicPr>
        <p:blipFill>
          <a:blip r:embed="rId1"/>
          <a:stretch>
            <a:fillRect/>
          </a:stretch>
        </p:blipFill>
        <p:spPr>
          <a:xfrm>
            <a:off x="649224" y="3072384"/>
            <a:ext cx="201168" cy="201168"/>
          </a:xfrm>
          <a:prstGeom prst="rect">
            <a:avLst/>
          </a:prstGeom>
        </p:spPr>
      </p:pic>
      <p:sp>
        <p:nvSpPr>
          <p:cNvPr id="7" name="Text 4"/>
          <p:cNvSpPr txBox="1"/>
          <p:nvPr/>
        </p:nvSpPr>
        <p:spPr>
          <a:xfrm>
            <a:off x="1097280" y="2944368"/>
            <a:ext cx="4206240" cy="292608"/>
          </a:xfrm>
          <a:prstGeom prst="rect">
            <a:avLst/>
          </a:prstGeom>
          <a:noFill/>
          <a:ln/>
        </p:spPr>
        <p:txBody>
          <a:bodyPr wrap="square" lIns="0" tIns="0" rIns="0" bIns="0" rtlCol="0" anchor="t"/>
          <a:lstStyle/>
          <a:p>
            <a:pPr indent="0" marL="0">
              <a:buNone/>
            </a:pPr>
            <a:r>
              <a:rPr lang="en-US" sz="1500" b="1" dirty="0">
                <a:solidFill>
                  <a:schemeClr val="tx1"/>
                </a:solidFill>
              </a:rPr>
              <a:t>Online payment from the app</a:t>
            </a:r>
            <a:endParaRPr lang="en-US" sz="1500" dirty="0"/>
          </a:p>
        </p:txBody>
      </p:sp>
      <p:sp>
        <p:nvSpPr>
          <p:cNvPr id="8" name="Text 5"/>
          <p:cNvSpPr txBox="1"/>
          <p:nvPr/>
        </p:nvSpPr>
        <p:spPr>
          <a:xfrm>
            <a:off x="1097280" y="3246120"/>
            <a:ext cx="4206240" cy="457200"/>
          </a:xfrm>
          <a:prstGeom prst="rect">
            <a:avLst/>
          </a:prstGeom>
          <a:noFill/>
          <a:ln/>
        </p:spPr>
        <p:txBody>
          <a:bodyPr wrap="square" lIns="0" tIns="0" rIns="0" bIns="0" rtlCol="0" anchor="t"/>
          <a:lstStyle/>
          <a:p>
            <a:pPr indent="0" marL="0">
              <a:buNone/>
            </a:pPr>
            <a:r>
              <a:rPr lang="en-US" sz="1300" dirty="0">
                <a:solidFill>
                  <a:schemeClr val="accent4"/>
                </a:solidFill>
              </a:rPr>
              <a:t>UPI, cards and net banking, straight into your school's own account.</a:t>
            </a:r>
            <a:endParaRPr lang="en-US" sz="1300" dirty="0"/>
          </a:p>
        </p:txBody>
      </p:sp>
      <p:sp>
        <p:nvSpPr>
          <p:cNvPr id="9" name="Shape 6"/>
          <p:cNvSpPr/>
          <p:nvPr/>
        </p:nvSpPr>
        <p:spPr>
          <a:xfrm>
            <a:off x="548640" y="3758184"/>
            <a:ext cx="402336" cy="402336"/>
          </a:xfrm>
          <a:prstGeom prst="ellipse">
            <a:avLst/>
          </a:prstGeom>
          <a:solidFill>
            <a:srgbClr val="2F6FEB"/>
          </a:solidFill>
          <a:ln w="12700">
            <a:solidFill>
              <a:srgbClr val="2F6FEB"/>
            </a:solidFill>
            <a:prstDash val="solid"/>
          </a:ln>
        </p:spPr>
      </p:sp>
      <p:pic>
        <p:nvPicPr>
          <p:cNvPr id="10" name="Image 1" descr="preencoded.png">    </p:cNvPr>
          <p:cNvPicPr>
            <a:picLocks noChangeAspect="1"/>
          </p:cNvPicPr>
          <p:nvPr/>
        </p:nvPicPr>
        <p:blipFill>
          <a:blip r:embed="rId2"/>
          <a:stretch>
            <a:fillRect/>
          </a:stretch>
        </p:blipFill>
        <p:spPr>
          <a:xfrm>
            <a:off x="649224" y="3858768"/>
            <a:ext cx="201168" cy="201168"/>
          </a:xfrm>
          <a:prstGeom prst="rect">
            <a:avLst/>
          </a:prstGeom>
        </p:spPr>
      </p:pic>
      <p:sp>
        <p:nvSpPr>
          <p:cNvPr id="11" name="Text 7"/>
          <p:cNvSpPr txBox="1"/>
          <p:nvPr/>
        </p:nvSpPr>
        <p:spPr>
          <a:xfrm>
            <a:off x="1097280" y="3730752"/>
            <a:ext cx="4206240" cy="292608"/>
          </a:xfrm>
          <a:prstGeom prst="rect">
            <a:avLst/>
          </a:prstGeom>
          <a:noFill/>
          <a:ln/>
        </p:spPr>
        <p:txBody>
          <a:bodyPr wrap="square" lIns="0" tIns="0" rIns="0" bIns="0" rtlCol="0" anchor="t"/>
          <a:lstStyle/>
          <a:p>
            <a:pPr indent="0" marL="0">
              <a:buNone/>
            </a:pPr>
            <a:r>
              <a:rPr lang="en-US" sz="1500" b="1" dirty="0">
                <a:solidFill>
                  <a:schemeClr val="tx1"/>
                </a:solidFill>
              </a:rPr>
              <a:t>Automatic reminders and late fees</a:t>
            </a:r>
            <a:endParaRPr lang="en-US" sz="1500" dirty="0"/>
          </a:p>
        </p:txBody>
      </p:sp>
      <p:sp>
        <p:nvSpPr>
          <p:cNvPr id="12" name="Text 8"/>
          <p:cNvSpPr txBox="1"/>
          <p:nvPr/>
        </p:nvSpPr>
        <p:spPr>
          <a:xfrm>
            <a:off x="1097280" y="4032504"/>
            <a:ext cx="4206240" cy="457200"/>
          </a:xfrm>
          <a:prstGeom prst="rect">
            <a:avLst/>
          </a:prstGeom>
          <a:noFill/>
          <a:ln/>
        </p:spPr>
        <p:txBody>
          <a:bodyPr wrap="square" lIns="0" tIns="0" rIns="0" bIns="0" rtlCol="0" anchor="t"/>
          <a:lstStyle/>
          <a:p>
            <a:pPr indent="0" marL="0">
              <a:buNone/>
            </a:pPr>
            <a:r>
              <a:rPr lang="en-US" sz="1300" dirty="0">
                <a:solidFill>
                  <a:schemeClr val="accent4"/>
                </a:solidFill>
              </a:rPr>
              <a:t>Parents are reminded before and after the due date. No phone calls.</a:t>
            </a:r>
            <a:endParaRPr lang="en-US" sz="1300" dirty="0"/>
          </a:p>
        </p:txBody>
      </p:sp>
      <p:sp>
        <p:nvSpPr>
          <p:cNvPr id="13" name="Shape 9"/>
          <p:cNvSpPr/>
          <p:nvPr/>
        </p:nvSpPr>
        <p:spPr>
          <a:xfrm>
            <a:off x="548640" y="4544568"/>
            <a:ext cx="402336" cy="402336"/>
          </a:xfrm>
          <a:prstGeom prst="ellipse">
            <a:avLst/>
          </a:prstGeom>
          <a:solidFill>
            <a:srgbClr val="2F6FEB"/>
          </a:solidFill>
          <a:ln w="12700">
            <a:solidFill>
              <a:srgbClr val="2F6FEB"/>
            </a:solidFill>
            <a:prstDash val="solid"/>
          </a:ln>
        </p:spPr>
      </p:sp>
      <p:pic>
        <p:nvPicPr>
          <p:cNvPr id="14" name="Image 2" descr="preencoded.png">    </p:cNvPr>
          <p:cNvPicPr>
            <a:picLocks noChangeAspect="1"/>
          </p:cNvPicPr>
          <p:nvPr/>
        </p:nvPicPr>
        <p:blipFill>
          <a:blip r:embed="rId3"/>
          <a:stretch>
            <a:fillRect/>
          </a:stretch>
        </p:blipFill>
        <p:spPr>
          <a:xfrm>
            <a:off x="649224" y="4645152"/>
            <a:ext cx="201168" cy="201168"/>
          </a:xfrm>
          <a:prstGeom prst="rect">
            <a:avLst/>
          </a:prstGeom>
        </p:spPr>
      </p:pic>
      <p:sp>
        <p:nvSpPr>
          <p:cNvPr id="15" name="Text 10"/>
          <p:cNvSpPr txBox="1"/>
          <p:nvPr/>
        </p:nvSpPr>
        <p:spPr>
          <a:xfrm>
            <a:off x="1097280" y="4517136"/>
            <a:ext cx="4206240" cy="292608"/>
          </a:xfrm>
          <a:prstGeom prst="rect">
            <a:avLst/>
          </a:prstGeom>
          <a:noFill/>
          <a:ln/>
        </p:spPr>
        <p:txBody>
          <a:bodyPr wrap="square" lIns="0" tIns="0" rIns="0" bIns="0" rtlCol="0" anchor="t"/>
          <a:lstStyle/>
          <a:p>
            <a:pPr indent="0" marL="0">
              <a:buNone/>
            </a:pPr>
            <a:r>
              <a:rPr lang="en-US" sz="1500" b="1" dirty="0">
                <a:solidFill>
                  <a:schemeClr val="tx1"/>
                </a:solidFill>
              </a:rPr>
              <a:t>Instant receipts, no fee books</a:t>
            </a:r>
            <a:endParaRPr lang="en-US" sz="1500" dirty="0"/>
          </a:p>
        </p:txBody>
      </p:sp>
      <p:sp>
        <p:nvSpPr>
          <p:cNvPr id="16" name="Text 11"/>
          <p:cNvSpPr txBox="1"/>
          <p:nvPr/>
        </p:nvSpPr>
        <p:spPr>
          <a:xfrm>
            <a:off x="1097280" y="4818888"/>
            <a:ext cx="4206240" cy="457200"/>
          </a:xfrm>
          <a:prstGeom prst="rect">
            <a:avLst/>
          </a:prstGeom>
          <a:noFill/>
          <a:ln/>
        </p:spPr>
        <p:txBody>
          <a:bodyPr wrap="square" lIns="0" tIns="0" rIns="0" bIns="0" rtlCol="0" anchor="t"/>
          <a:lstStyle/>
          <a:p>
            <a:pPr indent="0" marL="0">
              <a:buNone/>
            </a:pPr>
            <a:r>
              <a:rPr lang="en-US" sz="1300" dirty="0">
                <a:solidFill>
                  <a:schemeClr val="accent4"/>
                </a:solidFill>
              </a:rPr>
              <a:t>Counter or online, every payment gets a receipt. Daily collection report.</a:t>
            </a:r>
            <a:endParaRPr lang="en-US" sz="1300" dirty="0"/>
          </a:p>
        </p:txBody>
      </p:sp>
      <p:sp>
        <p:nvSpPr>
          <p:cNvPr id="17" name="Result"/>
          <p:cNvSpPr/>
          <p:nvPr/>
        </p:nvSpPr>
        <p:spPr>
          <a:xfrm>
            <a:off x="548640" y="5440680"/>
            <a:ext cx="4709160" cy="685800"/>
          </a:xfrm>
          <a:prstGeom prst="roundRect">
            <a:avLst>
              <a:gd name="adj" fmla="val 13333"/>
            </a:avLst>
          </a:prstGeom>
          <a:solidFill>
            <a:srgbClr val="FFF4DB"/>
          </a:solidFill>
          <a:ln w="12700">
            <a:solidFill>
              <a:srgbClr val="FFF4DB"/>
            </a:solidFill>
            <a:prstDash val="solid"/>
          </a:ln>
        </p:spPr>
      </p:sp>
      <p:sp>
        <p:nvSpPr>
          <p:cNvPr id="18" name="Text 13"/>
          <p:cNvSpPr txBox="1"/>
          <p:nvPr/>
        </p:nvSpPr>
        <p:spPr>
          <a:xfrm>
            <a:off x="731520" y="5468112"/>
            <a:ext cx="4434840" cy="640080"/>
          </a:xfrm>
          <a:prstGeom prst="rect">
            <a:avLst/>
          </a:prstGeom>
          <a:noFill/>
          <a:ln/>
        </p:spPr>
        <p:txBody>
          <a:bodyPr wrap="square" lIns="0" tIns="0" rIns="0" bIns="0" rtlCol="0" anchor="ctr"/>
          <a:lstStyle/>
          <a:p>
            <a:pPr indent="0" marL="0">
              <a:buNone/>
            </a:pPr>
            <a:r>
              <a:rPr lang="en-US" sz="1100" b="1" spc="100" kern="0" dirty="0">
                <a:solidFill>
                  <a:srgbClr val="A06A00"/>
                </a:solidFill>
              </a:rPr>
              <a:t>WHAT YOU GET  </a:t>
            </a:r>
            <a:pPr indent="0" marL="0">
              <a:buNone/>
            </a:pPr>
            <a:r>
              <a:rPr lang="en-US" sz="1400" b="1" dirty="0">
                <a:solidFill>
                  <a:srgbClr val="0B1530"/>
                </a:solidFill>
              </a:rPr>
              <a:t>Fewer pending dues, every rupee accounted for.</a:t>
            </a:r>
            <a:endParaRPr lang="en-US" sz="1100" dirty="0"/>
          </a:p>
        </p:txBody>
      </p:sp>
      <p:sp>
        <p:nvSpPr>
          <p:cNvPr id="19" name="Fee invoices window"/>
          <p:cNvSpPr/>
          <p:nvPr/>
        </p:nvSpPr>
        <p:spPr>
          <a:xfrm>
            <a:off x="5943600" y="914400"/>
            <a:ext cx="4480560" cy="3474880"/>
          </a:xfrm>
          <a:prstGeom prst="roundRect">
            <a:avLst>
              <a:gd name="adj" fmla="val 1842"/>
            </a:avLst>
          </a:prstGeom>
          <a:solidFill>
            <a:srgbClr val="FFFFFF"/>
          </a:solidFill>
          <a:ln w="9525">
            <a:solidFill>
              <a:srgbClr val="DCE3EF"/>
            </a:solidFill>
            <a:prstDash val="solid"/>
          </a:ln>
          <a:effectLst>
            <a:outerShdw sx="100000" sy="100000" kx="0" ky="0" algn="bl" rotWithShape="0" blurRad="177800" dist="50800" dir="5400000">
              <a:srgbClr val="0B1530">
                <a:alpha val="20000"/>
              </a:srgbClr>
            </a:outerShdw>
          </a:effectLst>
        </p:spPr>
      </p:sp>
      <p:sp>
        <p:nvSpPr>
          <p:cNvPr id="20" name="Shape 15"/>
          <p:cNvSpPr/>
          <p:nvPr/>
        </p:nvSpPr>
        <p:spPr>
          <a:xfrm>
            <a:off x="6062472" y="987552"/>
            <a:ext cx="73152" cy="73152"/>
          </a:xfrm>
          <a:prstGeom prst="ellipse">
            <a:avLst/>
          </a:prstGeom>
          <a:solidFill>
            <a:srgbClr val="E2554F"/>
          </a:solidFill>
          <a:ln w="12700">
            <a:solidFill>
              <a:srgbClr val="E2554F"/>
            </a:solidFill>
            <a:prstDash val="solid"/>
          </a:ln>
        </p:spPr>
      </p:sp>
      <p:sp>
        <p:nvSpPr>
          <p:cNvPr id="21" name="Shape 16"/>
          <p:cNvSpPr/>
          <p:nvPr/>
        </p:nvSpPr>
        <p:spPr>
          <a:xfrm>
            <a:off x="6199632" y="987552"/>
            <a:ext cx="73152" cy="73152"/>
          </a:xfrm>
          <a:prstGeom prst="ellipse">
            <a:avLst/>
          </a:prstGeom>
          <a:solidFill>
            <a:srgbClr val="F7A400"/>
          </a:solidFill>
          <a:ln w="12700">
            <a:solidFill>
              <a:srgbClr val="F7A400"/>
            </a:solidFill>
            <a:prstDash val="solid"/>
          </a:ln>
        </p:spPr>
      </p:sp>
      <p:sp>
        <p:nvSpPr>
          <p:cNvPr id="22" name="Shape 17"/>
          <p:cNvSpPr/>
          <p:nvPr/>
        </p:nvSpPr>
        <p:spPr>
          <a:xfrm>
            <a:off x="6336792" y="987552"/>
            <a:ext cx="73152" cy="73152"/>
          </a:xfrm>
          <a:prstGeom prst="ellipse">
            <a:avLst/>
          </a:prstGeom>
          <a:solidFill>
            <a:srgbClr val="2EB872"/>
          </a:solidFill>
          <a:ln w="12700">
            <a:solidFill>
              <a:srgbClr val="2EB872"/>
            </a:solidFill>
            <a:prstDash val="solid"/>
          </a:ln>
        </p:spPr>
      </p:sp>
      <p:pic>
        <p:nvPicPr>
          <p:cNvPr id="23" name="Fee invoices" descr="Fee invoices">    </p:cNvPr>
          <p:cNvPicPr>
            <a:picLocks noChangeAspect="1"/>
          </p:cNvPicPr>
          <p:nvPr/>
        </p:nvPicPr>
        <p:blipFill>
          <a:blip r:embed="rId4"/>
          <a:stretch>
            <a:fillRect/>
          </a:stretch>
        </p:blipFill>
        <p:spPr>
          <a:xfrm>
            <a:off x="5971032" y="1133856"/>
            <a:ext cx="4425696" cy="3227992"/>
          </a:xfrm>
          <a:prstGeom prst="rect">
            <a:avLst/>
          </a:prstGeom>
        </p:spPr>
      </p:pic>
      <p:sp>
        <p:nvSpPr>
          <p:cNvPr id="24" name="Parent fees screen phone"/>
          <p:cNvSpPr/>
          <p:nvPr/>
        </p:nvSpPr>
        <p:spPr>
          <a:xfrm>
            <a:off x="9372600" y="1920240"/>
            <a:ext cx="1986339" cy="4206240"/>
          </a:xfrm>
          <a:prstGeom prst="roundRect">
            <a:avLst>
              <a:gd name="adj" fmla="val 9207"/>
            </a:avLst>
          </a:prstGeom>
          <a:solidFill>
            <a:srgbClr val="0B1530"/>
          </a:solidFill>
          <a:ln w="12700">
            <a:solidFill>
              <a:srgbClr val="17234A"/>
            </a:solidFill>
            <a:prstDash val="solid"/>
          </a:ln>
          <a:effectLst>
            <a:outerShdw sx="100000" sy="100000" kx="0" ky="0" algn="bl" rotWithShape="0" blurRad="177800" dist="50800" dir="5400000">
              <a:srgbClr val="0B1530">
                <a:alpha val="20000"/>
              </a:srgbClr>
            </a:outerShdw>
          </a:effectLst>
        </p:spPr>
      </p:sp>
      <p:pic>
        <p:nvPicPr>
          <p:cNvPr id="25" name="Parent fees screen" descr="Parent fees screen">    </p:cNvPr>
          <p:cNvPicPr>
            <a:picLocks noChangeAspect="1"/>
          </p:cNvPicPr>
          <p:nvPr/>
        </p:nvPicPr>
        <p:blipFill>
          <a:blip r:embed="rId5"/>
          <a:stretch>
            <a:fillRect/>
          </a:stretch>
        </p:blipFill>
        <p:spPr>
          <a:xfrm>
            <a:off x="9436608" y="2011680"/>
            <a:ext cx="1858323" cy="4023360"/>
          </a:xfrm>
          <a:prstGeom prst="rect">
            <a:avLst/>
          </a:prstGeom>
        </p:spPr>
      </p:pic>
      <p:sp>
        <p:nvSpPr>
          <p:cNvPr id="25" name="Slide Number Placeholder 0"/>
          <p:cNvSpPr>
            <a:spLocks noGrp="1"/>
          </p:cNvSpPr>
          <p:nvPr>
            <p:ph type="sldNum" sz="quarter" idx="4294967295"/>
          </p:nvPr>
        </p:nvSpPr>
        <p:spPr>
          <a:xfrm>
            <a:off x="11201400"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body" hasCustomPrompt="1"/>
          </p:nvPr>
        </p:nvSpPr>
        <p:spPr>
          <a:xfrm>
            <a:off x="804672" y="384048"/>
            <a:ext cx="54864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PARENTS</a:t>
            </a:r>
            <a:endParaRPr lang="en-US" sz="1200" dirty="0"/>
          </a:p>
        </p:txBody>
      </p:sp>
      <p:sp>
        <p:nvSpPr>
          <p:cNvPr id="3" name="Text 0"/>
          <p:cNvSpPr/>
          <p:nvPr>
            <p:ph idx="102" type="title" hasCustomPrompt="1"/>
          </p:nvPr>
        </p:nvSpPr>
        <p:spPr>
          <a:xfrm>
            <a:off x="548640" y="749808"/>
            <a:ext cx="4800600" cy="137160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Parents always in the loop</a:t>
            </a:r>
            <a:endParaRPr lang="en-US" sz="3000" dirty="0"/>
          </a:p>
        </p:txBody>
      </p:sp>
      <p:sp>
        <p:nvSpPr>
          <p:cNvPr id="4" name="Text 2"/>
          <p:cNvSpPr txBox="1"/>
          <p:nvPr/>
        </p:nvSpPr>
        <p:spPr>
          <a:xfrm>
            <a:off x="548640" y="2194560"/>
            <a:ext cx="4709160" cy="685800"/>
          </a:xfrm>
          <a:prstGeom prst="rect">
            <a:avLst/>
          </a:prstGeom>
          <a:noFill/>
          <a:ln/>
        </p:spPr>
        <p:txBody>
          <a:bodyPr wrap="square" lIns="0" tIns="0" rIns="0" bIns="0" rtlCol="0" anchor="t"/>
          <a:lstStyle/>
          <a:p>
            <a:pPr indent="0" marL="0">
              <a:buNone/>
            </a:pPr>
            <a:r>
              <a:rPr lang="en-US" sz="1500" dirty="0">
                <a:solidFill>
                  <a:schemeClr val="accent4"/>
                </a:solidFill>
              </a:rPr>
              <a:t>Everything a parent wants to know, on their phone, the moment it happens.</a:t>
            </a:r>
            <a:endParaRPr lang="en-US" sz="1500" dirty="0"/>
          </a:p>
        </p:txBody>
      </p:sp>
      <p:sp>
        <p:nvSpPr>
          <p:cNvPr id="5" name="Shape 3"/>
          <p:cNvSpPr/>
          <p:nvPr/>
        </p:nvSpPr>
        <p:spPr>
          <a:xfrm>
            <a:off x="548640" y="2971800"/>
            <a:ext cx="402336" cy="402336"/>
          </a:xfrm>
          <a:prstGeom prst="ellipse">
            <a:avLst/>
          </a:prstGeom>
          <a:solidFill>
            <a:srgbClr val="2F6FEB"/>
          </a:solidFill>
          <a:ln w="12700">
            <a:solidFill>
              <a:srgbClr val="2F6FEB"/>
            </a:solidFill>
            <a:prstDash val="solid"/>
          </a:ln>
        </p:spPr>
      </p:sp>
      <p:pic>
        <p:nvPicPr>
          <p:cNvPr id="6" name="Image 0" descr="preencoded.png">    </p:cNvPr>
          <p:cNvPicPr>
            <a:picLocks noChangeAspect="1"/>
          </p:cNvPicPr>
          <p:nvPr/>
        </p:nvPicPr>
        <p:blipFill>
          <a:blip r:embed="rId1"/>
          <a:stretch>
            <a:fillRect/>
          </a:stretch>
        </p:blipFill>
        <p:spPr>
          <a:xfrm>
            <a:off x="649224" y="3072384"/>
            <a:ext cx="201168" cy="201168"/>
          </a:xfrm>
          <a:prstGeom prst="rect">
            <a:avLst/>
          </a:prstGeom>
        </p:spPr>
      </p:pic>
      <p:sp>
        <p:nvSpPr>
          <p:cNvPr id="7" name="Text 4"/>
          <p:cNvSpPr txBox="1"/>
          <p:nvPr/>
        </p:nvSpPr>
        <p:spPr>
          <a:xfrm>
            <a:off x="1097280" y="2944368"/>
            <a:ext cx="4206240" cy="292608"/>
          </a:xfrm>
          <a:prstGeom prst="rect">
            <a:avLst/>
          </a:prstGeom>
          <a:noFill/>
          <a:ln/>
        </p:spPr>
        <p:txBody>
          <a:bodyPr wrap="square" lIns="0" tIns="0" rIns="0" bIns="0" rtlCol="0" anchor="t"/>
          <a:lstStyle/>
          <a:p>
            <a:pPr indent="0" marL="0">
              <a:buNone/>
            </a:pPr>
            <a:r>
              <a:rPr lang="en-US" sz="1500" b="1" dirty="0">
                <a:solidFill>
                  <a:schemeClr val="tx1"/>
                </a:solidFill>
              </a:rPr>
              <a:t>Instant absence alerts</a:t>
            </a:r>
            <a:endParaRPr lang="en-US" sz="1500" dirty="0"/>
          </a:p>
        </p:txBody>
      </p:sp>
      <p:sp>
        <p:nvSpPr>
          <p:cNvPr id="8" name="Text 5"/>
          <p:cNvSpPr txBox="1"/>
          <p:nvPr/>
        </p:nvSpPr>
        <p:spPr>
          <a:xfrm>
            <a:off x="1097280" y="3246120"/>
            <a:ext cx="4206240" cy="457200"/>
          </a:xfrm>
          <a:prstGeom prst="rect">
            <a:avLst/>
          </a:prstGeom>
          <a:noFill/>
          <a:ln/>
        </p:spPr>
        <p:txBody>
          <a:bodyPr wrap="square" lIns="0" tIns="0" rIns="0" bIns="0" rtlCol="0" anchor="t"/>
          <a:lstStyle/>
          <a:p>
            <a:pPr indent="0" marL="0">
              <a:buNone/>
            </a:pPr>
            <a:r>
              <a:rPr lang="en-US" sz="1300" dirty="0">
                <a:solidFill>
                  <a:schemeClr val="accent4"/>
                </a:solidFill>
              </a:rPr>
              <a:t>If their child is absent, or arrives at school, parents know at once.</a:t>
            </a:r>
            <a:endParaRPr lang="en-US" sz="1300" dirty="0"/>
          </a:p>
        </p:txBody>
      </p:sp>
      <p:sp>
        <p:nvSpPr>
          <p:cNvPr id="9" name="Shape 6"/>
          <p:cNvSpPr/>
          <p:nvPr/>
        </p:nvSpPr>
        <p:spPr>
          <a:xfrm>
            <a:off x="548640" y="3758184"/>
            <a:ext cx="402336" cy="402336"/>
          </a:xfrm>
          <a:prstGeom prst="ellipse">
            <a:avLst/>
          </a:prstGeom>
          <a:solidFill>
            <a:srgbClr val="2F6FEB"/>
          </a:solidFill>
          <a:ln w="12700">
            <a:solidFill>
              <a:srgbClr val="2F6FEB"/>
            </a:solidFill>
            <a:prstDash val="solid"/>
          </a:ln>
        </p:spPr>
      </p:sp>
      <p:pic>
        <p:nvPicPr>
          <p:cNvPr id="10" name="Image 1" descr="preencoded.png">    </p:cNvPr>
          <p:cNvPicPr>
            <a:picLocks noChangeAspect="1"/>
          </p:cNvPicPr>
          <p:nvPr/>
        </p:nvPicPr>
        <p:blipFill>
          <a:blip r:embed="rId2"/>
          <a:stretch>
            <a:fillRect/>
          </a:stretch>
        </p:blipFill>
        <p:spPr>
          <a:xfrm>
            <a:off x="649224" y="3858768"/>
            <a:ext cx="201168" cy="201168"/>
          </a:xfrm>
          <a:prstGeom prst="rect">
            <a:avLst/>
          </a:prstGeom>
        </p:spPr>
      </p:pic>
      <p:sp>
        <p:nvSpPr>
          <p:cNvPr id="11" name="Text 7"/>
          <p:cNvSpPr txBox="1"/>
          <p:nvPr/>
        </p:nvSpPr>
        <p:spPr>
          <a:xfrm>
            <a:off x="1097280" y="3730752"/>
            <a:ext cx="4206240" cy="292608"/>
          </a:xfrm>
          <a:prstGeom prst="rect">
            <a:avLst/>
          </a:prstGeom>
          <a:noFill/>
          <a:ln/>
        </p:spPr>
        <p:txBody>
          <a:bodyPr wrap="square" lIns="0" tIns="0" rIns="0" bIns="0" rtlCol="0" anchor="t"/>
          <a:lstStyle/>
          <a:p>
            <a:pPr indent="0" marL="0">
              <a:buNone/>
            </a:pPr>
            <a:r>
              <a:rPr lang="en-US" sz="1500" b="1" dirty="0">
                <a:solidFill>
                  <a:schemeClr val="tx1"/>
                </a:solidFill>
              </a:rPr>
              <a:t>Homework, timetable and results</a:t>
            </a:r>
            <a:endParaRPr lang="en-US" sz="1500" dirty="0"/>
          </a:p>
        </p:txBody>
      </p:sp>
      <p:sp>
        <p:nvSpPr>
          <p:cNvPr id="12" name="Text 8"/>
          <p:cNvSpPr txBox="1"/>
          <p:nvPr/>
        </p:nvSpPr>
        <p:spPr>
          <a:xfrm>
            <a:off x="1097280" y="4032504"/>
            <a:ext cx="4206240" cy="457200"/>
          </a:xfrm>
          <a:prstGeom prst="rect">
            <a:avLst/>
          </a:prstGeom>
          <a:noFill/>
          <a:ln/>
        </p:spPr>
        <p:txBody>
          <a:bodyPr wrap="square" lIns="0" tIns="0" rIns="0" bIns="0" rtlCol="0" anchor="t"/>
          <a:lstStyle/>
          <a:p>
            <a:pPr indent="0" marL="0">
              <a:buNone/>
            </a:pPr>
            <a:r>
              <a:rPr lang="en-US" sz="1300" dirty="0">
                <a:solidFill>
                  <a:schemeClr val="accent4"/>
                </a:solidFill>
              </a:rPr>
              <a:t>No more "what was today's homework?" calls or messages.</a:t>
            </a:r>
            <a:endParaRPr lang="en-US" sz="1300" dirty="0"/>
          </a:p>
        </p:txBody>
      </p:sp>
      <p:sp>
        <p:nvSpPr>
          <p:cNvPr id="13" name="Shape 9"/>
          <p:cNvSpPr/>
          <p:nvPr/>
        </p:nvSpPr>
        <p:spPr>
          <a:xfrm>
            <a:off x="548640" y="4544568"/>
            <a:ext cx="402336" cy="402336"/>
          </a:xfrm>
          <a:prstGeom prst="ellipse">
            <a:avLst/>
          </a:prstGeom>
          <a:solidFill>
            <a:srgbClr val="2F6FEB"/>
          </a:solidFill>
          <a:ln w="12700">
            <a:solidFill>
              <a:srgbClr val="2F6FEB"/>
            </a:solidFill>
            <a:prstDash val="solid"/>
          </a:ln>
        </p:spPr>
      </p:sp>
      <p:pic>
        <p:nvPicPr>
          <p:cNvPr id="14" name="Image 2" descr="preencoded.png">    </p:cNvPr>
          <p:cNvPicPr>
            <a:picLocks noChangeAspect="1"/>
          </p:cNvPicPr>
          <p:nvPr/>
        </p:nvPicPr>
        <p:blipFill>
          <a:blip r:embed="rId3"/>
          <a:stretch>
            <a:fillRect/>
          </a:stretch>
        </p:blipFill>
        <p:spPr>
          <a:xfrm>
            <a:off x="649224" y="4645152"/>
            <a:ext cx="201168" cy="201168"/>
          </a:xfrm>
          <a:prstGeom prst="rect">
            <a:avLst/>
          </a:prstGeom>
        </p:spPr>
      </p:pic>
      <p:sp>
        <p:nvSpPr>
          <p:cNvPr id="15" name="Text 10"/>
          <p:cNvSpPr txBox="1"/>
          <p:nvPr/>
        </p:nvSpPr>
        <p:spPr>
          <a:xfrm>
            <a:off x="1097280" y="4517136"/>
            <a:ext cx="4206240" cy="292608"/>
          </a:xfrm>
          <a:prstGeom prst="rect">
            <a:avLst/>
          </a:prstGeom>
          <a:noFill/>
          <a:ln/>
        </p:spPr>
        <p:txBody>
          <a:bodyPr wrap="square" lIns="0" tIns="0" rIns="0" bIns="0" rtlCol="0" anchor="t"/>
          <a:lstStyle/>
          <a:p>
            <a:pPr indent="0" marL="0">
              <a:buNone/>
            </a:pPr>
            <a:r>
              <a:rPr lang="en-US" sz="1500" b="1" dirty="0">
                <a:solidFill>
                  <a:schemeClr val="tx1"/>
                </a:solidFill>
              </a:rPr>
              <a:t>Talk to the class teacher directly</a:t>
            </a:r>
            <a:endParaRPr lang="en-US" sz="1500" dirty="0"/>
          </a:p>
        </p:txBody>
      </p:sp>
      <p:sp>
        <p:nvSpPr>
          <p:cNvPr id="16" name="Text 11"/>
          <p:cNvSpPr txBox="1"/>
          <p:nvPr/>
        </p:nvSpPr>
        <p:spPr>
          <a:xfrm>
            <a:off x="1097280" y="4818888"/>
            <a:ext cx="4206240" cy="457200"/>
          </a:xfrm>
          <a:prstGeom prst="rect">
            <a:avLst/>
          </a:prstGeom>
          <a:noFill/>
          <a:ln/>
        </p:spPr>
        <p:txBody>
          <a:bodyPr wrap="square" lIns="0" tIns="0" rIns="0" bIns="0" rtlCol="0" anchor="t"/>
          <a:lstStyle/>
          <a:p>
            <a:pPr indent="0" marL="0">
              <a:buNone/>
            </a:pPr>
            <a:r>
              <a:rPr lang="en-US" sz="1300" dirty="0">
                <a:solidFill>
                  <a:schemeClr val="accent4"/>
                </a:solidFill>
              </a:rPr>
              <a:t>Messages and complaints tracked till they're resolved.</a:t>
            </a:r>
            <a:endParaRPr lang="en-US" sz="1300" dirty="0"/>
          </a:p>
        </p:txBody>
      </p:sp>
      <p:sp>
        <p:nvSpPr>
          <p:cNvPr id="17" name="Result"/>
          <p:cNvSpPr/>
          <p:nvPr/>
        </p:nvSpPr>
        <p:spPr>
          <a:xfrm>
            <a:off x="548640" y="5440680"/>
            <a:ext cx="4709160" cy="685800"/>
          </a:xfrm>
          <a:prstGeom prst="roundRect">
            <a:avLst>
              <a:gd name="adj" fmla="val 13333"/>
            </a:avLst>
          </a:prstGeom>
          <a:solidFill>
            <a:srgbClr val="FFF4DB"/>
          </a:solidFill>
          <a:ln w="12700">
            <a:solidFill>
              <a:srgbClr val="FFF4DB"/>
            </a:solidFill>
            <a:prstDash val="solid"/>
          </a:ln>
        </p:spPr>
      </p:sp>
      <p:sp>
        <p:nvSpPr>
          <p:cNvPr id="18" name="Text 13"/>
          <p:cNvSpPr txBox="1"/>
          <p:nvPr/>
        </p:nvSpPr>
        <p:spPr>
          <a:xfrm>
            <a:off x="731520" y="5468112"/>
            <a:ext cx="4434840" cy="640080"/>
          </a:xfrm>
          <a:prstGeom prst="rect">
            <a:avLst/>
          </a:prstGeom>
          <a:noFill/>
          <a:ln/>
        </p:spPr>
        <p:txBody>
          <a:bodyPr wrap="square" lIns="0" tIns="0" rIns="0" bIns="0" rtlCol="0" anchor="ctr"/>
          <a:lstStyle/>
          <a:p>
            <a:pPr indent="0" marL="0">
              <a:buNone/>
            </a:pPr>
            <a:r>
              <a:rPr lang="en-US" sz="1100" b="1" spc="100" kern="0" dirty="0">
                <a:solidFill>
                  <a:srgbClr val="A06A00"/>
                </a:solidFill>
              </a:rPr>
              <a:t>WHAT YOU GET  </a:t>
            </a:r>
            <a:pPr indent="0" marL="0">
              <a:buNone/>
            </a:pPr>
            <a:r>
              <a:rPr lang="en-US" sz="1400" b="1" dirty="0">
                <a:solidFill>
                  <a:srgbClr val="0B1530"/>
                </a:solidFill>
              </a:rPr>
              <a:t>Happier parents, fewer calls, more trust in your school.</a:t>
            </a:r>
            <a:endParaRPr lang="en-US" sz="1100" dirty="0"/>
          </a:p>
        </p:txBody>
      </p:sp>
      <p:sp>
        <p:nvSpPr>
          <p:cNvPr id="19" name="Parent home phone"/>
          <p:cNvSpPr/>
          <p:nvPr/>
        </p:nvSpPr>
        <p:spPr>
          <a:xfrm>
            <a:off x="6172200" y="777240"/>
            <a:ext cx="2408685" cy="5120640"/>
          </a:xfrm>
          <a:prstGeom prst="roundRect">
            <a:avLst>
              <a:gd name="adj" fmla="val 7593"/>
            </a:avLst>
          </a:prstGeom>
          <a:solidFill>
            <a:srgbClr val="0B1530"/>
          </a:solidFill>
          <a:ln w="12700">
            <a:solidFill>
              <a:srgbClr val="17234A"/>
            </a:solidFill>
            <a:prstDash val="solid"/>
          </a:ln>
          <a:effectLst>
            <a:outerShdw sx="100000" sy="100000" kx="0" ky="0" algn="bl" rotWithShape="0" blurRad="177800" dist="50800" dir="5400000">
              <a:srgbClr val="0B1530">
                <a:alpha val="20000"/>
              </a:srgbClr>
            </a:outerShdw>
          </a:effectLst>
        </p:spPr>
      </p:sp>
      <p:pic>
        <p:nvPicPr>
          <p:cNvPr id="20" name="Parent home" descr="Parent home">    </p:cNvPr>
          <p:cNvPicPr>
            <a:picLocks noChangeAspect="1"/>
          </p:cNvPicPr>
          <p:nvPr/>
        </p:nvPicPr>
        <p:blipFill>
          <a:blip r:embed="rId4"/>
          <a:stretch>
            <a:fillRect/>
          </a:stretch>
        </p:blipFill>
        <p:spPr>
          <a:xfrm>
            <a:off x="6236208" y="868680"/>
            <a:ext cx="2280669" cy="4937760"/>
          </a:xfrm>
          <a:prstGeom prst="rect">
            <a:avLst/>
          </a:prstGeom>
        </p:spPr>
      </p:pic>
      <p:sp>
        <p:nvSpPr>
          <p:cNvPr id="21" name="Parent notifications phone"/>
          <p:cNvSpPr/>
          <p:nvPr/>
        </p:nvSpPr>
        <p:spPr>
          <a:xfrm>
            <a:off x="9098280" y="1325880"/>
            <a:ext cx="2155278" cy="4572000"/>
          </a:xfrm>
          <a:prstGeom prst="roundRect">
            <a:avLst>
              <a:gd name="adj" fmla="val 8485"/>
            </a:avLst>
          </a:prstGeom>
          <a:solidFill>
            <a:srgbClr val="0B1530"/>
          </a:solidFill>
          <a:ln w="12700">
            <a:solidFill>
              <a:srgbClr val="17234A"/>
            </a:solidFill>
            <a:prstDash val="solid"/>
          </a:ln>
          <a:effectLst>
            <a:outerShdw sx="100000" sy="100000" kx="0" ky="0" algn="bl" rotWithShape="0" blurRad="177800" dist="50800" dir="5400000">
              <a:srgbClr val="0B1530">
                <a:alpha val="20000"/>
              </a:srgbClr>
            </a:outerShdw>
          </a:effectLst>
        </p:spPr>
      </p:sp>
      <p:pic>
        <p:nvPicPr>
          <p:cNvPr id="22" name="Parent notifications" descr="Parent notifications">    </p:cNvPr>
          <p:cNvPicPr>
            <a:picLocks noChangeAspect="1"/>
          </p:cNvPicPr>
          <p:nvPr/>
        </p:nvPicPr>
        <p:blipFill>
          <a:blip r:embed="rId5"/>
          <a:stretch>
            <a:fillRect/>
          </a:stretch>
        </p:blipFill>
        <p:spPr>
          <a:xfrm>
            <a:off x="9162288" y="1417320"/>
            <a:ext cx="2027262" cy="4389120"/>
          </a:xfrm>
          <a:prstGeom prst="rect">
            <a:avLst/>
          </a:prstGeom>
        </p:spPr>
      </p:pic>
      <p:sp>
        <p:nvSpPr>
          <p:cNvPr id="25" name="Slide Number Placeholder 0"/>
          <p:cNvSpPr>
            <a:spLocks noGrp="1"/>
          </p:cNvSpPr>
          <p:nvPr>
            <p:ph type="sldNum" sz="quarter" idx="4294967295"/>
          </p:nvPr>
        </p:nvSpPr>
        <p:spPr>
          <a:xfrm>
            <a:off x="11201400"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body" hasCustomPrompt="1"/>
          </p:nvPr>
        </p:nvSpPr>
        <p:spPr>
          <a:xfrm>
            <a:off x="804672" y="384048"/>
            <a:ext cx="54864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TEACHERS</a:t>
            </a:r>
            <a:endParaRPr lang="en-US" sz="1200" dirty="0"/>
          </a:p>
        </p:txBody>
      </p:sp>
      <p:sp>
        <p:nvSpPr>
          <p:cNvPr id="3" name="Text 0"/>
          <p:cNvSpPr/>
          <p:nvPr>
            <p:ph idx="102" type="title" hasCustomPrompt="1"/>
          </p:nvPr>
        </p:nvSpPr>
        <p:spPr>
          <a:xfrm>
            <a:off x="548640" y="749808"/>
            <a:ext cx="4800600" cy="137160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Give your teachers their time back</a:t>
            </a:r>
            <a:endParaRPr lang="en-US" sz="3000" dirty="0"/>
          </a:p>
        </p:txBody>
      </p:sp>
      <p:sp>
        <p:nvSpPr>
          <p:cNvPr id="4" name="Text 2"/>
          <p:cNvSpPr txBox="1"/>
          <p:nvPr/>
        </p:nvSpPr>
        <p:spPr>
          <a:xfrm>
            <a:off x="548640" y="2194560"/>
            <a:ext cx="4709160" cy="685800"/>
          </a:xfrm>
          <a:prstGeom prst="rect">
            <a:avLst/>
          </a:prstGeom>
          <a:noFill/>
          <a:ln/>
        </p:spPr>
        <p:txBody>
          <a:bodyPr wrap="square" lIns="0" tIns="0" rIns="0" bIns="0" rtlCol="0" anchor="t"/>
          <a:lstStyle/>
          <a:p>
            <a:pPr indent="0" marL="0">
              <a:buNone/>
            </a:pPr>
            <a:r>
              <a:rPr lang="en-US" sz="1500" dirty="0">
                <a:solidFill>
                  <a:schemeClr val="accent4"/>
                </a:solidFill>
              </a:rPr>
              <a:t>The daily paperwork moves to the phone, so class time goes to teaching.</a:t>
            </a:r>
            <a:endParaRPr lang="en-US" sz="1500" dirty="0"/>
          </a:p>
        </p:txBody>
      </p:sp>
      <p:sp>
        <p:nvSpPr>
          <p:cNvPr id="5" name="Shape 3"/>
          <p:cNvSpPr/>
          <p:nvPr/>
        </p:nvSpPr>
        <p:spPr>
          <a:xfrm>
            <a:off x="548640" y="2971800"/>
            <a:ext cx="402336" cy="402336"/>
          </a:xfrm>
          <a:prstGeom prst="ellipse">
            <a:avLst/>
          </a:prstGeom>
          <a:solidFill>
            <a:srgbClr val="2F6FEB"/>
          </a:solidFill>
          <a:ln w="12700">
            <a:solidFill>
              <a:srgbClr val="2F6FEB"/>
            </a:solidFill>
            <a:prstDash val="solid"/>
          </a:ln>
        </p:spPr>
      </p:sp>
      <p:pic>
        <p:nvPicPr>
          <p:cNvPr id="6" name="Image 0" descr="preencoded.png">    </p:cNvPr>
          <p:cNvPicPr>
            <a:picLocks noChangeAspect="1"/>
          </p:cNvPicPr>
          <p:nvPr/>
        </p:nvPicPr>
        <p:blipFill>
          <a:blip r:embed="rId1"/>
          <a:stretch>
            <a:fillRect/>
          </a:stretch>
        </p:blipFill>
        <p:spPr>
          <a:xfrm>
            <a:off x="649224" y="3072384"/>
            <a:ext cx="201168" cy="201168"/>
          </a:xfrm>
          <a:prstGeom prst="rect">
            <a:avLst/>
          </a:prstGeom>
        </p:spPr>
      </p:pic>
      <p:sp>
        <p:nvSpPr>
          <p:cNvPr id="7" name="Text 4"/>
          <p:cNvSpPr txBox="1"/>
          <p:nvPr/>
        </p:nvSpPr>
        <p:spPr>
          <a:xfrm>
            <a:off x="1097280" y="2944368"/>
            <a:ext cx="4206240" cy="292608"/>
          </a:xfrm>
          <a:prstGeom prst="rect">
            <a:avLst/>
          </a:prstGeom>
          <a:noFill/>
          <a:ln/>
        </p:spPr>
        <p:txBody>
          <a:bodyPr wrap="square" lIns="0" tIns="0" rIns="0" bIns="0" rtlCol="0" anchor="t"/>
          <a:lstStyle/>
          <a:p>
            <a:pPr indent="0" marL="0">
              <a:buNone/>
            </a:pPr>
            <a:r>
              <a:rPr lang="en-US" sz="1500" b="1" dirty="0">
                <a:solidFill>
                  <a:schemeClr val="tx1"/>
                </a:solidFill>
              </a:rPr>
              <a:t>Attendance in a few taps</a:t>
            </a:r>
            <a:endParaRPr lang="en-US" sz="1500" dirty="0"/>
          </a:p>
        </p:txBody>
      </p:sp>
      <p:sp>
        <p:nvSpPr>
          <p:cNvPr id="8" name="Text 5"/>
          <p:cNvSpPr txBox="1"/>
          <p:nvPr/>
        </p:nvSpPr>
        <p:spPr>
          <a:xfrm>
            <a:off x="1097280" y="3246120"/>
            <a:ext cx="4206240" cy="457200"/>
          </a:xfrm>
          <a:prstGeom prst="rect">
            <a:avLst/>
          </a:prstGeom>
          <a:noFill/>
          <a:ln/>
        </p:spPr>
        <p:txBody>
          <a:bodyPr wrap="square" lIns="0" tIns="0" rIns="0" bIns="0" rtlCol="0" anchor="t"/>
          <a:lstStyle/>
          <a:p>
            <a:pPr indent="0" marL="0">
              <a:buNone/>
            </a:pPr>
            <a:r>
              <a:rPr lang="en-US" sz="1300" dirty="0">
                <a:solidFill>
                  <a:schemeClr val="accent4"/>
                </a:solidFill>
              </a:rPr>
              <a:t>Everyone starts as present; tap only the absent or late. Works without internet.</a:t>
            </a:r>
            <a:endParaRPr lang="en-US" sz="1300" dirty="0"/>
          </a:p>
        </p:txBody>
      </p:sp>
      <p:sp>
        <p:nvSpPr>
          <p:cNvPr id="9" name="Shape 6"/>
          <p:cNvSpPr/>
          <p:nvPr/>
        </p:nvSpPr>
        <p:spPr>
          <a:xfrm>
            <a:off x="548640" y="3758184"/>
            <a:ext cx="402336" cy="402336"/>
          </a:xfrm>
          <a:prstGeom prst="ellipse">
            <a:avLst/>
          </a:prstGeom>
          <a:solidFill>
            <a:srgbClr val="2F6FEB"/>
          </a:solidFill>
          <a:ln w="12700">
            <a:solidFill>
              <a:srgbClr val="2F6FEB"/>
            </a:solidFill>
            <a:prstDash val="solid"/>
          </a:ln>
        </p:spPr>
      </p:sp>
      <p:pic>
        <p:nvPicPr>
          <p:cNvPr id="10" name="Image 1" descr="preencoded.png">    </p:cNvPr>
          <p:cNvPicPr>
            <a:picLocks noChangeAspect="1"/>
          </p:cNvPicPr>
          <p:nvPr/>
        </p:nvPicPr>
        <p:blipFill>
          <a:blip r:embed="rId2"/>
          <a:stretch>
            <a:fillRect/>
          </a:stretch>
        </p:blipFill>
        <p:spPr>
          <a:xfrm>
            <a:off x="649224" y="3858768"/>
            <a:ext cx="201168" cy="201168"/>
          </a:xfrm>
          <a:prstGeom prst="rect">
            <a:avLst/>
          </a:prstGeom>
        </p:spPr>
      </p:pic>
      <p:sp>
        <p:nvSpPr>
          <p:cNvPr id="11" name="Text 7"/>
          <p:cNvSpPr txBox="1"/>
          <p:nvPr/>
        </p:nvSpPr>
        <p:spPr>
          <a:xfrm>
            <a:off x="1097280" y="3730752"/>
            <a:ext cx="4206240" cy="292608"/>
          </a:xfrm>
          <a:prstGeom prst="rect">
            <a:avLst/>
          </a:prstGeom>
          <a:noFill/>
          <a:ln/>
        </p:spPr>
        <p:txBody>
          <a:bodyPr wrap="square" lIns="0" tIns="0" rIns="0" bIns="0" rtlCol="0" anchor="t"/>
          <a:lstStyle/>
          <a:p>
            <a:pPr indent="0" marL="0">
              <a:buNone/>
            </a:pPr>
            <a:r>
              <a:rPr lang="en-US" sz="1500" b="1" dirty="0">
                <a:solidFill>
                  <a:schemeClr val="tx1"/>
                </a:solidFill>
              </a:rPr>
              <a:t>Marks from the phone</a:t>
            </a:r>
            <a:endParaRPr lang="en-US" sz="1500" dirty="0"/>
          </a:p>
        </p:txBody>
      </p:sp>
      <p:sp>
        <p:nvSpPr>
          <p:cNvPr id="12" name="Text 8"/>
          <p:cNvSpPr txBox="1"/>
          <p:nvPr/>
        </p:nvSpPr>
        <p:spPr>
          <a:xfrm>
            <a:off x="1097280" y="4032504"/>
            <a:ext cx="4206240" cy="457200"/>
          </a:xfrm>
          <a:prstGeom prst="rect">
            <a:avLst/>
          </a:prstGeom>
          <a:noFill/>
          <a:ln/>
        </p:spPr>
        <p:txBody>
          <a:bodyPr wrap="square" lIns="0" tIns="0" rIns="0" bIns="0" rtlCol="0" anchor="t"/>
          <a:lstStyle/>
          <a:p>
            <a:pPr indent="0" marL="0">
              <a:buNone/>
            </a:pPr>
            <a:r>
              <a:rPr lang="en-US" sz="1300" dirty="0">
                <a:solidFill>
                  <a:schemeClr val="accent4"/>
                </a:solidFill>
              </a:rPr>
              <a:t>Enter marks subject-wise or upload an Excel sheet. No retyping.</a:t>
            </a:r>
            <a:endParaRPr lang="en-US" sz="1300" dirty="0"/>
          </a:p>
        </p:txBody>
      </p:sp>
      <p:sp>
        <p:nvSpPr>
          <p:cNvPr id="13" name="Shape 9"/>
          <p:cNvSpPr/>
          <p:nvPr/>
        </p:nvSpPr>
        <p:spPr>
          <a:xfrm>
            <a:off x="548640" y="4544568"/>
            <a:ext cx="402336" cy="402336"/>
          </a:xfrm>
          <a:prstGeom prst="ellipse">
            <a:avLst/>
          </a:prstGeom>
          <a:solidFill>
            <a:srgbClr val="2F6FEB"/>
          </a:solidFill>
          <a:ln w="12700">
            <a:solidFill>
              <a:srgbClr val="2F6FEB"/>
            </a:solidFill>
            <a:prstDash val="solid"/>
          </a:ln>
        </p:spPr>
      </p:sp>
      <p:pic>
        <p:nvPicPr>
          <p:cNvPr id="14" name="Image 2" descr="preencoded.png">    </p:cNvPr>
          <p:cNvPicPr>
            <a:picLocks noChangeAspect="1"/>
          </p:cNvPicPr>
          <p:nvPr/>
        </p:nvPicPr>
        <p:blipFill>
          <a:blip r:embed="rId3"/>
          <a:stretch>
            <a:fillRect/>
          </a:stretch>
        </p:blipFill>
        <p:spPr>
          <a:xfrm>
            <a:off x="649224" y="4645152"/>
            <a:ext cx="201168" cy="201168"/>
          </a:xfrm>
          <a:prstGeom prst="rect">
            <a:avLst/>
          </a:prstGeom>
        </p:spPr>
      </p:pic>
      <p:sp>
        <p:nvSpPr>
          <p:cNvPr id="15" name="Text 10"/>
          <p:cNvSpPr txBox="1"/>
          <p:nvPr/>
        </p:nvSpPr>
        <p:spPr>
          <a:xfrm>
            <a:off x="1097280" y="4517136"/>
            <a:ext cx="4206240" cy="292608"/>
          </a:xfrm>
          <a:prstGeom prst="rect">
            <a:avLst/>
          </a:prstGeom>
          <a:noFill/>
          <a:ln/>
        </p:spPr>
        <p:txBody>
          <a:bodyPr wrap="square" lIns="0" tIns="0" rIns="0" bIns="0" rtlCol="0" anchor="t"/>
          <a:lstStyle/>
          <a:p>
            <a:pPr indent="0" marL="0">
              <a:buNone/>
            </a:pPr>
            <a:r>
              <a:rPr lang="en-US" sz="1500" b="1" dirty="0">
                <a:solidFill>
                  <a:schemeClr val="tx1"/>
                </a:solidFill>
              </a:rPr>
              <a:t>Homework with a photo</a:t>
            </a:r>
            <a:endParaRPr lang="en-US" sz="1500" dirty="0"/>
          </a:p>
        </p:txBody>
      </p:sp>
      <p:sp>
        <p:nvSpPr>
          <p:cNvPr id="16" name="Text 11"/>
          <p:cNvSpPr txBox="1"/>
          <p:nvPr/>
        </p:nvSpPr>
        <p:spPr>
          <a:xfrm>
            <a:off x="1097280" y="4818888"/>
            <a:ext cx="4206240" cy="457200"/>
          </a:xfrm>
          <a:prstGeom prst="rect">
            <a:avLst/>
          </a:prstGeom>
          <a:noFill/>
          <a:ln/>
        </p:spPr>
        <p:txBody>
          <a:bodyPr wrap="square" lIns="0" tIns="0" rIns="0" bIns="0" rtlCol="0" anchor="t"/>
          <a:lstStyle/>
          <a:p>
            <a:pPr indent="0" marL="0">
              <a:buNone/>
            </a:pPr>
            <a:r>
              <a:rPr lang="en-US" sz="1300" dirty="0">
                <a:solidFill>
                  <a:schemeClr val="accent4"/>
                </a:solidFill>
              </a:rPr>
              <a:t>Snap the board, post it, and every parent sees it the same day.</a:t>
            </a:r>
            <a:endParaRPr lang="en-US" sz="1300" dirty="0"/>
          </a:p>
        </p:txBody>
      </p:sp>
      <p:sp>
        <p:nvSpPr>
          <p:cNvPr id="17" name="Result"/>
          <p:cNvSpPr/>
          <p:nvPr/>
        </p:nvSpPr>
        <p:spPr>
          <a:xfrm>
            <a:off x="548640" y="5440680"/>
            <a:ext cx="4709160" cy="685800"/>
          </a:xfrm>
          <a:prstGeom prst="roundRect">
            <a:avLst>
              <a:gd name="adj" fmla="val 13333"/>
            </a:avLst>
          </a:prstGeom>
          <a:solidFill>
            <a:srgbClr val="FFF4DB"/>
          </a:solidFill>
          <a:ln w="12700">
            <a:solidFill>
              <a:srgbClr val="FFF4DB"/>
            </a:solidFill>
            <a:prstDash val="solid"/>
          </a:ln>
        </p:spPr>
      </p:sp>
      <p:sp>
        <p:nvSpPr>
          <p:cNvPr id="18" name="Text 13"/>
          <p:cNvSpPr txBox="1"/>
          <p:nvPr/>
        </p:nvSpPr>
        <p:spPr>
          <a:xfrm>
            <a:off x="731520" y="5468112"/>
            <a:ext cx="4434840" cy="640080"/>
          </a:xfrm>
          <a:prstGeom prst="rect">
            <a:avLst/>
          </a:prstGeom>
          <a:noFill/>
          <a:ln/>
        </p:spPr>
        <p:txBody>
          <a:bodyPr wrap="square" lIns="0" tIns="0" rIns="0" bIns="0" rtlCol="0" anchor="ctr"/>
          <a:lstStyle/>
          <a:p>
            <a:pPr indent="0" marL="0">
              <a:buNone/>
            </a:pPr>
            <a:r>
              <a:rPr lang="en-US" sz="1100" b="1" spc="100" kern="0" dirty="0">
                <a:solidFill>
                  <a:srgbClr val="A06A00"/>
                </a:solidFill>
              </a:rPr>
              <a:t>WHAT YOU GET  </a:t>
            </a:r>
            <a:pPr indent="0" marL="0">
              <a:buNone/>
            </a:pPr>
            <a:r>
              <a:rPr lang="en-US" sz="1400" b="1" dirty="0">
                <a:solidFill>
                  <a:srgbClr val="0B1530"/>
                </a:solidFill>
              </a:rPr>
              <a:t>Less paperwork, more teaching, no double entry.</a:t>
            </a:r>
            <a:endParaRPr lang="en-US" sz="1100" dirty="0"/>
          </a:p>
        </p:txBody>
      </p:sp>
      <p:sp>
        <p:nvSpPr>
          <p:cNvPr id="19" name="Teacher register phone"/>
          <p:cNvSpPr/>
          <p:nvPr/>
        </p:nvSpPr>
        <p:spPr>
          <a:xfrm>
            <a:off x="6172200" y="777240"/>
            <a:ext cx="2408685" cy="5120640"/>
          </a:xfrm>
          <a:prstGeom prst="roundRect">
            <a:avLst>
              <a:gd name="adj" fmla="val 7593"/>
            </a:avLst>
          </a:prstGeom>
          <a:solidFill>
            <a:srgbClr val="0B1530"/>
          </a:solidFill>
          <a:ln w="12700">
            <a:solidFill>
              <a:srgbClr val="17234A"/>
            </a:solidFill>
            <a:prstDash val="solid"/>
          </a:ln>
          <a:effectLst>
            <a:outerShdw sx="100000" sy="100000" kx="0" ky="0" algn="bl" rotWithShape="0" blurRad="177800" dist="50800" dir="5400000">
              <a:srgbClr val="0B1530">
                <a:alpha val="20000"/>
              </a:srgbClr>
            </a:outerShdw>
          </a:effectLst>
        </p:spPr>
      </p:sp>
      <p:pic>
        <p:nvPicPr>
          <p:cNvPr id="20" name="Teacher register" descr="Teacher register">    </p:cNvPr>
          <p:cNvPicPr>
            <a:picLocks noChangeAspect="1"/>
          </p:cNvPicPr>
          <p:nvPr/>
        </p:nvPicPr>
        <p:blipFill>
          <a:blip r:embed="rId4"/>
          <a:stretch>
            <a:fillRect/>
          </a:stretch>
        </p:blipFill>
        <p:spPr>
          <a:xfrm>
            <a:off x="6236208" y="868680"/>
            <a:ext cx="2280669" cy="4937760"/>
          </a:xfrm>
          <a:prstGeom prst="rect">
            <a:avLst/>
          </a:prstGeom>
        </p:spPr>
      </p:pic>
      <p:sp>
        <p:nvSpPr>
          <p:cNvPr id="21" name="Teacher home phone"/>
          <p:cNvSpPr/>
          <p:nvPr/>
        </p:nvSpPr>
        <p:spPr>
          <a:xfrm>
            <a:off x="9098280" y="1325880"/>
            <a:ext cx="2155278" cy="4572000"/>
          </a:xfrm>
          <a:prstGeom prst="roundRect">
            <a:avLst>
              <a:gd name="adj" fmla="val 8485"/>
            </a:avLst>
          </a:prstGeom>
          <a:solidFill>
            <a:srgbClr val="0B1530"/>
          </a:solidFill>
          <a:ln w="12700">
            <a:solidFill>
              <a:srgbClr val="17234A"/>
            </a:solidFill>
            <a:prstDash val="solid"/>
          </a:ln>
          <a:effectLst>
            <a:outerShdw sx="100000" sy="100000" kx="0" ky="0" algn="bl" rotWithShape="0" blurRad="177800" dist="50800" dir="5400000">
              <a:srgbClr val="0B1530">
                <a:alpha val="20000"/>
              </a:srgbClr>
            </a:outerShdw>
          </a:effectLst>
        </p:spPr>
      </p:sp>
      <p:pic>
        <p:nvPicPr>
          <p:cNvPr id="22" name="Teacher home" descr="Teacher home">    </p:cNvPr>
          <p:cNvPicPr>
            <a:picLocks noChangeAspect="1"/>
          </p:cNvPicPr>
          <p:nvPr/>
        </p:nvPicPr>
        <p:blipFill>
          <a:blip r:embed="rId5"/>
          <a:stretch>
            <a:fillRect/>
          </a:stretch>
        </p:blipFill>
        <p:spPr>
          <a:xfrm>
            <a:off x="9162288" y="1417320"/>
            <a:ext cx="2027262" cy="4389120"/>
          </a:xfrm>
          <a:prstGeom prst="rect">
            <a:avLst/>
          </a:prstGeom>
        </p:spPr>
      </p:pic>
      <p:sp>
        <p:nvSpPr>
          <p:cNvPr id="25" name="Slide Number Placeholder 0"/>
          <p:cNvSpPr>
            <a:spLocks noGrp="1"/>
          </p:cNvSpPr>
          <p:nvPr>
            <p:ph type="sldNum" sz="quarter" idx="4294967295"/>
          </p:nvPr>
        </p:nvSpPr>
        <p:spPr>
          <a:xfrm>
            <a:off x="11201400"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body" hasCustomPrompt="1"/>
          </p:nvPr>
        </p:nvSpPr>
        <p:spPr>
          <a:xfrm>
            <a:off x="804672" y="384048"/>
            <a:ext cx="54864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EXAMS AND RESULTS</a:t>
            </a:r>
            <a:endParaRPr lang="en-US" sz="1200" dirty="0"/>
          </a:p>
        </p:txBody>
      </p:sp>
      <p:sp>
        <p:nvSpPr>
          <p:cNvPr id="3" name="Text 0"/>
          <p:cNvSpPr/>
          <p:nvPr>
            <p:ph idx="102" type="title" hasCustomPrompt="1"/>
          </p:nvPr>
        </p:nvSpPr>
        <p:spPr>
          <a:xfrm>
            <a:off x="548640" y="749808"/>
            <a:ext cx="4800600" cy="137160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Result day without the stress</a:t>
            </a:r>
            <a:endParaRPr lang="en-US" sz="3000" dirty="0"/>
          </a:p>
        </p:txBody>
      </p:sp>
      <p:sp>
        <p:nvSpPr>
          <p:cNvPr id="4" name="Text 2"/>
          <p:cNvSpPr txBox="1"/>
          <p:nvPr/>
        </p:nvSpPr>
        <p:spPr>
          <a:xfrm>
            <a:off x="548640" y="2194560"/>
            <a:ext cx="4709160" cy="685800"/>
          </a:xfrm>
          <a:prstGeom prst="rect">
            <a:avLst/>
          </a:prstGeom>
          <a:noFill/>
          <a:ln/>
        </p:spPr>
        <p:txBody>
          <a:bodyPr wrap="square" lIns="0" tIns="0" rIns="0" bIns="0" rtlCol="0" anchor="t"/>
          <a:lstStyle/>
          <a:p>
            <a:pPr indent="0" marL="0">
              <a:buNone/>
            </a:pPr>
            <a:r>
              <a:rPr lang="en-US" sz="1500" dirty="0">
                <a:solidFill>
                  <a:schemeClr val="accent4"/>
                </a:solidFill>
              </a:rPr>
              <a:t>From marks entry to printed report cards, without spreadsheets.</a:t>
            </a:r>
            <a:endParaRPr lang="en-US" sz="1500" dirty="0"/>
          </a:p>
        </p:txBody>
      </p:sp>
      <p:sp>
        <p:nvSpPr>
          <p:cNvPr id="5" name="Shape 3"/>
          <p:cNvSpPr/>
          <p:nvPr/>
        </p:nvSpPr>
        <p:spPr>
          <a:xfrm>
            <a:off x="548640" y="2971800"/>
            <a:ext cx="402336" cy="402336"/>
          </a:xfrm>
          <a:prstGeom prst="ellipse">
            <a:avLst/>
          </a:prstGeom>
          <a:solidFill>
            <a:srgbClr val="2F6FEB"/>
          </a:solidFill>
          <a:ln w="12700">
            <a:solidFill>
              <a:srgbClr val="2F6FEB"/>
            </a:solidFill>
            <a:prstDash val="solid"/>
          </a:ln>
        </p:spPr>
      </p:sp>
      <p:pic>
        <p:nvPicPr>
          <p:cNvPr id="6" name="Image 0" descr="preencoded.png">    </p:cNvPr>
          <p:cNvPicPr>
            <a:picLocks noChangeAspect="1"/>
          </p:cNvPicPr>
          <p:nvPr/>
        </p:nvPicPr>
        <p:blipFill>
          <a:blip r:embed="rId1"/>
          <a:stretch>
            <a:fillRect/>
          </a:stretch>
        </p:blipFill>
        <p:spPr>
          <a:xfrm>
            <a:off x="649224" y="3072384"/>
            <a:ext cx="201168" cy="201168"/>
          </a:xfrm>
          <a:prstGeom prst="rect">
            <a:avLst/>
          </a:prstGeom>
        </p:spPr>
      </p:pic>
      <p:sp>
        <p:nvSpPr>
          <p:cNvPr id="7" name="Text 4"/>
          <p:cNvSpPr txBox="1"/>
          <p:nvPr/>
        </p:nvSpPr>
        <p:spPr>
          <a:xfrm>
            <a:off x="1097280" y="2944368"/>
            <a:ext cx="4206240" cy="292608"/>
          </a:xfrm>
          <a:prstGeom prst="rect">
            <a:avLst/>
          </a:prstGeom>
          <a:noFill/>
          <a:ln/>
        </p:spPr>
        <p:txBody>
          <a:bodyPr wrap="square" lIns="0" tIns="0" rIns="0" bIns="0" rtlCol="0" anchor="t"/>
          <a:lstStyle/>
          <a:p>
            <a:pPr indent="0" marL="0">
              <a:buNone/>
            </a:pPr>
            <a:r>
              <a:rPr lang="en-US" sz="1500" b="1" dirty="0">
                <a:solidFill>
                  <a:schemeClr val="tx1"/>
                </a:solidFill>
              </a:rPr>
              <a:t>Grades and ranks worked out for you</a:t>
            </a:r>
            <a:endParaRPr lang="en-US" sz="1500" dirty="0"/>
          </a:p>
        </p:txBody>
      </p:sp>
      <p:sp>
        <p:nvSpPr>
          <p:cNvPr id="8" name="Text 5"/>
          <p:cNvSpPr txBox="1"/>
          <p:nvPr/>
        </p:nvSpPr>
        <p:spPr>
          <a:xfrm>
            <a:off x="1097280" y="3246120"/>
            <a:ext cx="4206240" cy="457200"/>
          </a:xfrm>
          <a:prstGeom prst="rect">
            <a:avLst/>
          </a:prstGeom>
          <a:noFill/>
          <a:ln/>
        </p:spPr>
        <p:txBody>
          <a:bodyPr wrap="square" lIns="0" tIns="0" rIns="0" bIns="0" rtlCol="0" anchor="t"/>
          <a:lstStyle/>
          <a:p>
            <a:pPr indent="0" marL="0">
              <a:buNone/>
            </a:pPr>
            <a:r>
              <a:rPr lang="en-US" sz="1300" dirty="0">
                <a:solidFill>
                  <a:schemeClr val="accent4"/>
                </a:solidFill>
              </a:rPr>
              <a:t>CBSE 9-point grading or your own scale. No manual calculation.</a:t>
            </a:r>
            <a:endParaRPr lang="en-US" sz="1300" dirty="0"/>
          </a:p>
        </p:txBody>
      </p:sp>
      <p:sp>
        <p:nvSpPr>
          <p:cNvPr id="9" name="Shape 6"/>
          <p:cNvSpPr/>
          <p:nvPr/>
        </p:nvSpPr>
        <p:spPr>
          <a:xfrm>
            <a:off x="548640" y="3758184"/>
            <a:ext cx="402336" cy="402336"/>
          </a:xfrm>
          <a:prstGeom prst="ellipse">
            <a:avLst/>
          </a:prstGeom>
          <a:solidFill>
            <a:srgbClr val="2F6FEB"/>
          </a:solidFill>
          <a:ln w="12700">
            <a:solidFill>
              <a:srgbClr val="2F6FEB"/>
            </a:solidFill>
            <a:prstDash val="solid"/>
          </a:ln>
        </p:spPr>
      </p:sp>
      <p:pic>
        <p:nvPicPr>
          <p:cNvPr id="10" name="Image 1" descr="preencoded.png">    </p:cNvPr>
          <p:cNvPicPr>
            <a:picLocks noChangeAspect="1"/>
          </p:cNvPicPr>
          <p:nvPr/>
        </p:nvPicPr>
        <p:blipFill>
          <a:blip r:embed="rId2"/>
          <a:stretch>
            <a:fillRect/>
          </a:stretch>
        </p:blipFill>
        <p:spPr>
          <a:xfrm>
            <a:off x="649224" y="3858768"/>
            <a:ext cx="201168" cy="201168"/>
          </a:xfrm>
          <a:prstGeom prst="rect">
            <a:avLst/>
          </a:prstGeom>
        </p:spPr>
      </p:pic>
      <p:sp>
        <p:nvSpPr>
          <p:cNvPr id="11" name="Text 7"/>
          <p:cNvSpPr txBox="1"/>
          <p:nvPr/>
        </p:nvSpPr>
        <p:spPr>
          <a:xfrm>
            <a:off x="1097280" y="3730752"/>
            <a:ext cx="4206240" cy="292608"/>
          </a:xfrm>
          <a:prstGeom prst="rect">
            <a:avLst/>
          </a:prstGeom>
          <a:noFill/>
          <a:ln/>
        </p:spPr>
        <p:txBody>
          <a:bodyPr wrap="square" lIns="0" tIns="0" rIns="0" bIns="0" rtlCol="0" anchor="t"/>
          <a:lstStyle/>
          <a:p>
            <a:pPr indent="0" marL="0">
              <a:buNone/>
            </a:pPr>
            <a:r>
              <a:rPr lang="en-US" sz="1500" b="1" dirty="0">
                <a:solidFill>
                  <a:schemeClr val="tx1"/>
                </a:solidFill>
              </a:rPr>
              <a:t>Report cards ready to print</a:t>
            </a:r>
            <a:endParaRPr lang="en-US" sz="1500" dirty="0"/>
          </a:p>
        </p:txBody>
      </p:sp>
      <p:sp>
        <p:nvSpPr>
          <p:cNvPr id="12" name="Text 8"/>
          <p:cNvSpPr txBox="1"/>
          <p:nvPr/>
        </p:nvSpPr>
        <p:spPr>
          <a:xfrm>
            <a:off x="1097280" y="4032504"/>
            <a:ext cx="4206240" cy="457200"/>
          </a:xfrm>
          <a:prstGeom prst="rect">
            <a:avLst/>
          </a:prstGeom>
          <a:noFill/>
          <a:ln/>
        </p:spPr>
        <p:txBody>
          <a:bodyPr wrap="square" lIns="0" tIns="0" rIns="0" bIns="0" rtlCol="0" anchor="t"/>
          <a:lstStyle/>
          <a:p>
            <a:pPr indent="0" marL="0">
              <a:buNone/>
            </a:pPr>
            <a:r>
              <a:rPr lang="en-US" sz="1300" dirty="0">
                <a:solidFill>
                  <a:schemeClr val="accent4"/>
                </a:solidFill>
              </a:rPr>
              <a:t>Choose from three designs, with your logo and the principal's signature.</a:t>
            </a:r>
            <a:endParaRPr lang="en-US" sz="1300" dirty="0"/>
          </a:p>
        </p:txBody>
      </p:sp>
      <p:sp>
        <p:nvSpPr>
          <p:cNvPr id="13" name="Shape 9"/>
          <p:cNvSpPr/>
          <p:nvPr/>
        </p:nvSpPr>
        <p:spPr>
          <a:xfrm>
            <a:off x="548640" y="4544568"/>
            <a:ext cx="402336" cy="402336"/>
          </a:xfrm>
          <a:prstGeom prst="ellipse">
            <a:avLst/>
          </a:prstGeom>
          <a:solidFill>
            <a:srgbClr val="2F6FEB"/>
          </a:solidFill>
          <a:ln w="12700">
            <a:solidFill>
              <a:srgbClr val="2F6FEB"/>
            </a:solidFill>
            <a:prstDash val="solid"/>
          </a:ln>
        </p:spPr>
      </p:sp>
      <p:pic>
        <p:nvPicPr>
          <p:cNvPr id="14" name="Image 2" descr="preencoded.png">    </p:cNvPr>
          <p:cNvPicPr>
            <a:picLocks noChangeAspect="1"/>
          </p:cNvPicPr>
          <p:nvPr/>
        </p:nvPicPr>
        <p:blipFill>
          <a:blip r:embed="rId3"/>
          <a:stretch>
            <a:fillRect/>
          </a:stretch>
        </p:blipFill>
        <p:spPr>
          <a:xfrm>
            <a:off x="649224" y="4645152"/>
            <a:ext cx="201168" cy="201168"/>
          </a:xfrm>
          <a:prstGeom prst="rect">
            <a:avLst/>
          </a:prstGeom>
        </p:spPr>
      </p:pic>
      <p:sp>
        <p:nvSpPr>
          <p:cNvPr id="15" name="Text 10"/>
          <p:cNvSpPr txBox="1"/>
          <p:nvPr/>
        </p:nvSpPr>
        <p:spPr>
          <a:xfrm>
            <a:off x="1097280" y="4517136"/>
            <a:ext cx="4206240" cy="292608"/>
          </a:xfrm>
          <a:prstGeom prst="rect">
            <a:avLst/>
          </a:prstGeom>
          <a:noFill/>
          <a:ln/>
        </p:spPr>
        <p:txBody>
          <a:bodyPr wrap="square" lIns="0" tIns="0" rIns="0" bIns="0" rtlCol="0" anchor="t"/>
          <a:lstStyle/>
          <a:p>
            <a:pPr indent="0" marL="0">
              <a:buNone/>
            </a:pPr>
            <a:r>
              <a:rPr lang="en-US" sz="1500" b="1" dirty="0">
                <a:solidFill>
                  <a:schemeClr val="tx1"/>
                </a:solidFill>
              </a:rPr>
              <a:t>Parents see results instantly</a:t>
            </a:r>
            <a:endParaRPr lang="en-US" sz="1500" dirty="0"/>
          </a:p>
        </p:txBody>
      </p:sp>
      <p:sp>
        <p:nvSpPr>
          <p:cNvPr id="16" name="Text 11"/>
          <p:cNvSpPr txBox="1"/>
          <p:nvPr/>
        </p:nvSpPr>
        <p:spPr>
          <a:xfrm>
            <a:off x="1097280" y="4818888"/>
            <a:ext cx="4206240" cy="457200"/>
          </a:xfrm>
          <a:prstGeom prst="rect">
            <a:avLst/>
          </a:prstGeom>
          <a:noFill/>
          <a:ln/>
        </p:spPr>
        <p:txBody>
          <a:bodyPr wrap="square" lIns="0" tIns="0" rIns="0" bIns="0" rtlCol="0" anchor="t"/>
          <a:lstStyle/>
          <a:p>
            <a:pPr indent="0" marL="0">
              <a:buNone/>
            </a:pPr>
            <a:r>
              <a:rPr lang="en-US" sz="1300" dirty="0">
                <a:solidFill>
                  <a:schemeClr val="accent4"/>
                </a:solidFill>
              </a:rPr>
              <a:t>With a subject-wise chart and progress across exams.</a:t>
            </a:r>
            <a:endParaRPr lang="en-US" sz="1300" dirty="0"/>
          </a:p>
        </p:txBody>
      </p:sp>
      <p:sp>
        <p:nvSpPr>
          <p:cNvPr id="17" name="Result"/>
          <p:cNvSpPr/>
          <p:nvPr/>
        </p:nvSpPr>
        <p:spPr>
          <a:xfrm>
            <a:off x="548640" y="5440680"/>
            <a:ext cx="4709160" cy="685800"/>
          </a:xfrm>
          <a:prstGeom prst="roundRect">
            <a:avLst>
              <a:gd name="adj" fmla="val 13333"/>
            </a:avLst>
          </a:prstGeom>
          <a:solidFill>
            <a:srgbClr val="FFF4DB"/>
          </a:solidFill>
          <a:ln w="12700">
            <a:solidFill>
              <a:srgbClr val="FFF4DB"/>
            </a:solidFill>
            <a:prstDash val="solid"/>
          </a:ln>
        </p:spPr>
      </p:sp>
      <p:sp>
        <p:nvSpPr>
          <p:cNvPr id="18" name="Text 13"/>
          <p:cNvSpPr txBox="1"/>
          <p:nvPr/>
        </p:nvSpPr>
        <p:spPr>
          <a:xfrm>
            <a:off x="731520" y="5468112"/>
            <a:ext cx="4434840" cy="640080"/>
          </a:xfrm>
          <a:prstGeom prst="rect">
            <a:avLst/>
          </a:prstGeom>
          <a:noFill/>
          <a:ln/>
        </p:spPr>
        <p:txBody>
          <a:bodyPr wrap="square" lIns="0" tIns="0" rIns="0" bIns="0" rtlCol="0" anchor="ctr"/>
          <a:lstStyle/>
          <a:p>
            <a:pPr indent="0" marL="0">
              <a:buNone/>
            </a:pPr>
            <a:r>
              <a:rPr lang="en-US" sz="1100" b="1" spc="100" kern="0" dirty="0">
                <a:solidFill>
                  <a:srgbClr val="A06A00"/>
                </a:solidFill>
              </a:rPr>
              <a:t>WHAT YOU GET  </a:t>
            </a:r>
            <a:pPr indent="0" marL="0">
              <a:buNone/>
            </a:pPr>
            <a:r>
              <a:rPr lang="en-US" sz="1400" b="1" dirty="0">
                <a:solidFill>
                  <a:srgbClr val="0B1530"/>
                </a:solidFill>
              </a:rPr>
              <a:t>Results out in days, not weeks.</a:t>
            </a:r>
            <a:endParaRPr lang="en-US" sz="1100" dirty="0"/>
          </a:p>
        </p:txBody>
      </p:sp>
      <p:sp>
        <p:nvSpPr>
          <p:cNvPr id="19" name="Marks entry progress window"/>
          <p:cNvSpPr/>
          <p:nvPr/>
        </p:nvSpPr>
        <p:spPr>
          <a:xfrm>
            <a:off x="5943600" y="914400"/>
            <a:ext cx="4754880" cy="3084523"/>
          </a:xfrm>
          <a:prstGeom prst="roundRect">
            <a:avLst>
              <a:gd name="adj" fmla="val 2075"/>
            </a:avLst>
          </a:prstGeom>
          <a:solidFill>
            <a:srgbClr val="FFFFFF"/>
          </a:solidFill>
          <a:ln w="9525">
            <a:solidFill>
              <a:srgbClr val="DCE3EF"/>
            </a:solidFill>
            <a:prstDash val="solid"/>
          </a:ln>
          <a:effectLst>
            <a:outerShdw sx="100000" sy="100000" kx="0" ky="0" algn="bl" rotWithShape="0" blurRad="177800" dist="50800" dir="5400000">
              <a:srgbClr val="0B1530">
                <a:alpha val="20000"/>
              </a:srgbClr>
            </a:outerShdw>
          </a:effectLst>
        </p:spPr>
      </p:sp>
      <p:sp>
        <p:nvSpPr>
          <p:cNvPr id="20" name="Shape 15"/>
          <p:cNvSpPr/>
          <p:nvPr/>
        </p:nvSpPr>
        <p:spPr>
          <a:xfrm>
            <a:off x="6062472" y="987552"/>
            <a:ext cx="73152" cy="73152"/>
          </a:xfrm>
          <a:prstGeom prst="ellipse">
            <a:avLst/>
          </a:prstGeom>
          <a:solidFill>
            <a:srgbClr val="E2554F"/>
          </a:solidFill>
          <a:ln w="12700">
            <a:solidFill>
              <a:srgbClr val="E2554F"/>
            </a:solidFill>
            <a:prstDash val="solid"/>
          </a:ln>
        </p:spPr>
      </p:sp>
      <p:sp>
        <p:nvSpPr>
          <p:cNvPr id="21" name="Shape 16"/>
          <p:cNvSpPr/>
          <p:nvPr/>
        </p:nvSpPr>
        <p:spPr>
          <a:xfrm>
            <a:off x="6199632" y="987552"/>
            <a:ext cx="73152" cy="73152"/>
          </a:xfrm>
          <a:prstGeom prst="ellipse">
            <a:avLst/>
          </a:prstGeom>
          <a:solidFill>
            <a:srgbClr val="F7A400"/>
          </a:solidFill>
          <a:ln w="12700">
            <a:solidFill>
              <a:srgbClr val="F7A400"/>
            </a:solidFill>
            <a:prstDash val="solid"/>
          </a:ln>
        </p:spPr>
      </p:sp>
      <p:sp>
        <p:nvSpPr>
          <p:cNvPr id="22" name="Shape 17"/>
          <p:cNvSpPr/>
          <p:nvPr/>
        </p:nvSpPr>
        <p:spPr>
          <a:xfrm>
            <a:off x="6336792" y="987552"/>
            <a:ext cx="73152" cy="73152"/>
          </a:xfrm>
          <a:prstGeom prst="ellipse">
            <a:avLst/>
          </a:prstGeom>
          <a:solidFill>
            <a:srgbClr val="2EB872"/>
          </a:solidFill>
          <a:ln w="12700">
            <a:solidFill>
              <a:srgbClr val="2EB872"/>
            </a:solidFill>
            <a:prstDash val="solid"/>
          </a:ln>
        </p:spPr>
      </p:sp>
      <p:pic>
        <p:nvPicPr>
          <p:cNvPr id="23" name="Marks entry progress" descr="Marks entry progress">    </p:cNvPr>
          <p:cNvPicPr>
            <a:picLocks noChangeAspect="1"/>
          </p:cNvPicPr>
          <p:nvPr/>
        </p:nvPicPr>
        <p:blipFill>
          <a:blip r:embed="rId4"/>
          <a:stretch>
            <a:fillRect/>
          </a:stretch>
        </p:blipFill>
        <p:spPr>
          <a:xfrm>
            <a:off x="5971032" y="1133856"/>
            <a:ext cx="4700016" cy="2837635"/>
          </a:xfrm>
          <a:prstGeom prst="rect">
            <a:avLst/>
          </a:prstGeom>
        </p:spPr>
      </p:pic>
      <p:sp>
        <p:nvSpPr>
          <p:cNvPr id="24" name="Parent results phone"/>
          <p:cNvSpPr/>
          <p:nvPr/>
        </p:nvSpPr>
        <p:spPr>
          <a:xfrm>
            <a:off x="9464040" y="2148840"/>
            <a:ext cx="1901870" cy="4023360"/>
          </a:xfrm>
          <a:prstGeom prst="roundRect">
            <a:avLst>
              <a:gd name="adj" fmla="val 9616"/>
            </a:avLst>
          </a:prstGeom>
          <a:solidFill>
            <a:srgbClr val="0B1530"/>
          </a:solidFill>
          <a:ln w="12700">
            <a:solidFill>
              <a:srgbClr val="17234A"/>
            </a:solidFill>
            <a:prstDash val="solid"/>
          </a:ln>
          <a:effectLst>
            <a:outerShdw sx="100000" sy="100000" kx="0" ky="0" algn="bl" rotWithShape="0" blurRad="177800" dist="50800" dir="5400000">
              <a:srgbClr val="0B1530">
                <a:alpha val="20000"/>
              </a:srgbClr>
            </a:outerShdw>
          </a:effectLst>
        </p:spPr>
      </p:sp>
      <p:pic>
        <p:nvPicPr>
          <p:cNvPr id="25" name="Parent results" descr="Parent results">    </p:cNvPr>
          <p:cNvPicPr>
            <a:picLocks noChangeAspect="1"/>
          </p:cNvPicPr>
          <p:nvPr/>
        </p:nvPicPr>
        <p:blipFill>
          <a:blip r:embed="rId5"/>
          <a:stretch>
            <a:fillRect/>
          </a:stretch>
        </p:blipFill>
        <p:spPr>
          <a:xfrm>
            <a:off x="9528048" y="2240280"/>
            <a:ext cx="1773854" cy="3840480"/>
          </a:xfrm>
          <a:prstGeom prst="rect">
            <a:avLst/>
          </a:prstGeom>
        </p:spPr>
      </p:pic>
      <p:sp>
        <p:nvSpPr>
          <p:cNvPr id="25" name="Slide Number Placeholder 0"/>
          <p:cNvSpPr>
            <a:spLocks noGrp="1"/>
          </p:cNvSpPr>
          <p:nvPr>
            <p:ph type="sldNum" sz="quarter" idx="4294967295"/>
          </p:nvPr>
        </p:nvSpPr>
        <p:spPr>
          <a:xfrm>
            <a:off x="11201400"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body" hasCustomPrompt="1"/>
          </p:nvPr>
        </p:nvSpPr>
        <p:spPr>
          <a:xfrm>
            <a:off x="804672" y="384048"/>
            <a:ext cx="54864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STUDENT ID CARDS</a:t>
            </a:r>
            <a:endParaRPr lang="en-US" sz="1200" dirty="0"/>
          </a:p>
        </p:txBody>
      </p:sp>
      <p:sp>
        <p:nvSpPr>
          <p:cNvPr id="3" name="Text 0"/>
          <p:cNvSpPr/>
          <p:nvPr>
            <p:ph idx="102" type="title" hasCustomPrompt="1"/>
          </p:nvPr>
        </p:nvSpPr>
        <p:spPr>
          <a:xfrm>
            <a:off x="548640" y="749808"/>
            <a:ext cx="4800600" cy="137160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ID cards for a whole class in one click</a:t>
            </a:r>
            <a:endParaRPr lang="en-US" sz="3000" dirty="0"/>
          </a:p>
        </p:txBody>
      </p:sp>
      <p:sp>
        <p:nvSpPr>
          <p:cNvPr id="4" name="Text 2"/>
          <p:cNvSpPr txBox="1"/>
          <p:nvPr/>
        </p:nvSpPr>
        <p:spPr>
          <a:xfrm>
            <a:off x="548640" y="2194560"/>
            <a:ext cx="4709160" cy="685800"/>
          </a:xfrm>
          <a:prstGeom prst="rect">
            <a:avLst/>
          </a:prstGeom>
          <a:noFill/>
          <a:ln/>
        </p:spPr>
        <p:txBody>
          <a:bodyPr wrap="square" lIns="0" tIns="0" rIns="0" bIns="0" rtlCol="0" anchor="t"/>
          <a:lstStyle/>
          <a:p>
            <a:pPr indent="0" marL="0">
              <a:buNone/>
            </a:pPr>
            <a:r>
              <a:rPr lang="en-US" sz="1500" dirty="0">
                <a:solidFill>
                  <a:schemeClr val="accent4"/>
                </a:solidFill>
              </a:rPr>
              <a:t>Printed in your school, from the records you already have. No print-shop lists.</a:t>
            </a:r>
            <a:endParaRPr lang="en-US" sz="1500" dirty="0"/>
          </a:p>
        </p:txBody>
      </p:sp>
      <p:sp>
        <p:nvSpPr>
          <p:cNvPr id="5" name="Shape 3"/>
          <p:cNvSpPr/>
          <p:nvPr/>
        </p:nvSpPr>
        <p:spPr>
          <a:xfrm>
            <a:off x="548640" y="2971800"/>
            <a:ext cx="402336" cy="402336"/>
          </a:xfrm>
          <a:prstGeom prst="ellipse">
            <a:avLst/>
          </a:prstGeom>
          <a:solidFill>
            <a:srgbClr val="2F6FEB"/>
          </a:solidFill>
          <a:ln w="12700">
            <a:solidFill>
              <a:srgbClr val="2F6FEB"/>
            </a:solidFill>
            <a:prstDash val="solid"/>
          </a:ln>
        </p:spPr>
      </p:sp>
      <p:pic>
        <p:nvPicPr>
          <p:cNvPr id="6" name="Image 0" descr="preencoded.png">    </p:cNvPr>
          <p:cNvPicPr>
            <a:picLocks noChangeAspect="1"/>
          </p:cNvPicPr>
          <p:nvPr/>
        </p:nvPicPr>
        <p:blipFill>
          <a:blip r:embed="rId1"/>
          <a:stretch>
            <a:fillRect/>
          </a:stretch>
        </p:blipFill>
        <p:spPr>
          <a:xfrm>
            <a:off x="649224" y="3072384"/>
            <a:ext cx="201168" cy="201168"/>
          </a:xfrm>
          <a:prstGeom prst="rect">
            <a:avLst/>
          </a:prstGeom>
        </p:spPr>
      </p:pic>
      <p:sp>
        <p:nvSpPr>
          <p:cNvPr id="7" name="Text 4"/>
          <p:cNvSpPr txBox="1"/>
          <p:nvPr/>
        </p:nvSpPr>
        <p:spPr>
          <a:xfrm>
            <a:off x="1097280" y="2944368"/>
            <a:ext cx="4206240" cy="292608"/>
          </a:xfrm>
          <a:prstGeom prst="rect">
            <a:avLst/>
          </a:prstGeom>
          <a:noFill/>
          <a:ln/>
        </p:spPr>
        <p:txBody>
          <a:bodyPr wrap="square" lIns="0" tIns="0" rIns="0" bIns="0" rtlCol="0" anchor="t"/>
          <a:lstStyle/>
          <a:p>
            <a:pPr indent="0" marL="0">
              <a:buNone/>
            </a:pPr>
            <a:r>
              <a:rPr lang="en-US" sz="1500" b="1" dirty="0">
                <a:solidFill>
                  <a:schemeClr val="tx1"/>
                </a:solidFill>
              </a:rPr>
              <a:t>A whole class on A4 sheets</a:t>
            </a:r>
            <a:endParaRPr lang="en-US" sz="1500" dirty="0"/>
          </a:p>
        </p:txBody>
      </p:sp>
      <p:sp>
        <p:nvSpPr>
          <p:cNvPr id="8" name="Text 5"/>
          <p:cNvSpPr txBox="1"/>
          <p:nvPr/>
        </p:nvSpPr>
        <p:spPr>
          <a:xfrm>
            <a:off x="1097280" y="3246120"/>
            <a:ext cx="4206240" cy="457200"/>
          </a:xfrm>
          <a:prstGeom prst="rect">
            <a:avLst/>
          </a:prstGeom>
          <a:noFill/>
          <a:ln/>
        </p:spPr>
        <p:txBody>
          <a:bodyPr wrap="square" lIns="0" tIns="0" rIns="0" bIns="0" rtlCol="0" anchor="t"/>
          <a:lstStyle/>
          <a:p>
            <a:pPr indent="0" marL="0">
              <a:buNone/>
            </a:pPr>
            <a:r>
              <a:rPr lang="en-US" sz="1300" dirty="0">
                <a:solidFill>
                  <a:schemeClr val="accent4"/>
                </a:solidFill>
              </a:rPr>
              <a:t>Standard card size, nine per sheet with cut lines. Print, cut, laminate.</a:t>
            </a:r>
            <a:endParaRPr lang="en-US" sz="1300" dirty="0"/>
          </a:p>
        </p:txBody>
      </p:sp>
      <p:sp>
        <p:nvSpPr>
          <p:cNvPr id="9" name="Shape 6"/>
          <p:cNvSpPr/>
          <p:nvPr/>
        </p:nvSpPr>
        <p:spPr>
          <a:xfrm>
            <a:off x="548640" y="3758184"/>
            <a:ext cx="402336" cy="402336"/>
          </a:xfrm>
          <a:prstGeom prst="ellipse">
            <a:avLst/>
          </a:prstGeom>
          <a:solidFill>
            <a:srgbClr val="2F6FEB"/>
          </a:solidFill>
          <a:ln w="12700">
            <a:solidFill>
              <a:srgbClr val="2F6FEB"/>
            </a:solidFill>
            <a:prstDash val="solid"/>
          </a:ln>
        </p:spPr>
      </p:sp>
      <p:pic>
        <p:nvPicPr>
          <p:cNvPr id="10" name="Image 1" descr="preencoded.png">    </p:cNvPr>
          <p:cNvPicPr>
            <a:picLocks noChangeAspect="1"/>
          </p:cNvPicPr>
          <p:nvPr/>
        </p:nvPicPr>
        <p:blipFill>
          <a:blip r:embed="rId2"/>
          <a:stretch>
            <a:fillRect/>
          </a:stretch>
        </p:blipFill>
        <p:spPr>
          <a:xfrm>
            <a:off x="649224" y="3858768"/>
            <a:ext cx="201168" cy="201168"/>
          </a:xfrm>
          <a:prstGeom prst="rect">
            <a:avLst/>
          </a:prstGeom>
        </p:spPr>
      </p:pic>
      <p:sp>
        <p:nvSpPr>
          <p:cNvPr id="11" name="Text 7"/>
          <p:cNvSpPr txBox="1"/>
          <p:nvPr/>
        </p:nvSpPr>
        <p:spPr>
          <a:xfrm>
            <a:off x="1097280" y="3730752"/>
            <a:ext cx="4206240" cy="292608"/>
          </a:xfrm>
          <a:prstGeom prst="rect">
            <a:avLst/>
          </a:prstGeom>
          <a:noFill/>
          <a:ln/>
        </p:spPr>
        <p:txBody>
          <a:bodyPr wrap="square" lIns="0" tIns="0" rIns="0" bIns="0" rtlCol="0" anchor="t"/>
          <a:lstStyle/>
          <a:p>
            <a:pPr indent="0" marL="0">
              <a:buNone/>
            </a:pPr>
            <a:r>
              <a:rPr lang="en-US" sz="1500" b="1" dirty="0">
                <a:solidFill>
                  <a:schemeClr val="tx1"/>
                </a:solidFill>
              </a:rPr>
              <a:t>Safety details on every card</a:t>
            </a:r>
            <a:endParaRPr lang="en-US" sz="1500" dirty="0"/>
          </a:p>
        </p:txBody>
      </p:sp>
      <p:sp>
        <p:nvSpPr>
          <p:cNvPr id="12" name="Text 8"/>
          <p:cNvSpPr txBox="1"/>
          <p:nvPr/>
        </p:nvSpPr>
        <p:spPr>
          <a:xfrm>
            <a:off x="1097280" y="4032504"/>
            <a:ext cx="4206240" cy="457200"/>
          </a:xfrm>
          <a:prstGeom prst="rect">
            <a:avLst/>
          </a:prstGeom>
          <a:noFill/>
          <a:ln/>
        </p:spPr>
        <p:txBody>
          <a:bodyPr wrap="square" lIns="0" tIns="0" rIns="0" bIns="0" rtlCol="0" anchor="t"/>
          <a:lstStyle/>
          <a:p>
            <a:pPr indent="0" marL="0">
              <a:buNone/>
            </a:pPr>
            <a:r>
              <a:rPr lang="en-US" sz="1300" dirty="0">
                <a:solidFill>
                  <a:schemeClr val="accent4"/>
                </a:solidFill>
              </a:rPr>
              <a:t>Photo, blood group, parent's name and phone, address.</a:t>
            </a:r>
            <a:endParaRPr lang="en-US" sz="1300" dirty="0"/>
          </a:p>
        </p:txBody>
      </p:sp>
      <p:sp>
        <p:nvSpPr>
          <p:cNvPr id="13" name="Shape 9"/>
          <p:cNvSpPr/>
          <p:nvPr/>
        </p:nvSpPr>
        <p:spPr>
          <a:xfrm>
            <a:off x="548640" y="4544568"/>
            <a:ext cx="402336" cy="402336"/>
          </a:xfrm>
          <a:prstGeom prst="ellipse">
            <a:avLst/>
          </a:prstGeom>
          <a:solidFill>
            <a:srgbClr val="2F6FEB"/>
          </a:solidFill>
          <a:ln w="12700">
            <a:solidFill>
              <a:srgbClr val="2F6FEB"/>
            </a:solidFill>
            <a:prstDash val="solid"/>
          </a:ln>
        </p:spPr>
      </p:sp>
      <p:pic>
        <p:nvPicPr>
          <p:cNvPr id="14" name="Image 2" descr="preencoded.png">    </p:cNvPr>
          <p:cNvPicPr>
            <a:picLocks noChangeAspect="1"/>
          </p:cNvPicPr>
          <p:nvPr/>
        </p:nvPicPr>
        <p:blipFill>
          <a:blip r:embed="rId3"/>
          <a:stretch>
            <a:fillRect/>
          </a:stretch>
        </p:blipFill>
        <p:spPr>
          <a:xfrm>
            <a:off x="649224" y="4645152"/>
            <a:ext cx="201168" cy="201168"/>
          </a:xfrm>
          <a:prstGeom prst="rect">
            <a:avLst/>
          </a:prstGeom>
        </p:spPr>
      </p:pic>
      <p:sp>
        <p:nvSpPr>
          <p:cNvPr id="15" name="Text 10"/>
          <p:cNvSpPr txBox="1"/>
          <p:nvPr/>
        </p:nvSpPr>
        <p:spPr>
          <a:xfrm>
            <a:off x="1097280" y="4517136"/>
            <a:ext cx="4206240" cy="292608"/>
          </a:xfrm>
          <a:prstGeom prst="rect">
            <a:avLst/>
          </a:prstGeom>
          <a:noFill/>
          <a:ln/>
        </p:spPr>
        <p:txBody>
          <a:bodyPr wrap="square" lIns="0" tIns="0" rIns="0" bIns="0" rtlCol="0" anchor="t"/>
          <a:lstStyle/>
          <a:p>
            <a:pPr indent="0" marL="0">
              <a:buNone/>
            </a:pPr>
            <a:r>
              <a:rPr lang="en-US" sz="1500" b="1" dirty="0">
                <a:solidFill>
                  <a:schemeClr val="tx1"/>
                </a:solidFill>
              </a:rPr>
              <a:t>Your logo and colours</a:t>
            </a:r>
            <a:endParaRPr lang="en-US" sz="1500" dirty="0"/>
          </a:p>
        </p:txBody>
      </p:sp>
      <p:sp>
        <p:nvSpPr>
          <p:cNvPr id="16" name="Text 11"/>
          <p:cNvSpPr txBox="1"/>
          <p:nvPr/>
        </p:nvSpPr>
        <p:spPr>
          <a:xfrm>
            <a:off x="1097280" y="4818888"/>
            <a:ext cx="4206240" cy="457200"/>
          </a:xfrm>
          <a:prstGeom prst="rect">
            <a:avLst/>
          </a:prstGeom>
          <a:noFill/>
          <a:ln/>
        </p:spPr>
        <p:txBody>
          <a:bodyPr wrap="square" lIns="0" tIns="0" rIns="0" bIns="0" rtlCol="0" anchor="t"/>
          <a:lstStyle/>
          <a:p>
            <a:pPr indent="0" marL="0">
              <a:buNone/>
            </a:pPr>
            <a:r>
              <a:rPr lang="en-US" sz="1300" dirty="0">
                <a:solidFill>
                  <a:schemeClr val="accent4"/>
                </a:solidFill>
              </a:rPr>
              <a:t>Lost card? Reprint one student's card in seconds.</a:t>
            </a:r>
            <a:endParaRPr lang="en-US" sz="1300" dirty="0"/>
          </a:p>
        </p:txBody>
      </p:sp>
      <p:sp>
        <p:nvSpPr>
          <p:cNvPr id="17" name="Result"/>
          <p:cNvSpPr/>
          <p:nvPr/>
        </p:nvSpPr>
        <p:spPr>
          <a:xfrm>
            <a:off x="548640" y="5440680"/>
            <a:ext cx="4709160" cy="685800"/>
          </a:xfrm>
          <a:prstGeom prst="roundRect">
            <a:avLst>
              <a:gd name="adj" fmla="val 13333"/>
            </a:avLst>
          </a:prstGeom>
          <a:solidFill>
            <a:srgbClr val="FFF4DB"/>
          </a:solidFill>
          <a:ln w="12700">
            <a:solidFill>
              <a:srgbClr val="FFF4DB"/>
            </a:solidFill>
            <a:prstDash val="solid"/>
          </a:ln>
        </p:spPr>
      </p:sp>
      <p:sp>
        <p:nvSpPr>
          <p:cNvPr id="18" name="Text 13"/>
          <p:cNvSpPr txBox="1"/>
          <p:nvPr/>
        </p:nvSpPr>
        <p:spPr>
          <a:xfrm>
            <a:off x="731520" y="5468112"/>
            <a:ext cx="4434840" cy="640080"/>
          </a:xfrm>
          <a:prstGeom prst="rect">
            <a:avLst/>
          </a:prstGeom>
          <a:noFill/>
          <a:ln/>
        </p:spPr>
        <p:txBody>
          <a:bodyPr wrap="square" lIns="0" tIns="0" rIns="0" bIns="0" rtlCol="0" anchor="ctr"/>
          <a:lstStyle/>
          <a:p>
            <a:pPr indent="0" marL="0">
              <a:buNone/>
            </a:pPr>
            <a:r>
              <a:rPr lang="en-US" sz="1100" b="1" spc="100" kern="0" dirty="0">
                <a:solidFill>
                  <a:srgbClr val="A06A00"/>
                </a:solidFill>
              </a:rPr>
              <a:t>WHAT YOU GET  </a:t>
            </a:r>
            <a:pPr indent="0" marL="0">
              <a:buNone/>
            </a:pPr>
            <a:r>
              <a:rPr lang="en-US" sz="1400" b="1" dirty="0">
                <a:solidFill>
                  <a:srgbClr val="0B1530"/>
                </a:solidFill>
              </a:rPr>
              <a:t>No outside vendor, no mistakes, no waiting.</a:t>
            </a:r>
            <a:endParaRPr lang="en-US" sz="1100" dirty="0"/>
          </a:p>
        </p:txBody>
      </p:sp>
      <p:sp>
        <p:nvSpPr>
          <p:cNvPr id="19" name="Shape 14"/>
          <p:cNvSpPr/>
          <p:nvPr/>
        </p:nvSpPr>
        <p:spPr>
          <a:xfrm>
            <a:off x="5943600" y="640080"/>
            <a:ext cx="2743200" cy="3881636"/>
          </a:xfrm>
          <a:prstGeom prst="rect">
            <a:avLst/>
          </a:prstGeom>
          <a:solidFill>
            <a:srgbClr val="FFFFFF"/>
          </a:solidFill>
          <a:ln w="9525">
            <a:solidFill>
              <a:srgbClr val="DCE3EF"/>
            </a:solidFill>
            <a:prstDash val="solid"/>
          </a:ln>
          <a:effectLst>
            <a:outerShdw sx="100000" sy="100000" kx="0" ky="0" algn="bl" rotWithShape="0" blurRad="177800" dist="50800" dir="5400000">
              <a:srgbClr val="0B1530">
                <a:alpha val="20000"/>
              </a:srgbClr>
            </a:outerShdw>
          </a:effectLst>
        </p:spPr>
      </p:sp>
      <p:pic>
        <p:nvPicPr>
          <p:cNvPr id="20" name="A4 sheet of ID cards" descr="A4 sheet of nine ID cards for Class 5-B">    </p:cNvPr>
          <p:cNvPicPr>
            <a:picLocks noChangeAspect="1"/>
          </p:cNvPicPr>
          <p:nvPr/>
        </p:nvPicPr>
        <p:blipFill>
          <a:blip r:embed="rId4"/>
          <a:stretch>
            <a:fillRect/>
          </a:stretch>
        </p:blipFill>
        <p:spPr>
          <a:xfrm>
            <a:off x="5943600" y="640080"/>
            <a:ext cx="2743200" cy="3881636"/>
          </a:xfrm>
          <a:prstGeom prst="rect">
            <a:avLst/>
          </a:prstGeom>
        </p:spPr>
      </p:pic>
      <p:pic>
        <p:nvPicPr>
          <p:cNvPr id="21" name="Student ID card" descr="Student ID card for Ananya Mishra, Class 5-B">    </p:cNvPr>
          <p:cNvPicPr>
            <a:picLocks noChangeAspect="1"/>
          </p:cNvPicPr>
          <p:nvPr/>
        </p:nvPicPr>
        <p:blipFill>
          <a:blip r:embed="rId5"/>
          <a:stretch>
            <a:fillRect/>
          </a:stretch>
        </p:blipFill>
        <p:spPr>
          <a:xfrm>
            <a:off x="8915400" y="777240"/>
            <a:ext cx="2863237" cy="4480560"/>
          </a:xfrm>
          <a:prstGeom prst="rect">
            <a:avLst/>
          </a:prstGeom>
        </p:spPr>
      </p:pic>
      <p:sp>
        <p:nvSpPr>
          <p:cNvPr id="22" name="Print ID cards window window"/>
          <p:cNvSpPr/>
          <p:nvPr/>
        </p:nvSpPr>
        <p:spPr>
          <a:xfrm>
            <a:off x="5943600" y="4800600"/>
            <a:ext cx="3017520" cy="1677136"/>
          </a:xfrm>
          <a:prstGeom prst="roundRect">
            <a:avLst>
              <a:gd name="adj" fmla="val 3817"/>
            </a:avLst>
          </a:prstGeom>
          <a:solidFill>
            <a:srgbClr val="FFFFFF"/>
          </a:solidFill>
          <a:ln w="9525">
            <a:solidFill>
              <a:srgbClr val="DCE3EF"/>
            </a:solidFill>
            <a:prstDash val="solid"/>
          </a:ln>
          <a:effectLst>
            <a:outerShdw sx="100000" sy="100000" kx="0" ky="0" algn="bl" rotWithShape="0" blurRad="177800" dist="50800" dir="5400000">
              <a:srgbClr val="0B1530">
                <a:alpha val="20000"/>
              </a:srgbClr>
            </a:outerShdw>
          </a:effectLst>
        </p:spPr>
      </p:sp>
      <p:sp>
        <p:nvSpPr>
          <p:cNvPr id="23" name="Shape 16"/>
          <p:cNvSpPr/>
          <p:nvPr/>
        </p:nvSpPr>
        <p:spPr>
          <a:xfrm>
            <a:off x="6062472" y="4873752"/>
            <a:ext cx="73152" cy="73152"/>
          </a:xfrm>
          <a:prstGeom prst="ellipse">
            <a:avLst/>
          </a:prstGeom>
          <a:solidFill>
            <a:srgbClr val="E2554F"/>
          </a:solidFill>
          <a:ln w="12700">
            <a:solidFill>
              <a:srgbClr val="E2554F"/>
            </a:solidFill>
            <a:prstDash val="solid"/>
          </a:ln>
        </p:spPr>
      </p:sp>
      <p:sp>
        <p:nvSpPr>
          <p:cNvPr id="24" name="Shape 17"/>
          <p:cNvSpPr/>
          <p:nvPr/>
        </p:nvSpPr>
        <p:spPr>
          <a:xfrm>
            <a:off x="6199632" y="4873752"/>
            <a:ext cx="73152" cy="73152"/>
          </a:xfrm>
          <a:prstGeom prst="ellipse">
            <a:avLst/>
          </a:prstGeom>
          <a:solidFill>
            <a:srgbClr val="F7A400"/>
          </a:solidFill>
          <a:ln w="12700">
            <a:solidFill>
              <a:srgbClr val="F7A400"/>
            </a:solidFill>
            <a:prstDash val="solid"/>
          </a:ln>
        </p:spPr>
      </p:sp>
      <p:sp>
        <p:nvSpPr>
          <p:cNvPr id="25" name="Shape 18"/>
          <p:cNvSpPr/>
          <p:nvPr/>
        </p:nvSpPr>
        <p:spPr>
          <a:xfrm>
            <a:off x="6336792" y="4873752"/>
            <a:ext cx="73152" cy="73152"/>
          </a:xfrm>
          <a:prstGeom prst="ellipse">
            <a:avLst/>
          </a:prstGeom>
          <a:solidFill>
            <a:srgbClr val="2EB872"/>
          </a:solidFill>
          <a:ln w="12700">
            <a:solidFill>
              <a:srgbClr val="2EB872"/>
            </a:solidFill>
            <a:prstDash val="solid"/>
          </a:ln>
        </p:spPr>
      </p:sp>
      <p:pic>
        <p:nvPicPr>
          <p:cNvPr id="26" name="Print ID cards window" descr="Print ID cards window">    </p:cNvPr>
          <p:cNvPicPr>
            <a:picLocks noChangeAspect="1"/>
          </p:cNvPicPr>
          <p:nvPr/>
        </p:nvPicPr>
        <p:blipFill>
          <a:blip r:embed="rId6"/>
          <a:stretch>
            <a:fillRect/>
          </a:stretch>
        </p:blipFill>
        <p:spPr>
          <a:xfrm>
            <a:off x="5971032" y="5020056"/>
            <a:ext cx="2962656" cy="1430248"/>
          </a:xfrm>
          <a:prstGeom prst="rect">
            <a:avLst/>
          </a:prstGeom>
        </p:spPr>
      </p:pic>
      <p:sp>
        <p:nvSpPr>
          <p:cNvPr id="27" name="Text 19"/>
          <p:cNvSpPr txBox="1"/>
          <p:nvPr/>
        </p:nvSpPr>
        <p:spPr>
          <a:xfrm>
            <a:off x="9098280" y="5486400"/>
            <a:ext cx="2926080" cy="457200"/>
          </a:xfrm>
          <a:prstGeom prst="rect">
            <a:avLst/>
          </a:prstGeom>
          <a:noFill/>
          <a:ln/>
        </p:spPr>
        <p:txBody>
          <a:bodyPr wrap="square" lIns="0" tIns="0" rIns="0" bIns="0" rtlCol="0" anchor="t"/>
          <a:lstStyle/>
          <a:p>
            <a:pPr indent="0" marL="0">
              <a:buNone/>
            </a:pPr>
            <a:r>
              <a:rPr lang="en-US" sz="1200" dirty="0">
                <a:solidFill>
                  <a:schemeClr val="accent4"/>
                </a:solidFill>
              </a:rPr>
              <a:t>Real output for Class 5-B, printed from Bastaa</a:t>
            </a:r>
            <a:endParaRPr lang="en-US" sz="1200" dirty="0"/>
          </a:p>
        </p:txBody>
      </p:sp>
      <p:sp>
        <p:nvSpPr>
          <p:cNvPr id="25" name="Slide Number Placeholder 0"/>
          <p:cNvSpPr>
            <a:spLocks noGrp="1"/>
          </p:cNvSpPr>
          <p:nvPr>
            <p:ph type="sldNum" sz="quarter" idx="4294967295"/>
          </p:nvPr>
        </p:nvSpPr>
        <p:spPr>
          <a:xfrm>
            <a:off x="11201400"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body" hasCustomPrompt="1"/>
          </p:nvPr>
        </p:nvSpPr>
        <p:spPr>
          <a:xfrm>
            <a:off x="804672" y="384048"/>
            <a:ext cx="54864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FOR THE PRINCIPAL</a:t>
            </a:r>
            <a:endParaRPr lang="en-US" sz="1200" dirty="0"/>
          </a:p>
        </p:txBody>
      </p:sp>
      <p:sp>
        <p:nvSpPr>
          <p:cNvPr id="3" name="Text 0"/>
          <p:cNvSpPr/>
          <p:nvPr>
            <p:ph idx="102" type="title" hasCustomPrompt="1"/>
          </p:nvPr>
        </p:nvSpPr>
        <p:spPr>
          <a:xfrm>
            <a:off x="548640" y="749808"/>
            <a:ext cx="4800600" cy="137160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See your whole school on one screen</a:t>
            </a:r>
            <a:endParaRPr lang="en-US" sz="3000" dirty="0"/>
          </a:p>
        </p:txBody>
      </p:sp>
      <p:sp>
        <p:nvSpPr>
          <p:cNvPr id="4" name="Text 2"/>
          <p:cNvSpPr txBox="1"/>
          <p:nvPr/>
        </p:nvSpPr>
        <p:spPr>
          <a:xfrm>
            <a:off x="548640" y="2194560"/>
            <a:ext cx="4709160" cy="685800"/>
          </a:xfrm>
          <a:prstGeom prst="rect">
            <a:avLst/>
          </a:prstGeom>
          <a:noFill/>
          <a:ln/>
        </p:spPr>
        <p:txBody>
          <a:bodyPr wrap="square" lIns="0" tIns="0" rIns="0" bIns="0" rtlCol="0" anchor="t"/>
          <a:lstStyle/>
          <a:p>
            <a:pPr indent="0" marL="0">
              <a:buNone/>
            </a:pPr>
            <a:r>
              <a:rPr lang="en-US" sz="1500" dirty="0">
                <a:solidFill>
                  <a:schemeClr val="accent4"/>
                </a:solidFill>
              </a:rPr>
              <a:t>Know what needs your attention today, not at the end of the month.</a:t>
            </a:r>
            <a:endParaRPr lang="en-US" sz="1500" dirty="0"/>
          </a:p>
        </p:txBody>
      </p:sp>
      <p:sp>
        <p:nvSpPr>
          <p:cNvPr id="5" name="Shape 3"/>
          <p:cNvSpPr/>
          <p:nvPr/>
        </p:nvSpPr>
        <p:spPr>
          <a:xfrm>
            <a:off x="548640" y="2971800"/>
            <a:ext cx="402336" cy="402336"/>
          </a:xfrm>
          <a:prstGeom prst="ellipse">
            <a:avLst/>
          </a:prstGeom>
          <a:solidFill>
            <a:srgbClr val="2F6FEB"/>
          </a:solidFill>
          <a:ln w="12700">
            <a:solidFill>
              <a:srgbClr val="2F6FEB"/>
            </a:solidFill>
            <a:prstDash val="solid"/>
          </a:ln>
        </p:spPr>
      </p:sp>
      <p:pic>
        <p:nvPicPr>
          <p:cNvPr id="6" name="Image 0" descr="preencoded.png">    </p:cNvPr>
          <p:cNvPicPr>
            <a:picLocks noChangeAspect="1"/>
          </p:cNvPicPr>
          <p:nvPr/>
        </p:nvPicPr>
        <p:blipFill>
          <a:blip r:embed="rId1"/>
          <a:stretch>
            <a:fillRect/>
          </a:stretch>
        </p:blipFill>
        <p:spPr>
          <a:xfrm>
            <a:off x="649224" y="3072384"/>
            <a:ext cx="201168" cy="201168"/>
          </a:xfrm>
          <a:prstGeom prst="rect">
            <a:avLst/>
          </a:prstGeom>
        </p:spPr>
      </p:pic>
      <p:sp>
        <p:nvSpPr>
          <p:cNvPr id="7" name="Text 4"/>
          <p:cNvSpPr txBox="1"/>
          <p:nvPr/>
        </p:nvSpPr>
        <p:spPr>
          <a:xfrm>
            <a:off x="1097280" y="2944368"/>
            <a:ext cx="4206240" cy="292608"/>
          </a:xfrm>
          <a:prstGeom prst="rect">
            <a:avLst/>
          </a:prstGeom>
          <a:noFill/>
          <a:ln/>
        </p:spPr>
        <p:txBody>
          <a:bodyPr wrap="square" lIns="0" tIns="0" rIns="0" bIns="0" rtlCol="0" anchor="t"/>
          <a:lstStyle/>
          <a:p>
            <a:pPr indent="0" marL="0">
              <a:buNone/>
            </a:pPr>
            <a:r>
              <a:rPr lang="en-US" sz="1500" b="1" dirty="0">
                <a:solidFill>
                  <a:schemeClr val="tx1"/>
                </a:solidFill>
              </a:rPr>
              <a:t>Problems flagged early</a:t>
            </a:r>
            <a:endParaRPr lang="en-US" sz="1500" dirty="0"/>
          </a:p>
        </p:txBody>
      </p:sp>
      <p:sp>
        <p:nvSpPr>
          <p:cNvPr id="8" name="Text 5"/>
          <p:cNvSpPr txBox="1"/>
          <p:nvPr/>
        </p:nvSpPr>
        <p:spPr>
          <a:xfrm>
            <a:off x="1097280" y="3246120"/>
            <a:ext cx="4206240" cy="457200"/>
          </a:xfrm>
          <a:prstGeom prst="rect">
            <a:avLst/>
          </a:prstGeom>
          <a:noFill/>
          <a:ln/>
        </p:spPr>
        <p:txBody>
          <a:bodyPr wrap="square" lIns="0" tIns="0" rIns="0" bIns="0" rtlCol="0" anchor="t"/>
          <a:lstStyle/>
          <a:p>
            <a:pPr indent="0" marL="0">
              <a:buNone/>
            </a:pPr>
            <a:r>
              <a:rPr lang="en-US" sz="1300" dirty="0">
                <a:solidFill>
                  <a:schemeClr val="accent4"/>
                </a:solidFill>
              </a:rPr>
              <a:t>Registers not taken, students below 75% attendance, overdue fees.</a:t>
            </a:r>
            <a:endParaRPr lang="en-US" sz="1300" dirty="0"/>
          </a:p>
        </p:txBody>
      </p:sp>
      <p:sp>
        <p:nvSpPr>
          <p:cNvPr id="9" name="Shape 6"/>
          <p:cNvSpPr/>
          <p:nvPr/>
        </p:nvSpPr>
        <p:spPr>
          <a:xfrm>
            <a:off x="548640" y="3758184"/>
            <a:ext cx="402336" cy="402336"/>
          </a:xfrm>
          <a:prstGeom prst="ellipse">
            <a:avLst/>
          </a:prstGeom>
          <a:solidFill>
            <a:srgbClr val="2F6FEB"/>
          </a:solidFill>
          <a:ln w="12700">
            <a:solidFill>
              <a:srgbClr val="2F6FEB"/>
            </a:solidFill>
            <a:prstDash val="solid"/>
          </a:ln>
        </p:spPr>
      </p:sp>
      <p:pic>
        <p:nvPicPr>
          <p:cNvPr id="10" name="Image 1" descr="preencoded.png">    </p:cNvPr>
          <p:cNvPicPr>
            <a:picLocks noChangeAspect="1"/>
          </p:cNvPicPr>
          <p:nvPr/>
        </p:nvPicPr>
        <p:blipFill>
          <a:blip r:embed="rId2"/>
          <a:stretch>
            <a:fillRect/>
          </a:stretch>
        </p:blipFill>
        <p:spPr>
          <a:xfrm>
            <a:off x="649224" y="3858768"/>
            <a:ext cx="201168" cy="201168"/>
          </a:xfrm>
          <a:prstGeom prst="rect">
            <a:avLst/>
          </a:prstGeom>
        </p:spPr>
      </p:pic>
      <p:sp>
        <p:nvSpPr>
          <p:cNvPr id="11" name="Text 7"/>
          <p:cNvSpPr txBox="1"/>
          <p:nvPr/>
        </p:nvSpPr>
        <p:spPr>
          <a:xfrm>
            <a:off x="1097280" y="3730752"/>
            <a:ext cx="4206240" cy="292608"/>
          </a:xfrm>
          <a:prstGeom prst="rect">
            <a:avLst/>
          </a:prstGeom>
          <a:noFill/>
          <a:ln/>
        </p:spPr>
        <p:txBody>
          <a:bodyPr wrap="square" lIns="0" tIns="0" rIns="0" bIns="0" rtlCol="0" anchor="t"/>
          <a:lstStyle/>
          <a:p>
            <a:pPr indent="0" marL="0">
              <a:buNone/>
            </a:pPr>
            <a:r>
              <a:rPr lang="en-US" sz="1500" b="1" dirty="0">
                <a:solidFill>
                  <a:schemeClr val="tx1"/>
                </a:solidFill>
              </a:rPr>
              <a:t>Reports in one click</a:t>
            </a:r>
            <a:endParaRPr lang="en-US" sz="1500" dirty="0"/>
          </a:p>
        </p:txBody>
      </p:sp>
      <p:sp>
        <p:nvSpPr>
          <p:cNvPr id="12" name="Text 8"/>
          <p:cNvSpPr txBox="1"/>
          <p:nvPr/>
        </p:nvSpPr>
        <p:spPr>
          <a:xfrm>
            <a:off x="1097280" y="4032504"/>
            <a:ext cx="4206240" cy="457200"/>
          </a:xfrm>
          <a:prstGeom prst="rect">
            <a:avLst/>
          </a:prstGeom>
          <a:noFill/>
          <a:ln/>
        </p:spPr>
        <p:txBody>
          <a:bodyPr wrap="square" lIns="0" tIns="0" rIns="0" bIns="0" rtlCol="0" anchor="t"/>
          <a:lstStyle/>
          <a:p>
            <a:pPr indent="0" marL="0">
              <a:buNone/>
            </a:pPr>
            <a:r>
              <a:rPr lang="en-US" sz="1300" dirty="0">
                <a:solidFill>
                  <a:schemeClr val="accent4"/>
                </a:solidFill>
              </a:rPr>
              <a:t>Attendance, fees, results and defaulters, as Excel or PDF.</a:t>
            </a:r>
            <a:endParaRPr lang="en-US" sz="1300" dirty="0"/>
          </a:p>
        </p:txBody>
      </p:sp>
      <p:sp>
        <p:nvSpPr>
          <p:cNvPr id="13" name="Shape 9"/>
          <p:cNvSpPr/>
          <p:nvPr/>
        </p:nvSpPr>
        <p:spPr>
          <a:xfrm>
            <a:off x="548640" y="4544568"/>
            <a:ext cx="402336" cy="402336"/>
          </a:xfrm>
          <a:prstGeom prst="ellipse">
            <a:avLst/>
          </a:prstGeom>
          <a:solidFill>
            <a:srgbClr val="2F6FEB"/>
          </a:solidFill>
          <a:ln w="12700">
            <a:solidFill>
              <a:srgbClr val="2F6FEB"/>
            </a:solidFill>
            <a:prstDash val="solid"/>
          </a:ln>
        </p:spPr>
      </p:sp>
      <p:pic>
        <p:nvPicPr>
          <p:cNvPr id="14" name="Image 2" descr="preencoded.png">    </p:cNvPr>
          <p:cNvPicPr>
            <a:picLocks noChangeAspect="1"/>
          </p:cNvPicPr>
          <p:nvPr/>
        </p:nvPicPr>
        <p:blipFill>
          <a:blip r:embed="rId3"/>
          <a:stretch>
            <a:fillRect/>
          </a:stretch>
        </p:blipFill>
        <p:spPr>
          <a:xfrm>
            <a:off x="649224" y="4645152"/>
            <a:ext cx="201168" cy="201168"/>
          </a:xfrm>
          <a:prstGeom prst="rect">
            <a:avLst/>
          </a:prstGeom>
        </p:spPr>
      </p:pic>
      <p:sp>
        <p:nvSpPr>
          <p:cNvPr id="15" name="Text 10"/>
          <p:cNvSpPr txBox="1"/>
          <p:nvPr/>
        </p:nvSpPr>
        <p:spPr>
          <a:xfrm>
            <a:off x="1097280" y="4517136"/>
            <a:ext cx="4206240" cy="292608"/>
          </a:xfrm>
          <a:prstGeom prst="rect">
            <a:avLst/>
          </a:prstGeom>
          <a:noFill/>
          <a:ln/>
        </p:spPr>
        <p:txBody>
          <a:bodyPr wrap="square" lIns="0" tIns="0" rIns="0" bIns="0" rtlCol="0" anchor="t"/>
          <a:lstStyle/>
          <a:p>
            <a:pPr indent="0" marL="0">
              <a:buNone/>
            </a:pPr>
            <a:r>
              <a:rPr lang="en-US" sz="1500" b="1" dirty="0">
                <a:solidFill>
                  <a:schemeClr val="tx1"/>
                </a:solidFill>
              </a:rPr>
              <a:t>Weekly reports to your inbox</a:t>
            </a:r>
            <a:endParaRPr lang="en-US" sz="1500" dirty="0"/>
          </a:p>
        </p:txBody>
      </p:sp>
      <p:sp>
        <p:nvSpPr>
          <p:cNvPr id="16" name="Text 11"/>
          <p:cNvSpPr txBox="1"/>
          <p:nvPr/>
        </p:nvSpPr>
        <p:spPr>
          <a:xfrm>
            <a:off x="1097280" y="4818888"/>
            <a:ext cx="4206240" cy="457200"/>
          </a:xfrm>
          <a:prstGeom prst="rect">
            <a:avLst/>
          </a:prstGeom>
          <a:noFill/>
          <a:ln/>
        </p:spPr>
        <p:txBody>
          <a:bodyPr wrap="square" lIns="0" tIns="0" rIns="0" bIns="0" rtlCol="0" anchor="t"/>
          <a:lstStyle/>
          <a:p>
            <a:pPr indent="0" marL="0">
              <a:buNone/>
            </a:pPr>
            <a:r>
              <a:rPr lang="en-US" sz="1300" dirty="0">
                <a:solidFill>
                  <a:schemeClr val="accent4"/>
                </a:solidFill>
              </a:rPr>
              <a:t>Save any report and get it every week or month, automatically.</a:t>
            </a:r>
            <a:endParaRPr lang="en-US" sz="1300" dirty="0"/>
          </a:p>
        </p:txBody>
      </p:sp>
      <p:sp>
        <p:nvSpPr>
          <p:cNvPr id="17" name="Result"/>
          <p:cNvSpPr/>
          <p:nvPr/>
        </p:nvSpPr>
        <p:spPr>
          <a:xfrm>
            <a:off x="548640" y="5440680"/>
            <a:ext cx="4709160" cy="685800"/>
          </a:xfrm>
          <a:prstGeom prst="roundRect">
            <a:avLst>
              <a:gd name="adj" fmla="val 13333"/>
            </a:avLst>
          </a:prstGeom>
          <a:solidFill>
            <a:srgbClr val="FFF4DB"/>
          </a:solidFill>
          <a:ln w="12700">
            <a:solidFill>
              <a:srgbClr val="FFF4DB"/>
            </a:solidFill>
            <a:prstDash val="solid"/>
          </a:ln>
        </p:spPr>
      </p:sp>
      <p:sp>
        <p:nvSpPr>
          <p:cNvPr id="18" name="Text 13"/>
          <p:cNvSpPr txBox="1"/>
          <p:nvPr/>
        </p:nvSpPr>
        <p:spPr>
          <a:xfrm>
            <a:off x="731520" y="5468112"/>
            <a:ext cx="4434840" cy="640080"/>
          </a:xfrm>
          <a:prstGeom prst="rect">
            <a:avLst/>
          </a:prstGeom>
          <a:noFill/>
          <a:ln/>
        </p:spPr>
        <p:txBody>
          <a:bodyPr wrap="square" lIns="0" tIns="0" rIns="0" bIns="0" rtlCol="0" anchor="ctr"/>
          <a:lstStyle/>
          <a:p>
            <a:pPr indent="0" marL="0">
              <a:buNone/>
            </a:pPr>
            <a:r>
              <a:rPr lang="en-US" sz="1100" b="1" spc="100" kern="0" dirty="0">
                <a:solidFill>
                  <a:srgbClr val="A06A00"/>
                </a:solidFill>
              </a:rPr>
              <a:t>WHAT YOU GET  </a:t>
            </a:r>
            <a:pPr indent="0" marL="0">
              <a:buNone/>
            </a:pPr>
            <a:r>
              <a:rPr lang="en-US" sz="1400" b="1" dirty="0">
                <a:solidFill>
                  <a:srgbClr val="0B1530"/>
                </a:solidFill>
              </a:rPr>
              <a:t>Decisions based on facts, any time, from anywhere.</a:t>
            </a:r>
            <a:endParaRPr lang="en-US" sz="1100" dirty="0"/>
          </a:p>
        </p:txBody>
      </p:sp>
      <p:sp>
        <p:nvSpPr>
          <p:cNvPr id="19" name="Principal dashboard window"/>
          <p:cNvSpPr/>
          <p:nvPr/>
        </p:nvSpPr>
        <p:spPr>
          <a:xfrm>
            <a:off x="5943600" y="822960"/>
            <a:ext cx="5669280" cy="2836537"/>
          </a:xfrm>
          <a:prstGeom prst="roundRect">
            <a:avLst>
              <a:gd name="adj" fmla="val 2257"/>
            </a:avLst>
          </a:prstGeom>
          <a:solidFill>
            <a:srgbClr val="FFFFFF"/>
          </a:solidFill>
          <a:ln w="9525">
            <a:solidFill>
              <a:srgbClr val="DCE3EF"/>
            </a:solidFill>
            <a:prstDash val="solid"/>
          </a:ln>
          <a:effectLst>
            <a:outerShdw sx="100000" sy="100000" kx="0" ky="0" algn="bl" rotWithShape="0" blurRad="177800" dist="50800" dir="5400000">
              <a:srgbClr val="0B1530">
                <a:alpha val="20000"/>
              </a:srgbClr>
            </a:outerShdw>
          </a:effectLst>
        </p:spPr>
      </p:sp>
      <p:sp>
        <p:nvSpPr>
          <p:cNvPr id="20" name="Shape 15"/>
          <p:cNvSpPr/>
          <p:nvPr/>
        </p:nvSpPr>
        <p:spPr>
          <a:xfrm>
            <a:off x="6062472" y="896112"/>
            <a:ext cx="73152" cy="73152"/>
          </a:xfrm>
          <a:prstGeom prst="ellipse">
            <a:avLst/>
          </a:prstGeom>
          <a:solidFill>
            <a:srgbClr val="E2554F"/>
          </a:solidFill>
          <a:ln w="12700">
            <a:solidFill>
              <a:srgbClr val="E2554F"/>
            </a:solidFill>
            <a:prstDash val="solid"/>
          </a:ln>
        </p:spPr>
      </p:sp>
      <p:sp>
        <p:nvSpPr>
          <p:cNvPr id="21" name="Shape 16"/>
          <p:cNvSpPr/>
          <p:nvPr/>
        </p:nvSpPr>
        <p:spPr>
          <a:xfrm>
            <a:off x="6199632" y="896112"/>
            <a:ext cx="73152" cy="73152"/>
          </a:xfrm>
          <a:prstGeom prst="ellipse">
            <a:avLst/>
          </a:prstGeom>
          <a:solidFill>
            <a:srgbClr val="F7A400"/>
          </a:solidFill>
          <a:ln w="12700">
            <a:solidFill>
              <a:srgbClr val="F7A400"/>
            </a:solidFill>
            <a:prstDash val="solid"/>
          </a:ln>
        </p:spPr>
      </p:sp>
      <p:sp>
        <p:nvSpPr>
          <p:cNvPr id="22" name="Shape 17"/>
          <p:cNvSpPr/>
          <p:nvPr/>
        </p:nvSpPr>
        <p:spPr>
          <a:xfrm>
            <a:off x="6336792" y="896112"/>
            <a:ext cx="73152" cy="73152"/>
          </a:xfrm>
          <a:prstGeom prst="ellipse">
            <a:avLst/>
          </a:prstGeom>
          <a:solidFill>
            <a:srgbClr val="2EB872"/>
          </a:solidFill>
          <a:ln w="12700">
            <a:solidFill>
              <a:srgbClr val="2EB872"/>
            </a:solidFill>
            <a:prstDash val="solid"/>
          </a:ln>
        </p:spPr>
      </p:sp>
      <p:pic>
        <p:nvPicPr>
          <p:cNvPr id="23" name="Principal dashboard" descr="Principal dashboard">    </p:cNvPr>
          <p:cNvPicPr>
            <a:picLocks noChangeAspect="1"/>
          </p:cNvPicPr>
          <p:nvPr/>
        </p:nvPicPr>
        <p:blipFill>
          <a:blip r:embed="rId4"/>
          <a:stretch>
            <a:fillRect/>
          </a:stretch>
        </p:blipFill>
        <p:spPr>
          <a:xfrm>
            <a:off x="5971032" y="1042416"/>
            <a:ext cx="5614416" cy="2589649"/>
          </a:xfrm>
          <a:prstGeom prst="rect">
            <a:avLst/>
          </a:prstGeom>
        </p:spPr>
      </p:pic>
      <p:sp>
        <p:nvSpPr>
          <p:cNvPr id="24" name="Reports window"/>
          <p:cNvSpPr/>
          <p:nvPr/>
        </p:nvSpPr>
        <p:spPr>
          <a:xfrm>
            <a:off x="6949440" y="3657600"/>
            <a:ext cx="3657600" cy="2874634"/>
          </a:xfrm>
          <a:prstGeom prst="roundRect">
            <a:avLst>
              <a:gd name="adj" fmla="val 2227"/>
            </a:avLst>
          </a:prstGeom>
          <a:solidFill>
            <a:srgbClr val="FFFFFF"/>
          </a:solidFill>
          <a:ln w="9525">
            <a:solidFill>
              <a:srgbClr val="DCE3EF"/>
            </a:solidFill>
            <a:prstDash val="solid"/>
          </a:ln>
          <a:effectLst>
            <a:outerShdw sx="100000" sy="100000" kx="0" ky="0" algn="bl" rotWithShape="0" blurRad="177800" dist="50800" dir="5400000">
              <a:srgbClr val="0B1530">
                <a:alpha val="20000"/>
              </a:srgbClr>
            </a:outerShdw>
          </a:effectLst>
        </p:spPr>
      </p:sp>
      <p:sp>
        <p:nvSpPr>
          <p:cNvPr id="25" name="Shape 19"/>
          <p:cNvSpPr/>
          <p:nvPr/>
        </p:nvSpPr>
        <p:spPr>
          <a:xfrm>
            <a:off x="7068312" y="3730752"/>
            <a:ext cx="73152" cy="73152"/>
          </a:xfrm>
          <a:prstGeom prst="ellipse">
            <a:avLst/>
          </a:prstGeom>
          <a:solidFill>
            <a:srgbClr val="E2554F"/>
          </a:solidFill>
          <a:ln w="12700">
            <a:solidFill>
              <a:srgbClr val="E2554F"/>
            </a:solidFill>
            <a:prstDash val="solid"/>
          </a:ln>
        </p:spPr>
      </p:sp>
      <p:sp>
        <p:nvSpPr>
          <p:cNvPr id="26" name="Shape 20"/>
          <p:cNvSpPr/>
          <p:nvPr/>
        </p:nvSpPr>
        <p:spPr>
          <a:xfrm>
            <a:off x="7205472" y="3730752"/>
            <a:ext cx="73152" cy="73152"/>
          </a:xfrm>
          <a:prstGeom prst="ellipse">
            <a:avLst/>
          </a:prstGeom>
          <a:solidFill>
            <a:srgbClr val="F7A400"/>
          </a:solidFill>
          <a:ln w="12700">
            <a:solidFill>
              <a:srgbClr val="F7A400"/>
            </a:solidFill>
            <a:prstDash val="solid"/>
          </a:ln>
        </p:spPr>
      </p:sp>
      <p:sp>
        <p:nvSpPr>
          <p:cNvPr id="27" name="Shape 21"/>
          <p:cNvSpPr/>
          <p:nvPr/>
        </p:nvSpPr>
        <p:spPr>
          <a:xfrm>
            <a:off x="7342632" y="3730752"/>
            <a:ext cx="73152" cy="73152"/>
          </a:xfrm>
          <a:prstGeom prst="ellipse">
            <a:avLst/>
          </a:prstGeom>
          <a:solidFill>
            <a:srgbClr val="2EB872"/>
          </a:solidFill>
          <a:ln w="12700">
            <a:solidFill>
              <a:srgbClr val="2EB872"/>
            </a:solidFill>
            <a:prstDash val="solid"/>
          </a:ln>
        </p:spPr>
      </p:sp>
      <p:pic>
        <p:nvPicPr>
          <p:cNvPr id="28" name="Reports" descr="Reports">    </p:cNvPr>
          <p:cNvPicPr>
            <a:picLocks noChangeAspect="1"/>
          </p:cNvPicPr>
          <p:nvPr/>
        </p:nvPicPr>
        <p:blipFill>
          <a:blip r:embed="rId5"/>
          <a:stretch>
            <a:fillRect/>
          </a:stretch>
        </p:blipFill>
        <p:spPr>
          <a:xfrm>
            <a:off x="6976872" y="3877056"/>
            <a:ext cx="3602736" cy="2627746"/>
          </a:xfrm>
          <a:prstGeom prst="rect">
            <a:avLst/>
          </a:prstGeom>
        </p:spPr>
      </p:pic>
      <p:sp>
        <p:nvSpPr>
          <p:cNvPr id="25" name="Slide Number Placeholder 0"/>
          <p:cNvSpPr>
            <a:spLocks noGrp="1"/>
          </p:cNvSpPr>
          <p:nvPr>
            <p:ph type="sldNum" sz="quarter" idx="4294967295"/>
          </p:nvPr>
        </p:nvSpPr>
        <p:spPr>
          <a:xfrm>
            <a:off x="11201400"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body" hasCustomPrompt="1"/>
          </p:nvPr>
        </p:nvSpPr>
        <p:spPr>
          <a:xfrm>
            <a:off x="804672" y="384048"/>
            <a:ext cx="54864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COMMUNICATION</a:t>
            </a:r>
            <a:endParaRPr lang="en-US" sz="1200" dirty="0"/>
          </a:p>
        </p:txBody>
      </p:sp>
      <p:sp>
        <p:nvSpPr>
          <p:cNvPr id="3" name="Text 0"/>
          <p:cNvSpPr/>
          <p:nvPr>
            <p:ph idx="102" type="title" hasCustomPrompt="1"/>
          </p:nvPr>
        </p:nvSpPr>
        <p:spPr>
          <a:xfrm>
            <a:off x="548640" y="749808"/>
            <a:ext cx="4800600" cy="137160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Replace the WhatsApp chaos</a:t>
            </a:r>
            <a:endParaRPr lang="en-US" sz="3000" dirty="0"/>
          </a:p>
        </p:txBody>
      </p:sp>
      <p:sp>
        <p:nvSpPr>
          <p:cNvPr id="4" name="Text 2"/>
          <p:cNvSpPr txBox="1"/>
          <p:nvPr/>
        </p:nvSpPr>
        <p:spPr>
          <a:xfrm>
            <a:off x="548640" y="2194560"/>
            <a:ext cx="4709160" cy="685800"/>
          </a:xfrm>
          <a:prstGeom prst="rect">
            <a:avLst/>
          </a:prstGeom>
          <a:noFill/>
          <a:ln/>
        </p:spPr>
        <p:txBody>
          <a:bodyPr wrap="square" lIns="0" tIns="0" rIns="0" bIns="0" rtlCol="0" anchor="t"/>
          <a:lstStyle/>
          <a:p>
            <a:pPr indent="0" marL="0">
              <a:buNone/>
            </a:pPr>
            <a:r>
              <a:rPr lang="en-US" sz="1500" dirty="0">
                <a:solidFill>
                  <a:schemeClr val="accent4"/>
                </a:solidFill>
              </a:rPr>
              <a:t>The right message to the right parents, and you know who has read it.</a:t>
            </a:r>
            <a:endParaRPr lang="en-US" sz="1500" dirty="0"/>
          </a:p>
        </p:txBody>
      </p:sp>
      <p:sp>
        <p:nvSpPr>
          <p:cNvPr id="5" name="Shape 3"/>
          <p:cNvSpPr/>
          <p:nvPr/>
        </p:nvSpPr>
        <p:spPr>
          <a:xfrm>
            <a:off x="548640" y="2971800"/>
            <a:ext cx="402336" cy="402336"/>
          </a:xfrm>
          <a:prstGeom prst="ellipse">
            <a:avLst/>
          </a:prstGeom>
          <a:solidFill>
            <a:srgbClr val="2F6FEB"/>
          </a:solidFill>
          <a:ln w="12700">
            <a:solidFill>
              <a:srgbClr val="2F6FEB"/>
            </a:solidFill>
            <a:prstDash val="solid"/>
          </a:ln>
        </p:spPr>
      </p:sp>
      <p:pic>
        <p:nvPicPr>
          <p:cNvPr id="6" name="Image 0" descr="preencoded.png">    </p:cNvPr>
          <p:cNvPicPr>
            <a:picLocks noChangeAspect="1"/>
          </p:cNvPicPr>
          <p:nvPr/>
        </p:nvPicPr>
        <p:blipFill>
          <a:blip r:embed="rId1"/>
          <a:stretch>
            <a:fillRect/>
          </a:stretch>
        </p:blipFill>
        <p:spPr>
          <a:xfrm>
            <a:off x="649224" y="3072384"/>
            <a:ext cx="201168" cy="201168"/>
          </a:xfrm>
          <a:prstGeom prst="rect">
            <a:avLst/>
          </a:prstGeom>
        </p:spPr>
      </p:pic>
      <p:sp>
        <p:nvSpPr>
          <p:cNvPr id="7" name="Text 4"/>
          <p:cNvSpPr txBox="1"/>
          <p:nvPr/>
        </p:nvSpPr>
        <p:spPr>
          <a:xfrm>
            <a:off x="1097280" y="2944368"/>
            <a:ext cx="4206240" cy="292608"/>
          </a:xfrm>
          <a:prstGeom prst="rect">
            <a:avLst/>
          </a:prstGeom>
          <a:noFill/>
          <a:ln/>
        </p:spPr>
        <p:txBody>
          <a:bodyPr wrap="square" lIns="0" tIns="0" rIns="0" bIns="0" rtlCol="0" anchor="t"/>
          <a:lstStyle/>
          <a:p>
            <a:pPr indent="0" marL="0">
              <a:buNone/>
            </a:pPr>
            <a:r>
              <a:rPr lang="en-US" sz="1500" b="1" dirty="0">
                <a:solidFill>
                  <a:schemeClr val="tx1"/>
                </a:solidFill>
              </a:rPr>
              <a:t>Notices with read receipts</a:t>
            </a:r>
            <a:endParaRPr lang="en-US" sz="1500" dirty="0"/>
          </a:p>
        </p:txBody>
      </p:sp>
      <p:sp>
        <p:nvSpPr>
          <p:cNvPr id="8" name="Text 5"/>
          <p:cNvSpPr txBox="1"/>
          <p:nvPr/>
        </p:nvSpPr>
        <p:spPr>
          <a:xfrm>
            <a:off x="1097280" y="3246120"/>
            <a:ext cx="4206240" cy="457200"/>
          </a:xfrm>
          <a:prstGeom prst="rect">
            <a:avLst/>
          </a:prstGeom>
          <a:noFill/>
          <a:ln/>
        </p:spPr>
        <p:txBody>
          <a:bodyPr wrap="square" lIns="0" tIns="0" rIns="0" bIns="0" rtlCol="0" anchor="t"/>
          <a:lstStyle/>
          <a:p>
            <a:pPr indent="0" marL="0">
              <a:buNone/>
            </a:pPr>
            <a:r>
              <a:rPr lang="en-US" sz="1300" dirty="0">
                <a:solidFill>
                  <a:schemeClr val="accent4"/>
                </a:solidFill>
              </a:rPr>
              <a:t>To the whole school, one class or only parents. Schedule them in advance.</a:t>
            </a:r>
            <a:endParaRPr lang="en-US" sz="1300" dirty="0"/>
          </a:p>
        </p:txBody>
      </p:sp>
      <p:sp>
        <p:nvSpPr>
          <p:cNvPr id="9" name="Shape 6"/>
          <p:cNvSpPr/>
          <p:nvPr/>
        </p:nvSpPr>
        <p:spPr>
          <a:xfrm>
            <a:off x="548640" y="3758184"/>
            <a:ext cx="402336" cy="402336"/>
          </a:xfrm>
          <a:prstGeom prst="ellipse">
            <a:avLst/>
          </a:prstGeom>
          <a:solidFill>
            <a:srgbClr val="2F6FEB"/>
          </a:solidFill>
          <a:ln w="12700">
            <a:solidFill>
              <a:srgbClr val="2F6FEB"/>
            </a:solidFill>
            <a:prstDash val="solid"/>
          </a:ln>
        </p:spPr>
      </p:sp>
      <p:pic>
        <p:nvPicPr>
          <p:cNvPr id="10" name="Image 1" descr="preencoded.png">    </p:cNvPr>
          <p:cNvPicPr>
            <a:picLocks noChangeAspect="1"/>
          </p:cNvPicPr>
          <p:nvPr/>
        </p:nvPicPr>
        <p:blipFill>
          <a:blip r:embed="rId2"/>
          <a:stretch>
            <a:fillRect/>
          </a:stretch>
        </p:blipFill>
        <p:spPr>
          <a:xfrm>
            <a:off x="649224" y="3858768"/>
            <a:ext cx="201168" cy="201168"/>
          </a:xfrm>
          <a:prstGeom prst="rect">
            <a:avLst/>
          </a:prstGeom>
        </p:spPr>
      </p:pic>
      <p:sp>
        <p:nvSpPr>
          <p:cNvPr id="11" name="Text 7"/>
          <p:cNvSpPr txBox="1"/>
          <p:nvPr/>
        </p:nvSpPr>
        <p:spPr>
          <a:xfrm>
            <a:off x="1097280" y="3730752"/>
            <a:ext cx="4206240" cy="292608"/>
          </a:xfrm>
          <a:prstGeom prst="rect">
            <a:avLst/>
          </a:prstGeom>
          <a:noFill/>
          <a:ln/>
        </p:spPr>
        <p:txBody>
          <a:bodyPr wrap="square" lIns="0" tIns="0" rIns="0" bIns="0" rtlCol="0" anchor="t"/>
          <a:lstStyle/>
          <a:p>
            <a:pPr indent="0" marL="0">
              <a:buNone/>
            </a:pPr>
            <a:r>
              <a:rPr lang="en-US" sz="1500" b="1" dirty="0">
                <a:solidFill>
                  <a:schemeClr val="tx1"/>
                </a:solidFill>
              </a:rPr>
              <a:t>Parent–teacher meetings by video</a:t>
            </a:r>
            <a:endParaRPr lang="en-US" sz="1500" dirty="0"/>
          </a:p>
        </p:txBody>
      </p:sp>
      <p:sp>
        <p:nvSpPr>
          <p:cNvPr id="12" name="Text 8"/>
          <p:cNvSpPr txBox="1"/>
          <p:nvPr/>
        </p:nvSpPr>
        <p:spPr>
          <a:xfrm>
            <a:off x="1097280" y="4032504"/>
            <a:ext cx="4206240" cy="457200"/>
          </a:xfrm>
          <a:prstGeom prst="rect">
            <a:avLst/>
          </a:prstGeom>
          <a:noFill/>
          <a:ln/>
        </p:spPr>
        <p:txBody>
          <a:bodyPr wrap="square" lIns="0" tIns="0" rIns="0" bIns="0" rtlCol="0" anchor="t"/>
          <a:lstStyle/>
          <a:p>
            <a:pPr indent="0" marL="0">
              <a:buNone/>
            </a:pPr>
            <a:r>
              <a:rPr lang="en-US" sz="1300" dirty="0">
                <a:solidFill>
                  <a:schemeClr val="accent4"/>
                </a:solidFill>
              </a:rPr>
              <a:t>Book a meeting; both sides get a reminder and a join link.</a:t>
            </a:r>
            <a:endParaRPr lang="en-US" sz="1300" dirty="0"/>
          </a:p>
        </p:txBody>
      </p:sp>
      <p:sp>
        <p:nvSpPr>
          <p:cNvPr id="13" name="Shape 9"/>
          <p:cNvSpPr/>
          <p:nvPr/>
        </p:nvSpPr>
        <p:spPr>
          <a:xfrm>
            <a:off x="548640" y="4544568"/>
            <a:ext cx="402336" cy="402336"/>
          </a:xfrm>
          <a:prstGeom prst="ellipse">
            <a:avLst/>
          </a:prstGeom>
          <a:solidFill>
            <a:srgbClr val="2F6FEB"/>
          </a:solidFill>
          <a:ln w="12700">
            <a:solidFill>
              <a:srgbClr val="2F6FEB"/>
            </a:solidFill>
            <a:prstDash val="solid"/>
          </a:ln>
        </p:spPr>
      </p:sp>
      <p:pic>
        <p:nvPicPr>
          <p:cNvPr id="14" name="Image 2" descr="preencoded.png">    </p:cNvPr>
          <p:cNvPicPr>
            <a:picLocks noChangeAspect="1"/>
          </p:cNvPicPr>
          <p:nvPr/>
        </p:nvPicPr>
        <p:blipFill>
          <a:blip r:embed="rId3"/>
          <a:stretch>
            <a:fillRect/>
          </a:stretch>
        </p:blipFill>
        <p:spPr>
          <a:xfrm>
            <a:off x="649224" y="4645152"/>
            <a:ext cx="201168" cy="201168"/>
          </a:xfrm>
          <a:prstGeom prst="rect">
            <a:avLst/>
          </a:prstGeom>
        </p:spPr>
      </p:pic>
      <p:sp>
        <p:nvSpPr>
          <p:cNvPr id="15" name="Text 10"/>
          <p:cNvSpPr txBox="1"/>
          <p:nvPr/>
        </p:nvSpPr>
        <p:spPr>
          <a:xfrm>
            <a:off x="1097280" y="4517136"/>
            <a:ext cx="4206240" cy="292608"/>
          </a:xfrm>
          <a:prstGeom prst="rect">
            <a:avLst/>
          </a:prstGeom>
          <a:noFill/>
          <a:ln/>
        </p:spPr>
        <p:txBody>
          <a:bodyPr wrap="square" lIns="0" tIns="0" rIns="0" bIns="0" rtlCol="0" anchor="t"/>
          <a:lstStyle/>
          <a:p>
            <a:pPr indent="0" marL="0">
              <a:buNone/>
            </a:pPr>
            <a:r>
              <a:rPr lang="en-US" sz="1500" b="1" dirty="0">
                <a:solidFill>
                  <a:schemeClr val="tx1"/>
                </a:solidFill>
              </a:rPr>
              <a:t>No messages at midnight</a:t>
            </a:r>
            <a:endParaRPr lang="en-US" sz="1500" dirty="0"/>
          </a:p>
        </p:txBody>
      </p:sp>
      <p:sp>
        <p:nvSpPr>
          <p:cNvPr id="16" name="Text 11"/>
          <p:cNvSpPr txBox="1"/>
          <p:nvPr/>
        </p:nvSpPr>
        <p:spPr>
          <a:xfrm>
            <a:off x="1097280" y="4818888"/>
            <a:ext cx="4206240" cy="457200"/>
          </a:xfrm>
          <a:prstGeom prst="rect">
            <a:avLst/>
          </a:prstGeom>
          <a:noFill/>
          <a:ln/>
        </p:spPr>
        <p:txBody>
          <a:bodyPr wrap="square" lIns="0" tIns="0" rIns="0" bIns="0" rtlCol="0" anchor="t"/>
          <a:lstStyle/>
          <a:p>
            <a:pPr indent="0" marL="0">
              <a:buNone/>
            </a:pPr>
            <a:r>
              <a:rPr lang="en-US" sz="1300" dirty="0">
                <a:solidFill>
                  <a:schemeClr val="accent4"/>
                </a:solidFill>
              </a:rPr>
              <a:t>Quiet hours hold alerts until morning. You choose which alerts go out.</a:t>
            </a:r>
            <a:endParaRPr lang="en-US" sz="1300" dirty="0"/>
          </a:p>
        </p:txBody>
      </p:sp>
      <p:sp>
        <p:nvSpPr>
          <p:cNvPr id="17" name="Result"/>
          <p:cNvSpPr/>
          <p:nvPr/>
        </p:nvSpPr>
        <p:spPr>
          <a:xfrm>
            <a:off x="548640" y="5440680"/>
            <a:ext cx="4709160" cy="685800"/>
          </a:xfrm>
          <a:prstGeom prst="roundRect">
            <a:avLst>
              <a:gd name="adj" fmla="val 13333"/>
            </a:avLst>
          </a:prstGeom>
          <a:solidFill>
            <a:srgbClr val="FFF4DB"/>
          </a:solidFill>
          <a:ln w="12700">
            <a:solidFill>
              <a:srgbClr val="FFF4DB"/>
            </a:solidFill>
            <a:prstDash val="solid"/>
          </a:ln>
        </p:spPr>
      </p:sp>
      <p:sp>
        <p:nvSpPr>
          <p:cNvPr id="18" name="Text 13"/>
          <p:cNvSpPr txBox="1"/>
          <p:nvPr/>
        </p:nvSpPr>
        <p:spPr>
          <a:xfrm>
            <a:off x="731520" y="5468112"/>
            <a:ext cx="4434840" cy="640080"/>
          </a:xfrm>
          <a:prstGeom prst="rect">
            <a:avLst/>
          </a:prstGeom>
          <a:noFill/>
          <a:ln/>
        </p:spPr>
        <p:txBody>
          <a:bodyPr wrap="square" lIns="0" tIns="0" rIns="0" bIns="0" rtlCol="0" anchor="ctr"/>
          <a:lstStyle/>
          <a:p>
            <a:pPr indent="0" marL="0">
              <a:buNone/>
            </a:pPr>
            <a:r>
              <a:rPr lang="en-US" sz="1100" b="1" spc="100" kern="0" dirty="0">
                <a:solidFill>
                  <a:srgbClr val="A06A00"/>
                </a:solidFill>
              </a:rPr>
              <a:t>WHAT YOU GET  </a:t>
            </a:r>
            <a:pPr indent="0" marL="0">
              <a:buNone/>
            </a:pPr>
            <a:r>
              <a:rPr lang="en-US" sz="1400" b="1" dirty="0">
                <a:solidFill>
                  <a:srgbClr val="0B1530"/>
                </a:solidFill>
              </a:rPr>
              <a:t>Organised, professional communication parents trust.</a:t>
            </a:r>
            <a:endParaRPr lang="en-US" sz="1100" dirty="0"/>
          </a:p>
        </p:txBody>
      </p:sp>
      <p:sp>
        <p:nvSpPr>
          <p:cNvPr id="19" name="Notices window"/>
          <p:cNvSpPr/>
          <p:nvPr/>
        </p:nvSpPr>
        <p:spPr>
          <a:xfrm>
            <a:off x="5943600" y="822960"/>
            <a:ext cx="4937760" cy="2682232"/>
          </a:xfrm>
          <a:prstGeom prst="roundRect">
            <a:avLst>
              <a:gd name="adj" fmla="val 2386"/>
            </a:avLst>
          </a:prstGeom>
          <a:solidFill>
            <a:srgbClr val="FFFFFF"/>
          </a:solidFill>
          <a:ln w="9525">
            <a:solidFill>
              <a:srgbClr val="DCE3EF"/>
            </a:solidFill>
            <a:prstDash val="solid"/>
          </a:ln>
          <a:effectLst>
            <a:outerShdw sx="100000" sy="100000" kx="0" ky="0" algn="bl" rotWithShape="0" blurRad="177800" dist="50800" dir="5400000">
              <a:srgbClr val="0B1530">
                <a:alpha val="20000"/>
              </a:srgbClr>
            </a:outerShdw>
          </a:effectLst>
        </p:spPr>
      </p:sp>
      <p:sp>
        <p:nvSpPr>
          <p:cNvPr id="20" name="Shape 15"/>
          <p:cNvSpPr/>
          <p:nvPr/>
        </p:nvSpPr>
        <p:spPr>
          <a:xfrm>
            <a:off x="6062472" y="896112"/>
            <a:ext cx="73152" cy="73152"/>
          </a:xfrm>
          <a:prstGeom prst="ellipse">
            <a:avLst/>
          </a:prstGeom>
          <a:solidFill>
            <a:srgbClr val="E2554F"/>
          </a:solidFill>
          <a:ln w="12700">
            <a:solidFill>
              <a:srgbClr val="E2554F"/>
            </a:solidFill>
            <a:prstDash val="solid"/>
          </a:ln>
        </p:spPr>
      </p:sp>
      <p:sp>
        <p:nvSpPr>
          <p:cNvPr id="21" name="Shape 16"/>
          <p:cNvSpPr/>
          <p:nvPr/>
        </p:nvSpPr>
        <p:spPr>
          <a:xfrm>
            <a:off x="6199632" y="896112"/>
            <a:ext cx="73152" cy="73152"/>
          </a:xfrm>
          <a:prstGeom prst="ellipse">
            <a:avLst/>
          </a:prstGeom>
          <a:solidFill>
            <a:srgbClr val="F7A400"/>
          </a:solidFill>
          <a:ln w="12700">
            <a:solidFill>
              <a:srgbClr val="F7A400"/>
            </a:solidFill>
            <a:prstDash val="solid"/>
          </a:ln>
        </p:spPr>
      </p:sp>
      <p:sp>
        <p:nvSpPr>
          <p:cNvPr id="22" name="Shape 17"/>
          <p:cNvSpPr/>
          <p:nvPr/>
        </p:nvSpPr>
        <p:spPr>
          <a:xfrm>
            <a:off x="6336792" y="896112"/>
            <a:ext cx="73152" cy="73152"/>
          </a:xfrm>
          <a:prstGeom prst="ellipse">
            <a:avLst/>
          </a:prstGeom>
          <a:solidFill>
            <a:srgbClr val="2EB872"/>
          </a:solidFill>
          <a:ln w="12700">
            <a:solidFill>
              <a:srgbClr val="2EB872"/>
            </a:solidFill>
            <a:prstDash val="solid"/>
          </a:ln>
        </p:spPr>
      </p:sp>
      <p:pic>
        <p:nvPicPr>
          <p:cNvPr id="23" name="Notices" descr="Notices">    </p:cNvPr>
          <p:cNvPicPr>
            <a:picLocks noChangeAspect="1"/>
          </p:cNvPicPr>
          <p:nvPr/>
        </p:nvPicPr>
        <p:blipFill>
          <a:blip r:embed="rId4"/>
          <a:stretch>
            <a:fillRect/>
          </a:stretch>
        </p:blipFill>
        <p:spPr>
          <a:xfrm>
            <a:off x="5971032" y="1042416"/>
            <a:ext cx="4882896" cy="2435344"/>
          </a:xfrm>
          <a:prstGeom prst="rect">
            <a:avLst/>
          </a:prstGeom>
        </p:spPr>
      </p:pic>
      <p:sp>
        <p:nvSpPr>
          <p:cNvPr id="24" name="Parent messages window"/>
          <p:cNvSpPr/>
          <p:nvPr/>
        </p:nvSpPr>
        <p:spPr>
          <a:xfrm>
            <a:off x="6629400" y="3520440"/>
            <a:ext cx="4663440" cy="2836332"/>
          </a:xfrm>
          <a:prstGeom prst="roundRect">
            <a:avLst>
              <a:gd name="adj" fmla="val 2257"/>
            </a:avLst>
          </a:prstGeom>
          <a:solidFill>
            <a:srgbClr val="FFFFFF"/>
          </a:solidFill>
          <a:ln w="9525">
            <a:solidFill>
              <a:srgbClr val="DCE3EF"/>
            </a:solidFill>
            <a:prstDash val="solid"/>
          </a:ln>
          <a:effectLst>
            <a:outerShdw sx="100000" sy="100000" kx="0" ky="0" algn="bl" rotWithShape="0" blurRad="177800" dist="50800" dir="5400000">
              <a:srgbClr val="0B1530">
                <a:alpha val="20000"/>
              </a:srgbClr>
            </a:outerShdw>
          </a:effectLst>
        </p:spPr>
      </p:sp>
      <p:sp>
        <p:nvSpPr>
          <p:cNvPr id="25" name="Shape 19"/>
          <p:cNvSpPr/>
          <p:nvPr/>
        </p:nvSpPr>
        <p:spPr>
          <a:xfrm>
            <a:off x="6748272" y="3593592"/>
            <a:ext cx="73152" cy="73152"/>
          </a:xfrm>
          <a:prstGeom prst="ellipse">
            <a:avLst/>
          </a:prstGeom>
          <a:solidFill>
            <a:srgbClr val="E2554F"/>
          </a:solidFill>
          <a:ln w="12700">
            <a:solidFill>
              <a:srgbClr val="E2554F"/>
            </a:solidFill>
            <a:prstDash val="solid"/>
          </a:ln>
        </p:spPr>
      </p:sp>
      <p:sp>
        <p:nvSpPr>
          <p:cNvPr id="26" name="Shape 20"/>
          <p:cNvSpPr/>
          <p:nvPr/>
        </p:nvSpPr>
        <p:spPr>
          <a:xfrm>
            <a:off x="6885432" y="3593592"/>
            <a:ext cx="73152" cy="73152"/>
          </a:xfrm>
          <a:prstGeom prst="ellipse">
            <a:avLst/>
          </a:prstGeom>
          <a:solidFill>
            <a:srgbClr val="F7A400"/>
          </a:solidFill>
          <a:ln w="12700">
            <a:solidFill>
              <a:srgbClr val="F7A400"/>
            </a:solidFill>
            <a:prstDash val="solid"/>
          </a:ln>
        </p:spPr>
      </p:sp>
      <p:sp>
        <p:nvSpPr>
          <p:cNvPr id="27" name="Shape 21"/>
          <p:cNvSpPr/>
          <p:nvPr/>
        </p:nvSpPr>
        <p:spPr>
          <a:xfrm>
            <a:off x="7022592" y="3593592"/>
            <a:ext cx="73152" cy="73152"/>
          </a:xfrm>
          <a:prstGeom prst="ellipse">
            <a:avLst/>
          </a:prstGeom>
          <a:solidFill>
            <a:srgbClr val="2EB872"/>
          </a:solidFill>
          <a:ln w="12700">
            <a:solidFill>
              <a:srgbClr val="2EB872"/>
            </a:solidFill>
            <a:prstDash val="solid"/>
          </a:ln>
        </p:spPr>
      </p:sp>
      <p:pic>
        <p:nvPicPr>
          <p:cNvPr id="28" name="Parent messages" descr="Parent messages">    </p:cNvPr>
          <p:cNvPicPr>
            <a:picLocks noChangeAspect="1"/>
          </p:cNvPicPr>
          <p:nvPr/>
        </p:nvPicPr>
        <p:blipFill>
          <a:blip r:embed="rId5"/>
          <a:stretch>
            <a:fillRect/>
          </a:stretch>
        </p:blipFill>
        <p:spPr>
          <a:xfrm>
            <a:off x="6656832" y="3739896"/>
            <a:ext cx="4608576" cy="2589444"/>
          </a:xfrm>
          <a:prstGeom prst="rect">
            <a:avLst/>
          </a:prstGeom>
        </p:spPr>
      </p:pic>
      <p:sp>
        <p:nvSpPr>
          <p:cNvPr id="25" name="Slide Number Placeholder 0"/>
          <p:cNvSpPr>
            <a:spLocks noGrp="1"/>
          </p:cNvSpPr>
          <p:nvPr>
            <p:ph type="sldNum" sz="quarter" idx="4294967295"/>
          </p:nvPr>
        </p:nvSpPr>
        <p:spPr>
          <a:xfrm>
            <a:off x="11201400"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body" hasCustomPrompt="1"/>
          </p:nvPr>
        </p:nvSpPr>
        <p:spPr>
          <a:xfrm>
            <a:off x="804672" y="384048"/>
            <a:ext cx="54864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YOUR BRAND</a:t>
            </a:r>
            <a:endParaRPr lang="en-US" sz="1200" dirty="0"/>
          </a:p>
        </p:txBody>
      </p:sp>
      <p:sp>
        <p:nvSpPr>
          <p:cNvPr id="3" name="Text 0"/>
          <p:cNvSpPr/>
          <p:nvPr>
            <p:ph idx="102" type="title" hasCustomPrompt="1"/>
          </p:nvPr>
        </p:nvSpPr>
        <p:spPr>
          <a:xfrm>
            <a:off x="548640" y="749808"/>
            <a:ext cx="4800600" cy="137160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Your school's name on everything</a:t>
            </a:r>
            <a:endParaRPr lang="en-US" sz="3000" dirty="0"/>
          </a:p>
        </p:txBody>
      </p:sp>
      <p:sp>
        <p:nvSpPr>
          <p:cNvPr id="4" name="Text 2"/>
          <p:cNvSpPr txBox="1"/>
          <p:nvPr/>
        </p:nvSpPr>
        <p:spPr>
          <a:xfrm>
            <a:off x="548640" y="2194560"/>
            <a:ext cx="4709160" cy="685800"/>
          </a:xfrm>
          <a:prstGeom prst="rect">
            <a:avLst/>
          </a:prstGeom>
          <a:noFill/>
          <a:ln/>
        </p:spPr>
        <p:txBody>
          <a:bodyPr wrap="square" lIns="0" tIns="0" rIns="0" bIns="0" rtlCol="0" anchor="t"/>
          <a:lstStyle/>
          <a:p>
            <a:pPr indent="0" marL="0">
              <a:buNone/>
            </a:pPr>
            <a:r>
              <a:rPr lang="en-US" sz="1500" dirty="0">
                <a:solidFill>
                  <a:schemeClr val="accent4"/>
                </a:solidFill>
              </a:rPr>
              <a:t>Parents see your school, not ours. A modern image that helps admissions.</a:t>
            </a:r>
            <a:endParaRPr lang="en-US" sz="1500" dirty="0"/>
          </a:p>
        </p:txBody>
      </p:sp>
      <p:sp>
        <p:nvSpPr>
          <p:cNvPr id="5" name="Shape 3"/>
          <p:cNvSpPr/>
          <p:nvPr/>
        </p:nvSpPr>
        <p:spPr>
          <a:xfrm>
            <a:off x="548640" y="2971800"/>
            <a:ext cx="402336" cy="402336"/>
          </a:xfrm>
          <a:prstGeom prst="ellipse">
            <a:avLst/>
          </a:prstGeom>
          <a:solidFill>
            <a:srgbClr val="2F6FEB"/>
          </a:solidFill>
          <a:ln w="12700">
            <a:solidFill>
              <a:srgbClr val="2F6FEB"/>
            </a:solidFill>
            <a:prstDash val="solid"/>
          </a:ln>
        </p:spPr>
      </p:sp>
      <p:pic>
        <p:nvPicPr>
          <p:cNvPr id="6" name="Image 0" descr="preencoded.png">    </p:cNvPr>
          <p:cNvPicPr>
            <a:picLocks noChangeAspect="1"/>
          </p:cNvPicPr>
          <p:nvPr/>
        </p:nvPicPr>
        <p:blipFill>
          <a:blip r:embed="rId1"/>
          <a:stretch>
            <a:fillRect/>
          </a:stretch>
        </p:blipFill>
        <p:spPr>
          <a:xfrm>
            <a:off x="649224" y="3072384"/>
            <a:ext cx="201168" cy="201168"/>
          </a:xfrm>
          <a:prstGeom prst="rect">
            <a:avLst/>
          </a:prstGeom>
        </p:spPr>
      </p:pic>
      <p:sp>
        <p:nvSpPr>
          <p:cNvPr id="7" name="Text 4"/>
          <p:cNvSpPr txBox="1"/>
          <p:nvPr/>
        </p:nvSpPr>
        <p:spPr>
          <a:xfrm>
            <a:off x="1097280" y="2944368"/>
            <a:ext cx="4206240" cy="292608"/>
          </a:xfrm>
          <a:prstGeom prst="rect">
            <a:avLst/>
          </a:prstGeom>
          <a:noFill/>
          <a:ln/>
        </p:spPr>
        <p:txBody>
          <a:bodyPr wrap="square" lIns="0" tIns="0" rIns="0" bIns="0" rtlCol="0" anchor="t"/>
          <a:lstStyle/>
          <a:p>
            <a:pPr indent="0" marL="0">
              <a:buNone/>
            </a:pPr>
            <a:r>
              <a:rPr lang="en-US" sz="1500" b="1" dirty="0">
                <a:solidFill>
                  <a:schemeClr val="tx1"/>
                </a:solidFill>
              </a:rPr>
              <a:t>Your logo and colours</a:t>
            </a:r>
            <a:endParaRPr lang="en-US" sz="1500" dirty="0"/>
          </a:p>
        </p:txBody>
      </p:sp>
      <p:sp>
        <p:nvSpPr>
          <p:cNvPr id="8" name="Text 5"/>
          <p:cNvSpPr txBox="1"/>
          <p:nvPr/>
        </p:nvSpPr>
        <p:spPr>
          <a:xfrm>
            <a:off x="1097280" y="3246120"/>
            <a:ext cx="4206240" cy="457200"/>
          </a:xfrm>
          <a:prstGeom prst="rect">
            <a:avLst/>
          </a:prstGeom>
          <a:noFill/>
          <a:ln/>
        </p:spPr>
        <p:txBody>
          <a:bodyPr wrap="square" lIns="0" tIns="0" rIns="0" bIns="0" rtlCol="0" anchor="t"/>
          <a:lstStyle/>
          <a:p>
            <a:pPr indent="0" marL="0">
              <a:buNone/>
            </a:pPr>
            <a:r>
              <a:rPr lang="en-US" sz="1300" dirty="0">
                <a:solidFill>
                  <a:schemeClr val="accent4"/>
                </a:solidFill>
              </a:rPr>
              <a:t>On the app, the website, receipts, report cards and ID cards.</a:t>
            </a:r>
            <a:endParaRPr lang="en-US" sz="1300" dirty="0"/>
          </a:p>
        </p:txBody>
      </p:sp>
      <p:sp>
        <p:nvSpPr>
          <p:cNvPr id="9" name="Shape 6"/>
          <p:cNvSpPr/>
          <p:nvPr/>
        </p:nvSpPr>
        <p:spPr>
          <a:xfrm>
            <a:off x="548640" y="3758184"/>
            <a:ext cx="402336" cy="402336"/>
          </a:xfrm>
          <a:prstGeom prst="ellipse">
            <a:avLst/>
          </a:prstGeom>
          <a:solidFill>
            <a:srgbClr val="2F6FEB"/>
          </a:solidFill>
          <a:ln w="12700">
            <a:solidFill>
              <a:srgbClr val="2F6FEB"/>
            </a:solidFill>
            <a:prstDash val="solid"/>
          </a:ln>
        </p:spPr>
      </p:sp>
      <p:pic>
        <p:nvPicPr>
          <p:cNvPr id="10" name="Image 1" descr="preencoded.png">    </p:cNvPr>
          <p:cNvPicPr>
            <a:picLocks noChangeAspect="1"/>
          </p:cNvPicPr>
          <p:nvPr/>
        </p:nvPicPr>
        <p:blipFill>
          <a:blip r:embed="rId2"/>
          <a:stretch>
            <a:fillRect/>
          </a:stretch>
        </p:blipFill>
        <p:spPr>
          <a:xfrm>
            <a:off x="649224" y="3858768"/>
            <a:ext cx="201168" cy="201168"/>
          </a:xfrm>
          <a:prstGeom prst="rect">
            <a:avLst/>
          </a:prstGeom>
        </p:spPr>
      </p:pic>
      <p:sp>
        <p:nvSpPr>
          <p:cNvPr id="11" name="Text 7"/>
          <p:cNvSpPr txBox="1"/>
          <p:nvPr/>
        </p:nvSpPr>
        <p:spPr>
          <a:xfrm>
            <a:off x="1097280" y="3730752"/>
            <a:ext cx="4206240" cy="292608"/>
          </a:xfrm>
          <a:prstGeom prst="rect">
            <a:avLst/>
          </a:prstGeom>
          <a:noFill/>
          <a:ln/>
        </p:spPr>
        <p:txBody>
          <a:bodyPr wrap="square" lIns="0" tIns="0" rIns="0" bIns="0" rtlCol="0" anchor="t"/>
          <a:lstStyle/>
          <a:p>
            <a:pPr indent="0" marL="0">
              <a:buNone/>
            </a:pPr>
            <a:r>
              <a:rPr lang="en-US" sz="1500" b="1" dirty="0">
                <a:solidFill>
                  <a:schemeClr val="tx1"/>
                </a:solidFill>
              </a:rPr>
              <a:t>Your own web address</a:t>
            </a:r>
            <a:endParaRPr lang="en-US" sz="1500" dirty="0"/>
          </a:p>
        </p:txBody>
      </p:sp>
      <p:sp>
        <p:nvSpPr>
          <p:cNvPr id="12" name="Text 8"/>
          <p:cNvSpPr txBox="1"/>
          <p:nvPr/>
        </p:nvSpPr>
        <p:spPr>
          <a:xfrm>
            <a:off x="1097280" y="4032504"/>
            <a:ext cx="4206240" cy="457200"/>
          </a:xfrm>
          <a:prstGeom prst="rect">
            <a:avLst/>
          </a:prstGeom>
          <a:noFill/>
          <a:ln/>
        </p:spPr>
        <p:txBody>
          <a:bodyPr wrap="square" lIns="0" tIns="0" rIns="0" bIns="0" rtlCol="0" anchor="t"/>
          <a:lstStyle/>
          <a:p>
            <a:pPr indent="0" marL="0">
              <a:buNone/>
            </a:pPr>
            <a:r>
              <a:rPr lang="en-US" sz="1300" dirty="0">
                <a:solidFill>
                  <a:schemeClr val="accent4"/>
                </a:solidFill>
              </a:rPr>
              <a:t>For example yourschool.bastaa.in, where staff and parents sign in.</a:t>
            </a:r>
            <a:endParaRPr lang="en-US" sz="1300" dirty="0"/>
          </a:p>
        </p:txBody>
      </p:sp>
      <p:sp>
        <p:nvSpPr>
          <p:cNvPr id="13" name="Shape 9"/>
          <p:cNvSpPr/>
          <p:nvPr/>
        </p:nvSpPr>
        <p:spPr>
          <a:xfrm>
            <a:off x="548640" y="4544568"/>
            <a:ext cx="402336" cy="402336"/>
          </a:xfrm>
          <a:prstGeom prst="ellipse">
            <a:avLst/>
          </a:prstGeom>
          <a:solidFill>
            <a:srgbClr val="2F6FEB"/>
          </a:solidFill>
          <a:ln w="12700">
            <a:solidFill>
              <a:srgbClr val="2F6FEB"/>
            </a:solidFill>
            <a:prstDash val="solid"/>
          </a:ln>
        </p:spPr>
      </p:sp>
      <p:pic>
        <p:nvPicPr>
          <p:cNvPr id="14" name="Image 2" descr="preencoded.png">    </p:cNvPr>
          <p:cNvPicPr>
            <a:picLocks noChangeAspect="1"/>
          </p:cNvPicPr>
          <p:nvPr/>
        </p:nvPicPr>
        <p:blipFill>
          <a:blip r:embed="rId3"/>
          <a:stretch>
            <a:fillRect/>
          </a:stretch>
        </p:blipFill>
        <p:spPr>
          <a:xfrm>
            <a:off x="649224" y="4645152"/>
            <a:ext cx="201168" cy="201168"/>
          </a:xfrm>
          <a:prstGeom prst="rect">
            <a:avLst/>
          </a:prstGeom>
        </p:spPr>
      </p:pic>
      <p:sp>
        <p:nvSpPr>
          <p:cNvPr id="15" name="Text 10"/>
          <p:cNvSpPr txBox="1"/>
          <p:nvPr/>
        </p:nvSpPr>
        <p:spPr>
          <a:xfrm>
            <a:off x="1097280" y="4517136"/>
            <a:ext cx="4206240" cy="292608"/>
          </a:xfrm>
          <a:prstGeom prst="rect">
            <a:avLst/>
          </a:prstGeom>
          <a:noFill/>
          <a:ln/>
        </p:spPr>
        <p:txBody>
          <a:bodyPr wrap="square" lIns="0" tIns="0" rIns="0" bIns="0" rtlCol="0" anchor="t"/>
          <a:lstStyle/>
          <a:p>
            <a:pPr indent="0" marL="0">
              <a:buNone/>
            </a:pPr>
            <a:r>
              <a:rPr lang="en-US" sz="1500" b="1" dirty="0">
                <a:solidFill>
                  <a:schemeClr val="tx1"/>
                </a:solidFill>
              </a:rPr>
              <a:t>Principal's signature on documents</a:t>
            </a:r>
            <a:endParaRPr lang="en-US" sz="1500" dirty="0"/>
          </a:p>
        </p:txBody>
      </p:sp>
      <p:sp>
        <p:nvSpPr>
          <p:cNvPr id="16" name="Text 11"/>
          <p:cNvSpPr txBox="1"/>
          <p:nvPr/>
        </p:nvSpPr>
        <p:spPr>
          <a:xfrm>
            <a:off x="1097280" y="4818888"/>
            <a:ext cx="4206240" cy="457200"/>
          </a:xfrm>
          <a:prstGeom prst="rect">
            <a:avLst/>
          </a:prstGeom>
          <a:noFill/>
          <a:ln/>
        </p:spPr>
        <p:txBody>
          <a:bodyPr wrap="square" lIns="0" tIns="0" rIns="0" bIns="0" rtlCol="0" anchor="t"/>
          <a:lstStyle/>
          <a:p>
            <a:pPr indent="0" marL="0">
              <a:buNone/>
            </a:pPr>
            <a:r>
              <a:rPr lang="en-US" sz="1300" dirty="0">
                <a:solidFill>
                  <a:schemeClr val="accent4"/>
                </a:solidFill>
              </a:rPr>
              <a:t>Report cards and receipts look official, every time.</a:t>
            </a:r>
            <a:endParaRPr lang="en-US" sz="1300" dirty="0"/>
          </a:p>
        </p:txBody>
      </p:sp>
      <p:sp>
        <p:nvSpPr>
          <p:cNvPr id="17" name="Result"/>
          <p:cNvSpPr/>
          <p:nvPr/>
        </p:nvSpPr>
        <p:spPr>
          <a:xfrm>
            <a:off x="548640" y="5440680"/>
            <a:ext cx="4709160" cy="685800"/>
          </a:xfrm>
          <a:prstGeom prst="roundRect">
            <a:avLst>
              <a:gd name="adj" fmla="val 13333"/>
            </a:avLst>
          </a:prstGeom>
          <a:solidFill>
            <a:srgbClr val="FFF4DB"/>
          </a:solidFill>
          <a:ln w="12700">
            <a:solidFill>
              <a:srgbClr val="FFF4DB"/>
            </a:solidFill>
            <a:prstDash val="solid"/>
          </a:ln>
        </p:spPr>
      </p:sp>
      <p:sp>
        <p:nvSpPr>
          <p:cNvPr id="18" name="Text 13"/>
          <p:cNvSpPr txBox="1"/>
          <p:nvPr/>
        </p:nvSpPr>
        <p:spPr>
          <a:xfrm>
            <a:off x="731520" y="5468112"/>
            <a:ext cx="4434840" cy="640080"/>
          </a:xfrm>
          <a:prstGeom prst="rect">
            <a:avLst/>
          </a:prstGeom>
          <a:noFill/>
          <a:ln/>
        </p:spPr>
        <p:txBody>
          <a:bodyPr wrap="square" lIns="0" tIns="0" rIns="0" bIns="0" rtlCol="0" anchor="ctr"/>
          <a:lstStyle/>
          <a:p>
            <a:pPr indent="0" marL="0">
              <a:buNone/>
            </a:pPr>
            <a:r>
              <a:rPr lang="en-US" sz="1100" b="1" spc="100" kern="0" dirty="0">
                <a:solidFill>
                  <a:srgbClr val="A06A00"/>
                </a:solidFill>
              </a:rPr>
              <a:t>WHAT YOU GET  </a:t>
            </a:r>
            <a:pPr indent="0" marL="0">
              <a:buNone/>
            </a:pPr>
            <a:r>
              <a:rPr lang="en-US" sz="1400" b="1" dirty="0">
                <a:solidFill>
                  <a:srgbClr val="0B1530"/>
                </a:solidFill>
              </a:rPr>
              <a:t>A school that looks as good as it teaches.</a:t>
            </a:r>
            <a:endParaRPr lang="en-US" sz="1100" dirty="0"/>
          </a:p>
        </p:txBody>
      </p:sp>
      <p:sp>
        <p:nvSpPr>
          <p:cNvPr id="19" name="Branding settings window"/>
          <p:cNvSpPr/>
          <p:nvPr/>
        </p:nvSpPr>
        <p:spPr>
          <a:xfrm>
            <a:off x="5897880" y="1463040"/>
            <a:ext cx="4480560" cy="2538766"/>
          </a:xfrm>
          <a:prstGeom prst="roundRect">
            <a:avLst>
              <a:gd name="adj" fmla="val 2521"/>
            </a:avLst>
          </a:prstGeom>
          <a:solidFill>
            <a:srgbClr val="FFFFFF"/>
          </a:solidFill>
          <a:ln w="9525">
            <a:solidFill>
              <a:srgbClr val="DCE3EF"/>
            </a:solidFill>
            <a:prstDash val="solid"/>
          </a:ln>
          <a:effectLst>
            <a:outerShdw sx="100000" sy="100000" kx="0" ky="0" algn="bl" rotWithShape="0" blurRad="177800" dist="50800" dir="5400000">
              <a:srgbClr val="0B1530">
                <a:alpha val="20000"/>
              </a:srgbClr>
            </a:outerShdw>
          </a:effectLst>
        </p:spPr>
      </p:sp>
      <p:sp>
        <p:nvSpPr>
          <p:cNvPr id="20" name="Shape 15"/>
          <p:cNvSpPr/>
          <p:nvPr/>
        </p:nvSpPr>
        <p:spPr>
          <a:xfrm>
            <a:off x="6016752" y="1536192"/>
            <a:ext cx="73152" cy="73152"/>
          </a:xfrm>
          <a:prstGeom prst="ellipse">
            <a:avLst/>
          </a:prstGeom>
          <a:solidFill>
            <a:srgbClr val="E2554F"/>
          </a:solidFill>
          <a:ln w="12700">
            <a:solidFill>
              <a:srgbClr val="E2554F"/>
            </a:solidFill>
            <a:prstDash val="solid"/>
          </a:ln>
        </p:spPr>
      </p:sp>
      <p:sp>
        <p:nvSpPr>
          <p:cNvPr id="21" name="Shape 16"/>
          <p:cNvSpPr/>
          <p:nvPr/>
        </p:nvSpPr>
        <p:spPr>
          <a:xfrm>
            <a:off x="6153912" y="1536192"/>
            <a:ext cx="73152" cy="73152"/>
          </a:xfrm>
          <a:prstGeom prst="ellipse">
            <a:avLst/>
          </a:prstGeom>
          <a:solidFill>
            <a:srgbClr val="F7A400"/>
          </a:solidFill>
          <a:ln w="12700">
            <a:solidFill>
              <a:srgbClr val="F7A400"/>
            </a:solidFill>
            <a:prstDash val="solid"/>
          </a:ln>
        </p:spPr>
      </p:sp>
      <p:sp>
        <p:nvSpPr>
          <p:cNvPr id="22" name="Shape 17"/>
          <p:cNvSpPr/>
          <p:nvPr/>
        </p:nvSpPr>
        <p:spPr>
          <a:xfrm>
            <a:off x="6291072" y="1536192"/>
            <a:ext cx="73152" cy="73152"/>
          </a:xfrm>
          <a:prstGeom prst="ellipse">
            <a:avLst/>
          </a:prstGeom>
          <a:solidFill>
            <a:srgbClr val="2EB872"/>
          </a:solidFill>
          <a:ln w="12700">
            <a:solidFill>
              <a:srgbClr val="2EB872"/>
            </a:solidFill>
            <a:prstDash val="solid"/>
          </a:ln>
        </p:spPr>
      </p:sp>
      <p:pic>
        <p:nvPicPr>
          <p:cNvPr id="23" name="Branding settings" descr="Branding settings">    </p:cNvPr>
          <p:cNvPicPr>
            <a:picLocks noChangeAspect="1"/>
          </p:cNvPicPr>
          <p:nvPr/>
        </p:nvPicPr>
        <p:blipFill>
          <a:blip r:embed="rId4"/>
          <a:stretch>
            <a:fillRect/>
          </a:stretch>
        </p:blipFill>
        <p:spPr>
          <a:xfrm>
            <a:off x="5925312" y="1682496"/>
            <a:ext cx="4425696" cy="2291878"/>
          </a:xfrm>
          <a:prstGeom prst="rect">
            <a:avLst/>
          </a:prstGeom>
        </p:spPr>
      </p:pic>
      <p:pic>
        <p:nvPicPr>
          <p:cNvPr id="24" name="Branded ID card" descr="ID card in school colours">    </p:cNvPr>
          <p:cNvPicPr>
            <a:picLocks noChangeAspect="1"/>
          </p:cNvPicPr>
          <p:nvPr/>
        </p:nvPicPr>
        <p:blipFill>
          <a:blip r:embed="rId5"/>
          <a:stretch>
            <a:fillRect/>
          </a:stretch>
        </p:blipFill>
        <p:spPr>
          <a:xfrm>
            <a:off x="9464040" y="2331720"/>
            <a:ext cx="2454203" cy="3840480"/>
          </a:xfrm>
          <a:prstGeom prst="rect">
            <a:avLst/>
          </a:prstGeom>
        </p:spPr>
      </p:pic>
      <p:sp>
        <p:nvSpPr>
          <p:cNvPr id="25" name="Slide Number Placeholder 0"/>
          <p:cNvSpPr>
            <a:spLocks noGrp="1"/>
          </p:cNvSpPr>
          <p:nvPr>
            <p:ph type="sldNum" sz="quarter" idx="4294967295"/>
          </p:nvPr>
        </p:nvSpPr>
        <p:spPr>
          <a:xfrm>
            <a:off x="11201400"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body" hasCustomPrompt="1"/>
          </p:nvPr>
        </p:nvSpPr>
        <p:spPr>
          <a:xfrm>
            <a:off x="804672" y="384048"/>
            <a:ext cx="54864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A DAY AT YOUR SCHOOL WITH BASTAA</a:t>
            </a:r>
            <a:endParaRPr lang="en-US" sz="1200" dirty="0"/>
          </a:p>
        </p:txBody>
      </p:sp>
      <p:sp>
        <p:nvSpPr>
          <p:cNvPr id="3" name="Text 0"/>
          <p:cNvSpPr/>
          <p:nvPr>
            <p:ph idx="102" type="title" hasCustomPrompt="1"/>
          </p:nvPr>
        </p:nvSpPr>
        <p:spPr>
          <a:xfrm>
            <a:off x="548640" y="749808"/>
            <a:ext cx="11064240" cy="73152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Here's what tomorrow could look like</a:t>
            </a:r>
            <a:endParaRPr lang="en-US" sz="3000" dirty="0"/>
          </a:p>
        </p:txBody>
      </p:sp>
      <p:sp>
        <p:nvSpPr>
          <p:cNvPr id="4" name="Shape 2"/>
          <p:cNvSpPr/>
          <p:nvPr/>
        </p:nvSpPr>
        <p:spPr>
          <a:xfrm>
            <a:off x="914400" y="2395728"/>
            <a:ext cx="10332720" cy="0"/>
          </a:xfrm>
          <a:prstGeom prst="line">
            <a:avLst/>
          </a:prstGeom>
          <a:noFill/>
          <a:ln w="31750">
            <a:solidFill>
              <a:srgbClr val="AFC6FA"/>
            </a:solidFill>
            <a:prstDash val="solid"/>
          </a:ln>
        </p:spPr>
      </p:sp>
      <p:sp>
        <p:nvSpPr>
          <p:cNvPr id="5" name="Shape 3"/>
          <p:cNvSpPr/>
          <p:nvPr/>
        </p:nvSpPr>
        <p:spPr>
          <a:xfrm>
            <a:off x="658368" y="2176272"/>
            <a:ext cx="1417320" cy="438912"/>
          </a:xfrm>
          <a:prstGeom prst="roundRect">
            <a:avLst>
              <a:gd name="adj" fmla="val 50000"/>
            </a:avLst>
          </a:prstGeom>
          <a:solidFill>
            <a:srgbClr val="2F6FEB"/>
          </a:solidFill>
          <a:ln w="25400">
            <a:solidFill>
              <a:srgbClr val="FFFFFF"/>
            </a:solidFill>
            <a:prstDash val="solid"/>
          </a:ln>
        </p:spPr>
      </p:sp>
      <p:sp>
        <p:nvSpPr>
          <p:cNvPr id="6" name="Text 4"/>
          <p:cNvSpPr txBox="1"/>
          <p:nvPr/>
        </p:nvSpPr>
        <p:spPr>
          <a:xfrm>
            <a:off x="658368" y="2176272"/>
            <a:ext cx="1417320" cy="438912"/>
          </a:xfrm>
          <a:prstGeom prst="rect">
            <a:avLst/>
          </a:prstGeom>
          <a:noFill/>
          <a:ln/>
        </p:spPr>
        <p:txBody>
          <a:bodyPr wrap="square" lIns="0" tIns="0" rIns="0" bIns="0" rtlCol="0" anchor="ctr"/>
          <a:lstStyle/>
          <a:p>
            <a:pPr algn="ctr" indent="0" marL="0">
              <a:buNone/>
            </a:pPr>
            <a:r>
              <a:rPr lang="en-US" sz="1500" b="1" dirty="0">
                <a:solidFill>
                  <a:schemeClr val="bg1"/>
                </a:solidFill>
              </a:rPr>
              <a:t>8:00</a:t>
            </a:r>
            <a:endParaRPr lang="en-US" sz="1500" dirty="0"/>
          </a:p>
        </p:txBody>
      </p:sp>
      <p:sp>
        <p:nvSpPr>
          <p:cNvPr id="7" name="Moment 8:00"/>
          <p:cNvSpPr/>
          <p:nvPr/>
        </p:nvSpPr>
        <p:spPr>
          <a:xfrm>
            <a:off x="548640" y="2880360"/>
            <a:ext cx="1691640" cy="2377440"/>
          </a:xfrm>
          <a:prstGeom prst="roundRect">
            <a:avLst>
              <a:gd name="adj" fmla="val 6486"/>
            </a:avLst>
          </a:prstGeom>
          <a:solidFill>
            <a:srgbClr val="F4F7FC"/>
          </a:solidFill>
          <a:ln w="12700">
            <a:solidFill>
              <a:srgbClr val="F4F7FC"/>
            </a:solidFill>
            <a:prstDash val="solid"/>
          </a:ln>
        </p:spPr>
      </p:sp>
      <p:sp>
        <p:nvSpPr>
          <p:cNvPr id="8" name="Shape 6"/>
          <p:cNvSpPr/>
          <p:nvPr/>
        </p:nvSpPr>
        <p:spPr>
          <a:xfrm>
            <a:off x="749808" y="3108960"/>
            <a:ext cx="475488" cy="475488"/>
          </a:xfrm>
          <a:prstGeom prst="ellipse">
            <a:avLst/>
          </a:prstGeom>
          <a:solidFill>
            <a:srgbClr val="EAF1FE"/>
          </a:solidFill>
          <a:ln w="12700">
            <a:solidFill>
              <a:srgbClr val="EAF1FE"/>
            </a:solidFill>
            <a:prstDash val="solid"/>
          </a:ln>
        </p:spPr>
      </p:sp>
      <p:pic>
        <p:nvPicPr>
          <p:cNvPr id="9" name="Image 0" descr="preencoded.png">    </p:cNvPr>
          <p:cNvPicPr>
            <a:picLocks noChangeAspect="1"/>
          </p:cNvPicPr>
          <p:nvPr/>
        </p:nvPicPr>
        <p:blipFill>
          <a:blip r:embed="rId1"/>
          <a:stretch>
            <a:fillRect/>
          </a:stretch>
        </p:blipFill>
        <p:spPr>
          <a:xfrm>
            <a:off x="868680" y="3227832"/>
            <a:ext cx="237744" cy="237744"/>
          </a:xfrm>
          <a:prstGeom prst="rect">
            <a:avLst/>
          </a:prstGeom>
        </p:spPr>
      </p:pic>
      <p:sp>
        <p:nvSpPr>
          <p:cNvPr id="10" name="Text 7"/>
          <p:cNvSpPr txBox="1"/>
          <p:nvPr/>
        </p:nvSpPr>
        <p:spPr>
          <a:xfrm>
            <a:off x="749808" y="3703320"/>
            <a:ext cx="1371600" cy="731520"/>
          </a:xfrm>
          <a:prstGeom prst="rect">
            <a:avLst/>
          </a:prstGeom>
          <a:noFill/>
          <a:ln/>
        </p:spPr>
        <p:txBody>
          <a:bodyPr wrap="square" lIns="0" tIns="0" rIns="0" bIns="0" rtlCol="0" anchor="t"/>
          <a:lstStyle/>
          <a:p>
            <a:pPr indent="0" marL="0">
              <a:buNone/>
            </a:pPr>
            <a:r>
              <a:rPr lang="en-US" sz="1500" b="1" dirty="0">
                <a:solidFill>
                  <a:schemeClr val="tx1"/>
                </a:solidFill>
              </a:rPr>
              <a:t>Teachers mark attendance</a:t>
            </a:r>
            <a:endParaRPr lang="en-US" sz="1500" dirty="0"/>
          </a:p>
        </p:txBody>
      </p:sp>
      <p:sp>
        <p:nvSpPr>
          <p:cNvPr id="11" name="Text 8"/>
          <p:cNvSpPr txBox="1"/>
          <p:nvPr/>
        </p:nvSpPr>
        <p:spPr>
          <a:xfrm>
            <a:off x="749808" y="4480560"/>
            <a:ext cx="1371600" cy="731520"/>
          </a:xfrm>
          <a:prstGeom prst="rect">
            <a:avLst/>
          </a:prstGeom>
          <a:noFill/>
          <a:ln/>
        </p:spPr>
        <p:txBody>
          <a:bodyPr wrap="square" lIns="0" tIns="0" rIns="0" bIns="0" rtlCol="0" anchor="t"/>
          <a:lstStyle/>
          <a:p>
            <a:pPr indent="0" marL="0">
              <a:buNone/>
            </a:pPr>
            <a:r>
              <a:rPr lang="en-US" sz="1200" dirty="0">
                <a:solidFill>
                  <a:schemeClr val="accent4"/>
                </a:solidFill>
              </a:rPr>
              <a:t>A few taps on the phone</a:t>
            </a:r>
            <a:endParaRPr lang="en-US" sz="1200" dirty="0"/>
          </a:p>
        </p:txBody>
      </p:sp>
      <p:sp>
        <p:nvSpPr>
          <p:cNvPr id="12" name="Shape 9"/>
          <p:cNvSpPr/>
          <p:nvPr/>
        </p:nvSpPr>
        <p:spPr>
          <a:xfrm>
            <a:off x="2532888" y="2176272"/>
            <a:ext cx="1417320" cy="438912"/>
          </a:xfrm>
          <a:prstGeom prst="roundRect">
            <a:avLst>
              <a:gd name="adj" fmla="val 50000"/>
            </a:avLst>
          </a:prstGeom>
          <a:solidFill>
            <a:srgbClr val="2F6FEB"/>
          </a:solidFill>
          <a:ln w="25400">
            <a:solidFill>
              <a:srgbClr val="FFFFFF"/>
            </a:solidFill>
            <a:prstDash val="solid"/>
          </a:ln>
        </p:spPr>
      </p:sp>
      <p:sp>
        <p:nvSpPr>
          <p:cNvPr id="13" name="Text 10"/>
          <p:cNvSpPr txBox="1"/>
          <p:nvPr/>
        </p:nvSpPr>
        <p:spPr>
          <a:xfrm>
            <a:off x="2532888" y="2176272"/>
            <a:ext cx="1417320" cy="438912"/>
          </a:xfrm>
          <a:prstGeom prst="rect">
            <a:avLst/>
          </a:prstGeom>
          <a:noFill/>
          <a:ln/>
        </p:spPr>
        <p:txBody>
          <a:bodyPr wrap="square" lIns="0" tIns="0" rIns="0" bIns="0" rtlCol="0" anchor="ctr"/>
          <a:lstStyle/>
          <a:p>
            <a:pPr algn="ctr" indent="0" marL="0">
              <a:buNone/>
            </a:pPr>
            <a:r>
              <a:rPr lang="en-US" sz="1500" b="1" dirty="0">
                <a:solidFill>
                  <a:schemeClr val="bg1"/>
                </a:solidFill>
              </a:rPr>
              <a:t>8:05</a:t>
            </a:r>
            <a:endParaRPr lang="en-US" sz="1500" dirty="0"/>
          </a:p>
        </p:txBody>
      </p:sp>
      <p:sp>
        <p:nvSpPr>
          <p:cNvPr id="14" name="Moment 8:05"/>
          <p:cNvSpPr/>
          <p:nvPr/>
        </p:nvSpPr>
        <p:spPr>
          <a:xfrm>
            <a:off x="2423160" y="2880360"/>
            <a:ext cx="1691640" cy="2377440"/>
          </a:xfrm>
          <a:prstGeom prst="roundRect">
            <a:avLst>
              <a:gd name="adj" fmla="val 6486"/>
            </a:avLst>
          </a:prstGeom>
          <a:solidFill>
            <a:srgbClr val="F4F7FC"/>
          </a:solidFill>
          <a:ln w="12700">
            <a:solidFill>
              <a:srgbClr val="F4F7FC"/>
            </a:solidFill>
            <a:prstDash val="solid"/>
          </a:ln>
        </p:spPr>
      </p:sp>
      <p:sp>
        <p:nvSpPr>
          <p:cNvPr id="15" name="Shape 12"/>
          <p:cNvSpPr/>
          <p:nvPr/>
        </p:nvSpPr>
        <p:spPr>
          <a:xfrm>
            <a:off x="2624328" y="3108960"/>
            <a:ext cx="475488" cy="475488"/>
          </a:xfrm>
          <a:prstGeom prst="ellipse">
            <a:avLst/>
          </a:prstGeom>
          <a:solidFill>
            <a:srgbClr val="EAF1FE"/>
          </a:solidFill>
          <a:ln w="12700">
            <a:solidFill>
              <a:srgbClr val="EAF1FE"/>
            </a:solidFill>
            <a:prstDash val="solid"/>
          </a:ln>
        </p:spPr>
      </p:sp>
      <p:pic>
        <p:nvPicPr>
          <p:cNvPr id="16" name="Image 1" descr="preencoded.png">    </p:cNvPr>
          <p:cNvPicPr>
            <a:picLocks noChangeAspect="1"/>
          </p:cNvPicPr>
          <p:nvPr/>
        </p:nvPicPr>
        <p:blipFill>
          <a:blip r:embed="rId2"/>
          <a:stretch>
            <a:fillRect/>
          </a:stretch>
        </p:blipFill>
        <p:spPr>
          <a:xfrm>
            <a:off x="2743200" y="3227832"/>
            <a:ext cx="237744" cy="237744"/>
          </a:xfrm>
          <a:prstGeom prst="rect">
            <a:avLst/>
          </a:prstGeom>
        </p:spPr>
      </p:pic>
      <p:sp>
        <p:nvSpPr>
          <p:cNvPr id="17" name="Text 13"/>
          <p:cNvSpPr txBox="1"/>
          <p:nvPr/>
        </p:nvSpPr>
        <p:spPr>
          <a:xfrm>
            <a:off x="2624328" y="3703320"/>
            <a:ext cx="1371600" cy="731520"/>
          </a:xfrm>
          <a:prstGeom prst="rect">
            <a:avLst/>
          </a:prstGeom>
          <a:noFill/>
          <a:ln/>
        </p:spPr>
        <p:txBody>
          <a:bodyPr wrap="square" lIns="0" tIns="0" rIns="0" bIns="0" rtlCol="0" anchor="t"/>
          <a:lstStyle/>
          <a:p>
            <a:pPr indent="0" marL="0">
              <a:buNone/>
            </a:pPr>
            <a:r>
              <a:rPr lang="en-US" sz="1500" b="1" dirty="0">
                <a:solidFill>
                  <a:schemeClr val="tx1"/>
                </a:solidFill>
              </a:rPr>
              <a:t>Parents are alerted</a:t>
            </a:r>
            <a:endParaRPr lang="en-US" sz="1500" dirty="0"/>
          </a:p>
        </p:txBody>
      </p:sp>
      <p:sp>
        <p:nvSpPr>
          <p:cNvPr id="18" name="Text 14"/>
          <p:cNvSpPr txBox="1"/>
          <p:nvPr/>
        </p:nvSpPr>
        <p:spPr>
          <a:xfrm>
            <a:off x="2624328" y="4480560"/>
            <a:ext cx="1371600" cy="731520"/>
          </a:xfrm>
          <a:prstGeom prst="rect">
            <a:avLst/>
          </a:prstGeom>
          <a:noFill/>
          <a:ln/>
        </p:spPr>
        <p:txBody>
          <a:bodyPr wrap="square" lIns="0" tIns="0" rIns="0" bIns="0" rtlCol="0" anchor="t"/>
          <a:lstStyle/>
          <a:p>
            <a:pPr indent="0" marL="0">
              <a:buNone/>
            </a:pPr>
            <a:r>
              <a:rPr lang="en-US" sz="1200" dirty="0">
                <a:solidFill>
                  <a:schemeClr val="accent4"/>
                </a:solidFill>
              </a:rPr>
              <a:t>Absent? Parents know right away</a:t>
            </a:r>
            <a:endParaRPr lang="en-US" sz="1200" dirty="0"/>
          </a:p>
        </p:txBody>
      </p:sp>
      <p:sp>
        <p:nvSpPr>
          <p:cNvPr id="19" name="Shape 15"/>
          <p:cNvSpPr/>
          <p:nvPr/>
        </p:nvSpPr>
        <p:spPr>
          <a:xfrm>
            <a:off x="4407408" y="2176272"/>
            <a:ext cx="1417320" cy="438912"/>
          </a:xfrm>
          <a:prstGeom prst="roundRect">
            <a:avLst>
              <a:gd name="adj" fmla="val 50000"/>
            </a:avLst>
          </a:prstGeom>
          <a:solidFill>
            <a:srgbClr val="2F6FEB"/>
          </a:solidFill>
          <a:ln w="25400">
            <a:solidFill>
              <a:srgbClr val="FFFFFF"/>
            </a:solidFill>
            <a:prstDash val="solid"/>
          </a:ln>
        </p:spPr>
      </p:sp>
      <p:sp>
        <p:nvSpPr>
          <p:cNvPr id="20" name="Text 16"/>
          <p:cNvSpPr txBox="1"/>
          <p:nvPr/>
        </p:nvSpPr>
        <p:spPr>
          <a:xfrm>
            <a:off x="4407408" y="2176272"/>
            <a:ext cx="1417320" cy="438912"/>
          </a:xfrm>
          <a:prstGeom prst="rect">
            <a:avLst/>
          </a:prstGeom>
          <a:noFill/>
          <a:ln/>
        </p:spPr>
        <p:txBody>
          <a:bodyPr wrap="square" lIns="0" tIns="0" rIns="0" bIns="0" rtlCol="0" anchor="ctr"/>
          <a:lstStyle/>
          <a:p>
            <a:pPr algn="ctr" indent="0" marL="0">
              <a:buNone/>
            </a:pPr>
            <a:r>
              <a:rPr lang="en-US" sz="1500" b="1" dirty="0">
                <a:solidFill>
                  <a:schemeClr val="bg1"/>
                </a:solidFill>
              </a:rPr>
              <a:t>11:00</a:t>
            </a:r>
            <a:endParaRPr lang="en-US" sz="1500" dirty="0"/>
          </a:p>
        </p:txBody>
      </p:sp>
      <p:sp>
        <p:nvSpPr>
          <p:cNvPr id="21" name="Moment 11:00"/>
          <p:cNvSpPr/>
          <p:nvPr/>
        </p:nvSpPr>
        <p:spPr>
          <a:xfrm>
            <a:off x="4297680" y="2880360"/>
            <a:ext cx="1691640" cy="2377440"/>
          </a:xfrm>
          <a:prstGeom prst="roundRect">
            <a:avLst>
              <a:gd name="adj" fmla="val 6486"/>
            </a:avLst>
          </a:prstGeom>
          <a:solidFill>
            <a:srgbClr val="F4F7FC"/>
          </a:solidFill>
          <a:ln w="12700">
            <a:solidFill>
              <a:srgbClr val="F4F7FC"/>
            </a:solidFill>
            <a:prstDash val="solid"/>
          </a:ln>
        </p:spPr>
      </p:sp>
      <p:sp>
        <p:nvSpPr>
          <p:cNvPr id="22" name="Shape 18"/>
          <p:cNvSpPr/>
          <p:nvPr/>
        </p:nvSpPr>
        <p:spPr>
          <a:xfrm>
            <a:off x="4498848" y="3108960"/>
            <a:ext cx="475488" cy="475488"/>
          </a:xfrm>
          <a:prstGeom prst="ellipse">
            <a:avLst/>
          </a:prstGeom>
          <a:solidFill>
            <a:srgbClr val="EAF1FE"/>
          </a:solidFill>
          <a:ln w="12700">
            <a:solidFill>
              <a:srgbClr val="EAF1FE"/>
            </a:solidFill>
            <a:prstDash val="solid"/>
          </a:ln>
        </p:spPr>
      </p:sp>
      <p:pic>
        <p:nvPicPr>
          <p:cNvPr id="23" name="Image 2" descr="preencoded.png">    </p:cNvPr>
          <p:cNvPicPr>
            <a:picLocks noChangeAspect="1"/>
          </p:cNvPicPr>
          <p:nvPr/>
        </p:nvPicPr>
        <p:blipFill>
          <a:blip r:embed="rId3"/>
          <a:stretch>
            <a:fillRect/>
          </a:stretch>
        </p:blipFill>
        <p:spPr>
          <a:xfrm>
            <a:off x="4617720" y="3227832"/>
            <a:ext cx="237744" cy="237744"/>
          </a:xfrm>
          <a:prstGeom prst="rect">
            <a:avLst/>
          </a:prstGeom>
        </p:spPr>
      </p:pic>
      <p:sp>
        <p:nvSpPr>
          <p:cNvPr id="24" name="Text 19"/>
          <p:cNvSpPr txBox="1"/>
          <p:nvPr/>
        </p:nvSpPr>
        <p:spPr>
          <a:xfrm>
            <a:off x="4498848" y="3703320"/>
            <a:ext cx="1371600" cy="731520"/>
          </a:xfrm>
          <a:prstGeom prst="rect">
            <a:avLst/>
          </a:prstGeom>
          <a:noFill/>
          <a:ln/>
        </p:spPr>
        <p:txBody>
          <a:bodyPr wrap="square" lIns="0" tIns="0" rIns="0" bIns="0" rtlCol="0" anchor="t"/>
          <a:lstStyle/>
          <a:p>
            <a:pPr indent="0" marL="0">
              <a:buNone/>
            </a:pPr>
            <a:r>
              <a:rPr lang="en-US" sz="1500" b="1" dirty="0">
                <a:solidFill>
                  <a:schemeClr val="tx1"/>
                </a:solidFill>
              </a:rPr>
              <a:t>A parent pays fees</a:t>
            </a:r>
            <a:endParaRPr lang="en-US" sz="1500" dirty="0"/>
          </a:p>
        </p:txBody>
      </p:sp>
      <p:sp>
        <p:nvSpPr>
          <p:cNvPr id="25" name="Text 20"/>
          <p:cNvSpPr txBox="1"/>
          <p:nvPr/>
        </p:nvSpPr>
        <p:spPr>
          <a:xfrm>
            <a:off x="4498848" y="4480560"/>
            <a:ext cx="1371600" cy="731520"/>
          </a:xfrm>
          <a:prstGeom prst="rect">
            <a:avLst/>
          </a:prstGeom>
          <a:noFill/>
          <a:ln/>
        </p:spPr>
        <p:txBody>
          <a:bodyPr wrap="square" lIns="0" tIns="0" rIns="0" bIns="0" rtlCol="0" anchor="t"/>
          <a:lstStyle/>
          <a:p>
            <a:pPr indent="0" marL="0">
              <a:buNone/>
            </a:pPr>
            <a:r>
              <a:rPr lang="en-US" sz="1200" dirty="0">
                <a:solidFill>
                  <a:schemeClr val="accent4"/>
                </a:solidFill>
              </a:rPr>
              <a:t>Receipt arrives instantly</a:t>
            </a:r>
            <a:endParaRPr lang="en-US" sz="1200" dirty="0"/>
          </a:p>
        </p:txBody>
      </p:sp>
      <p:sp>
        <p:nvSpPr>
          <p:cNvPr id="26" name="Shape 21"/>
          <p:cNvSpPr/>
          <p:nvPr/>
        </p:nvSpPr>
        <p:spPr>
          <a:xfrm>
            <a:off x="6281928" y="2176272"/>
            <a:ext cx="1417320" cy="438912"/>
          </a:xfrm>
          <a:prstGeom prst="roundRect">
            <a:avLst>
              <a:gd name="adj" fmla="val 50000"/>
            </a:avLst>
          </a:prstGeom>
          <a:solidFill>
            <a:srgbClr val="2F6FEB"/>
          </a:solidFill>
          <a:ln w="25400">
            <a:solidFill>
              <a:srgbClr val="FFFFFF"/>
            </a:solidFill>
            <a:prstDash val="solid"/>
          </a:ln>
        </p:spPr>
      </p:sp>
      <p:sp>
        <p:nvSpPr>
          <p:cNvPr id="27" name="Text 22"/>
          <p:cNvSpPr txBox="1"/>
          <p:nvPr/>
        </p:nvSpPr>
        <p:spPr>
          <a:xfrm>
            <a:off x="6281928" y="2176272"/>
            <a:ext cx="1417320" cy="438912"/>
          </a:xfrm>
          <a:prstGeom prst="rect">
            <a:avLst/>
          </a:prstGeom>
          <a:noFill/>
          <a:ln/>
        </p:spPr>
        <p:txBody>
          <a:bodyPr wrap="square" lIns="0" tIns="0" rIns="0" bIns="0" rtlCol="0" anchor="ctr"/>
          <a:lstStyle/>
          <a:p>
            <a:pPr algn="ctr" indent="0" marL="0">
              <a:buNone/>
            </a:pPr>
            <a:r>
              <a:rPr lang="en-US" sz="1500" b="1" dirty="0">
                <a:solidFill>
                  <a:schemeClr val="bg1"/>
                </a:solidFill>
              </a:rPr>
              <a:t>1:30</a:t>
            </a:r>
            <a:endParaRPr lang="en-US" sz="1500" dirty="0"/>
          </a:p>
        </p:txBody>
      </p:sp>
      <p:sp>
        <p:nvSpPr>
          <p:cNvPr id="28" name="Moment 1:30"/>
          <p:cNvSpPr/>
          <p:nvPr/>
        </p:nvSpPr>
        <p:spPr>
          <a:xfrm>
            <a:off x="6172200" y="2880360"/>
            <a:ext cx="1691640" cy="2377440"/>
          </a:xfrm>
          <a:prstGeom prst="roundRect">
            <a:avLst>
              <a:gd name="adj" fmla="val 6486"/>
            </a:avLst>
          </a:prstGeom>
          <a:solidFill>
            <a:srgbClr val="F4F7FC"/>
          </a:solidFill>
          <a:ln w="12700">
            <a:solidFill>
              <a:srgbClr val="F4F7FC"/>
            </a:solidFill>
            <a:prstDash val="solid"/>
          </a:ln>
        </p:spPr>
      </p:sp>
      <p:sp>
        <p:nvSpPr>
          <p:cNvPr id="29" name="Shape 24"/>
          <p:cNvSpPr/>
          <p:nvPr/>
        </p:nvSpPr>
        <p:spPr>
          <a:xfrm>
            <a:off x="6373368" y="3108960"/>
            <a:ext cx="475488" cy="475488"/>
          </a:xfrm>
          <a:prstGeom prst="ellipse">
            <a:avLst/>
          </a:prstGeom>
          <a:solidFill>
            <a:srgbClr val="EAF1FE"/>
          </a:solidFill>
          <a:ln w="12700">
            <a:solidFill>
              <a:srgbClr val="EAF1FE"/>
            </a:solidFill>
            <a:prstDash val="solid"/>
          </a:ln>
        </p:spPr>
      </p:sp>
      <p:pic>
        <p:nvPicPr>
          <p:cNvPr id="30" name="Image 3" descr="preencoded.png">    </p:cNvPr>
          <p:cNvPicPr>
            <a:picLocks noChangeAspect="1"/>
          </p:cNvPicPr>
          <p:nvPr/>
        </p:nvPicPr>
        <p:blipFill>
          <a:blip r:embed="rId4"/>
          <a:stretch>
            <a:fillRect/>
          </a:stretch>
        </p:blipFill>
        <p:spPr>
          <a:xfrm>
            <a:off x="6492240" y="3227832"/>
            <a:ext cx="237744" cy="237744"/>
          </a:xfrm>
          <a:prstGeom prst="rect">
            <a:avLst/>
          </a:prstGeom>
        </p:spPr>
      </p:pic>
      <p:sp>
        <p:nvSpPr>
          <p:cNvPr id="31" name="Text 25"/>
          <p:cNvSpPr txBox="1"/>
          <p:nvPr/>
        </p:nvSpPr>
        <p:spPr>
          <a:xfrm>
            <a:off x="6373368" y="3703320"/>
            <a:ext cx="1371600" cy="731520"/>
          </a:xfrm>
          <a:prstGeom prst="rect">
            <a:avLst/>
          </a:prstGeom>
          <a:noFill/>
          <a:ln/>
        </p:spPr>
        <p:txBody>
          <a:bodyPr wrap="square" lIns="0" tIns="0" rIns="0" bIns="0" rtlCol="0" anchor="t"/>
          <a:lstStyle/>
          <a:p>
            <a:pPr indent="0" marL="0">
              <a:buNone/>
            </a:pPr>
            <a:r>
              <a:rPr lang="en-US" sz="1500" b="1" dirty="0">
                <a:solidFill>
                  <a:schemeClr val="tx1"/>
                </a:solidFill>
              </a:rPr>
              <a:t>Homework goes out</a:t>
            </a:r>
            <a:endParaRPr lang="en-US" sz="1500" dirty="0"/>
          </a:p>
        </p:txBody>
      </p:sp>
      <p:sp>
        <p:nvSpPr>
          <p:cNvPr id="32" name="Text 26"/>
          <p:cNvSpPr txBox="1"/>
          <p:nvPr/>
        </p:nvSpPr>
        <p:spPr>
          <a:xfrm>
            <a:off x="6373368" y="4480560"/>
            <a:ext cx="1371600" cy="731520"/>
          </a:xfrm>
          <a:prstGeom prst="rect">
            <a:avLst/>
          </a:prstGeom>
          <a:noFill/>
          <a:ln/>
        </p:spPr>
        <p:txBody>
          <a:bodyPr wrap="square" lIns="0" tIns="0" rIns="0" bIns="0" rtlCol="0" anchor="t"/>
          <a:lstStyle/>
          <a:p>
            <a:pPr indent="0" marL="0">
              <a:buNone/>
            </a:pPr>
            <a:r>
              <a:rPr lang="en-US" sz="1200" dirty="0">
                <a:solidFill>
                  <a:schemeClr val="accent4"/>
                </a:solidFill>
              </a:rPr>
              <a:t>Photo of the board, sent to every parent</a:t>
            </a:r>
            <a:endParaRPr lang="en-US" sz="1200" dirty="0"/>
          </a:p>
        </p:txBody>
      </p:sp>
      <p:sp>
        <p:nvSpPr>
          <p:cNvPr id="33" name="Shape 27"/>
          <p:cNvSpPr/>
          <p:nvPr/>
        </p:nvSpPr>
        <p:spPr>
          <a:xfrm>
            <a:off x="8156448" y="2176272"/>
            <a:ext cx="1417320" cy="438912"/>
          </a:xfrm>
          <a:prstGeom prst="roundRect">
            <a:avLst>
              <a:gd name="adj" fmla="val 50000"/>
            </a:avLst>
          </a:prstGeom>
          <a:solidFill>
            <a:srgbClr val="2F6FEB"/>
          </a:solidFill>
          <a:ln w="25400">
            <a:solidFill>
              <a:srgbClr val="FFFFFF"/>
            </a:solidFill>
            <a:prstDash val="solid"/>
          </a:ln>
        </p:spPr>
      </p:sp>
      <p:sp>
        <p:nvSpPr>
          <p:cNvPr id="34" name="Text 28"/>
          <p:cNvSpPr txBox="1"/>
          <p:nvPr/>
        </p:nvSpPr>
        <p:spPr>
          <a:xfrm>
            <a:off x="8156448" y="2176272"/>
            <a:ext cx="1417320" cy="438912"/>
          </a:xfrm>
          <a:prstGeom prst="rect">
            <a:avLst/>
          </a:prstGeom>
          <a:noFill/>
          <a:ln/>
        </p:spPr>
        <p:txBody>
          <a:bodyPr wrap="square" lIns="0" tIns="0" rIns="0" bIns="0" rtlCol="0" anchor="ctr"/>
          <a:lstStyle/>
          <a:p>
            <a:pPr algn="ctr" indent="0" marL="0">
              <a:buNone/>
            </a:pPr>
            <a:r>
              <a:rPr lang="en-US" sz="1500" b="1" dirty="0">
                <a:solidFill>
                  <a:schemeClr val="bg1"/>
                </a:solidFill>
              </a:rPr>
              <a:t>4:00</a:t>
            </a:r>
            <a:endParaRPr lang="en-US" sz="1500" dirty="0"/>
          </a:p>
        </p:txBody>
      </p:sp>
      <p:sp>
        <p:nvSpPr>
          <p:cNvPr id="35" name="Moment 4:00"/>
          <p:cNvSpPr/>
          <p:nvPr/>
        </p:nvSpPr>
        <p:spPr>
          <a:xfrm>
            <a:off x="8046720" y="2880360"/>
            <a:ext cx="1691640" cy="2377440"/>
          </a:xfrm>
          <a:prstGeom prst="roundRect">
            <a:avLst>
              <a:gd name="adj" fmla="val 6486"/>
            </a:avLst>
          </a:prstGeom>
          <a:solidFill>
            <a:srgbClr val="F4F7FC"/>
          </a:solidFill>
          <a:ln w="12700">
            <a:solidFill>
              <a:srgbClr val="F4F7FC"/>
            </a:solidFill>
            <a:prstDash val="solid"/>
          </a:ln>
        </p:spPr>
      </p:sp>
      <p:sp>
        <p:nvSpPr>
          <p:cNvPr id="36" name="Shape 30"/>
          <p:cNvSpPr/>
          <p:nvPr/>
        </p:nvSpPr>
        <p:spPr>
          <a:xfrm>
            <a:off x="8247888" y="3108960"/>
            <a:ext cx="475488" cy="475488"/>
          </a:xfrm>
          <a:prstGeom prst="ellipse">
            <a:avLst/>
          </a:prstGeom>
          <a:solidFill>
            <a:srgbClr val="EAF1FE"/>
          </a:solidFill>
          <a:ln w="12700">
            <a:solidFill>
              <a:srgbClr val="EAF1FE"/>
            </a:solidFill>
            <a:prstDash val="solid"/>
          </a:ln>
        </p:spPr>
      </p:sp>
      <p:pic>
        <p:nvPicPr>
          <p:cNvPr id="37" name="Image 4" descr="preencoded.png">    </p:cNvPr>
          <p:cNvPicPr>
            <a:picLocks noChangeAspect="1"/>
          </p:cNvPicPr>
          <p:nvPr/>
        </p:nvPicPr>
        <p:blipFill>
          <a:blip r:embed="rId5"/>
          <a:stretch>
            <a:fillRect/>
          </a:stretch>
        </p:blipFill>
        <p:spPr>
          <a:xfrm>
            <a:off x="8366760" y="3227832"/>
            <a:ext cx="237744" cy="237744"/>
          </a:xfrm>
          <a:prstGeom prst="rect">
            <a:avLst/>
          </a:prstGeom>
        </p:spPr>
      </p:pic>
      <p:sp>
        <p:nvSpPr>
          <p:cNvPr id="38" name="Text 31"/>
          <p:cNvSpPr txBox="1"/>
          <p:nvPr/>
        </p:nvSpPr>
        <p:spPr>
          <a:xfrm>
            <a:off x="8247888" y="3703320"/>
            <a:ext cx="1371600" cy="731520"/>
          </a:xfrm>
          <a:prstGeom prst="rect">
            <a:avLst/>
          </a:prstGeom>
          <a:noFill/>
          <a:ln/>
        </p:spPr>
        <p:txBody>
          <a:bodyPr wrap="square" lIns="0" tIns="0" rIns="0" bIns="0" rtlCol="0" anchor="t"/>
          <a:lstStyle/>
          <a:p>
            <a:pPr indent="0" marL="0">
              <a:buNone/>
            </a:pPr>
            <a:r>
              <a:rPr lang="en-US" sz="1500" b="1" dirty="0">
                <a:solidFill>
                  <a:schemeClr val="tx1"/>
                </a:solidFill>
              </a:rPr>
              <a:t>You check the dashboard</a:t>
            </a:r>
            <a:endParaRPr lang="en-US" sz="1500" dirty="0"/>
          </a:p>
        </p:txBody>
      </p:sp>
      <p:sp>
        <p:nvSpPr>
          <p:cNvPr id="39" name="Text 32"/>
          <p:cNvSpPr txBox="1"/>
          <p:nvPr/>
        </p:nvSpPr>
        <p:spPr>
          <a:xfrm>
            <a:off x="8247888" y="4480560"/>
            <a:ext cx="1371600" cy="731520"/>
          </a:xfrm>
          <a:prstGeom prst="rect">
            <a:avLst/>
          </a:prstGeom>
          <a:noFill/>
          <a:ln/>
        </p:spPr>
        <p:txBody>
          <a:bodyPr wrap="square" lIns="0" tIns="0" rIns="0" bIns="0" rtlCol="0" anchor="t"/>
          <a:lstStyle/>
          <a:p>
            <a:pPr indent="0" marL="0">
              <a:buNone/>
            </a:pPr>
            <a:r>
              <a:rPr lang="en-US" sz="1200" dirty="0">
                <a:solidFill>
                  <a:schemeClr val="accent4"/>
                </a:solidFill>
              </a:rPr>
              <a:t>Attendance, fees, pending work</a:t>
            </a:r>
            <a:endParaRPr lang="en-US" sz="1200" dirty="0"/>
          </a:p>
        </p:txBody>
      </p:sp>
      <p:sp>
        <p:nvSpPr>
          <p:cNvPr id="40" name="Shape 33"/>
          <p:cNvSpPr/>
          <p:nvPr/>
        </p:nvSpPr>
        <p:spPr>
          <a:xfrm>
            <a:off x="10030968" y="2176272"/>
            <a:ext cx="1417320" cy="438912"/>
          </a:xfrm>
          <a:prstGeom prst="roundRect">
            <a:avLst>
              <a:gd name="adj" fmla="val 50000"/>
            </a:avLst>
          </a:prstGeom>
          <a:solidFill>
            <a:srgbClr val="F7A400"/>
          </a:solidFill>
          <a:ln w="25400">
            <a:solidFill>
              <a:srgbClr val="FFFFFF"/>
            </a:solidFill>
            <a:prstDash val="solid"/>
          </a:ln>
        </p:spPr>
      </p:sp>
      <p:sp>
        <p:nvSpPr>
          <p:cNvPr id="41" name="Text 34"/>
          <p:cNvSpPr txBox="1"/>
          <p:nvPr/>
        </p:nvSpPr>
        <p:spPr>
          <a:xfrm>
            <a:off x="10030968" y="2176272"/>
            <a:ext cx="1417320" cy="438912"/>
          </a:xfrm>
          <a:prstGeom prst="rect">
            <a:avLst/>
          </a:prstGeom>
          <a:noFill/>
          <a:ln/>
        </p:spPr>
        <p:txBody>
          <a:bodyPr wrap="square" lIns="0" tIns="0" rIns="0" bIns="0" rtlCol="0" anchor="ctr"/>
          <a:lstStyle/>
          <a:p>
            <a:pPr algn="ctr" indent="0" marL="0">
              <a:buNone/>
            </a:pPr>
            <a:r>
              <a:rPr lang="en-US" sz="1500" b="1" dirty="0">
                <a:solidFill>
                  <a:schemeClr val="tx1"/>
                </a:solidFill>
              </a:rPr>
              <a:t>Monday</a:t>
            </a:r>
            <a:endParaRPr lang="en-US" sz="1500" dirty="0"/>
          </a:p>
        </p:txBody>
      </p:sp>
      <p:sp>
        <p:nvSpPr>
          <p:cNvPr id="42" name="Moment Monday"/>
          <p:cNvSpPr/>
          <p:nvPr/>
        </p:nvSpPr>
        <p:spPr>
          <a:xfrm>
            <a:off x="9921240" y="2880360"/>
            <a:ext cx="1691640" cy="2377440"/>
          </a:xfrm>
          <a:prstGeom prst="roundRect">
            <a:avLst>
              <a:gd name="adj" fmla="val 6486"/>
            </a:avLst>
          </a:prstGeom>
          <a:solidFill>
            <a:srgbClr val="F4F7FC"/>
          </a:solidFill>
          <a:ln w="12700">
            <a:solidFill>
              <a:srgbClr val="F4F7FC"/>
            </a:solidFill>
            <a:prstDash val="solid"/>
          </a:ln>
        </p:spPr>
      </p:sp>
      <p:sp>
        <p:nvSpPr>
          <p:cNvPr id="43" name="Shape 36"/>
          <p:cNvSpPr/>
          <p:nvPr/>
        </p:nvSpPr>
        <p:spPr>
          <a:xfrm>
            <a:off x="10122408" y="3108960"/>
            <a:ext cx="475488" cy="475488"/>
          </a:xfrm>
          <a:prstGeom prst="ellipse">
            <a:avLst/>
          </a:prstGeom>
          <a:solidFill>
            <a:srgbClr val="EAF1FE"/>
          </a:solidFill>
          <a:ln w="12700">
            <a:solidFill>
              <a:srgbClr val="EAF1FE"/>
            </a:solidFill>
            <a:prstDash val="solid"/>
          </a:ln>
        </p:spPr>
      </p:sp>
      <p:pic>
        <p:nvPicPr>
          <p:cNvPr id="44" name="Image 5" descr="preencoded.png">    </p:cNvPr>
          <p:cNvPicPr>
            <a:picLocks noChangeAspect="1"/>
          </p:cNvPicPr>
          <p:nvPr/>
        </p:nvPicPr>
        <p:blipFill>
          <a:blip r:embed="rId6"/>
          <a:stretch>
            <a:fillRect/>
          </a:stretch>
        </p:blipFill>
        <p:spPr>
          <a:xfrm>
            <a:off x="10241280" y="3227832"/>
            <a:ext cx="237744" cy="237744"/>
          </a:xfrm>
          <a:prstGeom prst="rect">
            <a:avLst/>
          </a:prstGeom>
        </p:spPr>
      </p:pic>
      <p:sp>
        <p:nvSpPr>
          <p:cNvPr id="45" name="Text 37"/>
          <p:cNvSpPr txBox="1"/>
          <p:nvPr/>
        </p:nvSpPr>
        <p:spPr>
          <a:xfrm>
            <a:off x="10122408" y="3703320"/>
            <a:ext cx="1371600" cy="731520"/>
          </a:xfrm>
          <a:prstGeom prst="rect">
            <a:avLst/>
          </a:prstGeom>
          <a:noFill/>
          <a:ln/>
        </p:spPr>
        <p:txBody>
          <a:bodyPr wrap="square" lIns="0" tIns="0" rIns="0" bIns="0" rtlCol="0" anchor="t"/>
          <a:lstStyle/>
          <a:p>
            <a:pPr indent="0" marL="0">
              <a:buNone/>
            </a:pPr>
            <a:r>
              <a:rPr lang="en-US" sz="1500" b="1" dirty="0">
                <a:solidFill>
                  <a:schemeClr val="tx1"/>
                </a:solidFill>
              </a:rPr>
              <a:t>Weekly report arrives</a:t>
            </a:r>
            <a:endParaRPr lang="en-US" sz="1500" dirty="0"/>
          </a:p>
        </p:txBody>
      </p:sp>
      <p:sp>
        <p:nvSpPr>
          <p:cNvPr id="46" name="Text 38"/>
          <p:cNvSpPr txBox="1"/>
          <p:nvPr/>
        </p:nvSpPr>
        <p:spPr>
          <a:xfrm>
            <a:off x="10122408" y="4480560"/>
            <a:ext cx="1371600" cy="731520"/>
          </a:xfrm>
          <a:prstGeom prst="rect">
            <a:avLst/>
          </a:prstGeom>
          <a:noFill/>
          <a:ln/>
        </p:spPr>
        <p:txBody>
          <a:bodyPr wrap="square" lIns="0" tIns="0" rIns="0" bIns="0" rtlCol="0" anchor="t"/>
          <a:lstStyle/>
          <a:p>
            <a:pPr indent="0" marL="0">
              <a:buNone/>
            </a:pPr>
            <a:r>
              <a:rPr lang="en-US" sz="1200" dirty="0">
                <a:solidFill>
                  <a:schemeClr val="accent4"/>
                </a:solidFill>
              </a:rPr>
              <a:t>In your inbox, without asking anyone</a:t>
            </a:r>
            <a:endParaRPr lang="en-US" sz="1200" dirty="0"/>
          </a:p>
        </p:txBody>
      </p:sp>
      <p:sp>
        <p:nvSpPr>
          <p:cNvPr id="47" name="Text 39"/>
          <p:cNvSpPr txBox="1"/>
          <p:nvPr/>
        </p:nvSpPr>
        <p:spPr>
          <a:xfrm>
            <a:off x="548640" y="5623560"/>
            <a:ext cx="10972800" cy="411480"/>
          </a:xfrm>
          <a:prstGeom prst="rect">
            <a:avLst/>
          </a:prstGeom>
          <a:noFill/>
          <a:ln/>
        </p:spPr>
        <p:txBody>
          <a:bodyPr wrap="square" lIns="0" tIns="0" rIns="0" bIns="0" rtlCol="0" anchor="t"/>
          <a:lstStyle/>
          <a:p>
            <a:pPr indent="0" marL="0">
              <a:buNone/>
            </a:pPr>
            <a:r>
              <a:rPr lang="en-US" sz="1800" b="1" dirty="0">
                <a:solidFill>
                  <a:schemeClr val="accent1"/>
                </a:solidFill>
              </a:rPr>
              <a:t>No registers to collect, no fee books to tally, no calls to make.</a:t>
            </a:r>
            <a:endParaRPr lang="en-US" sz="1800" dirty="0"/>
          </a:p>
        </p:txBody>
      </p:sp>
      <p:sp>
        <p:nvSpPr>
          <p:cNvPr id="25" name="Slide Number Placeholder 0"/>
          <p:cNvSpPr>
            <a:spLocks noGrp="1"/>
          </p:cNvSpPr>
          <p:nvPr>
            <p:ph type="sldNum" sz="quarter" idx="4294967295"/>
          </p:nvPr>
        </p:nvSpPr>
        <p:spPr>
          <a:xfrm>
            <a:off x="11201400"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body" hasCustomPrompt="1"/>
          </p:nvPr>
        </p:nvSpPr>
        <p:spPr>
          <a:xfrm>
            <a:off x="804672" y="384048"/>
            <a:ext cx="54864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WHY BASTAA, NOT JUST ANOTHER ERP</a:t>
            </a:r>
            <a:endParaRPr lang="en-US" sz="1200" dirty="0"/>
          </a:p>
        </p:txBody>
      </p:sp>
      <p:sp>
        <p:nvSpPr>
          <p:cNvPr id="3" name="Text 0"/>
          <p:cNvSpPr/>
          <p:nvPr>
            <p:ph idx="102" type="title" hasCustomPrompt="1"/>
          </p:nvPr>
        </p:nvSpPr>
        <p:spPr>
          <a:xfrm>
            <a:off x="548640" y="749808"/>
            <a:ext cx="11064240" cy="73152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Ask any school ERP these 8 questions</a:t>
            </a:r>
            <a:endParaRPr lang="en-US" sz="3000" dirty="0"/>
          </a:p>
        </p:txBody>
      </p:sp>
      <p:sp>
        <p:nvSpPr>
          <p:cNvPr id="4" name="Question 1"/>
          <p:cNvSpPr/>
          <p:nvPr/>
        </p:nvSpPr>
        <p:spPr>
          <a:xfrm>
            <a:off x="548640" y="1600200"/>
            <a:ext cx="5440680" cy="914400"/>
          </a:xfrm>
          <a:prstGeom prst="roundRect">
            <a:avLst>
              <a:gd name="adj" fmla="val 10000"/>
            </a:avLst>
          </a:prstGeom>
          <a:solidFill>
            <a:srgbClr val="F4F7FC"/>
          </a:solidFill>
          <a:ln w="12700">
            <a:solidFill>
              <a:srgbClr val="F4F7FC"/>
            </a:solidFill>
            <a:prstDash val="solid"/>
          </a:ln>
        </p:spPr>
      </p:sp>
      <p:sp>
        <p:nvSpPr>
          <p:cNvPr id="5" name="Shape 3"/>
          <p:cNvSpPr/>
          <p:nvPr/>
        </p:nvSpPr>
        <p:spPr>
          <a:xfrm>
            <a:off x="749808" y="1847088"/>
            <a:ext cx="457200" cy="457200"/>
          </a:xfrm>
          <a:prstGeom prst="ellipse">
            <a:avLst/>
          </a:prstGeom>
          <a:solidFill>
            <a:srgbClr val="13804B"/>
          </a:solidFill>
          <a:ln w="12700">
            <a:solidFill>
              <a:srgbClr val="13804B"/>
            </a:solidFill>
            <a:prstDash val="solid"/>
          </a:ln>
        </p:spPr>
      </p:sp>
      <p:pic>
        <p:nvPicPr>
          <p:cNvPr id="6" name="Image 0" descr="preencoded.png">    </p:cNvPr>
          <p:cNvPicPr>
            <a:picLocks noChangeAspect="1"/>
          </p:cNvPicPr>
          <p:nvPr/>
        </p:nvPicPr>
        <p:blipFill>
          <a:blip r:embed="rId1"/>
          <a:stretch>
            <a:fillRect/>
          </a:stretch>
        </p:blipFill>
        <p:spPr>
          <a:xfrm>
            <a:off x="864108" y="1961388"/>
            <a:ext cx="228600" cy="228600"/>
          </a:xfrm>
          <a:prstGeom prst="rect">
            <a:avLst/>
          </a:prstGeom>
        </p:spPr>
      </p:pic>
      <p:sp>
        <p:nvSpPr>
          <p:cNvPr id="7" name="Text 4"/>
          <p:cNvSpPr txBox="1"/>
          <p:nvPr/>
        </p:nvSpPr>
        <p:spPr>
          <a:xfrm>
            <a:off x="1371600" y="1719072"/>
            <a:ext cx="4480560" cy="329184"/>
          </a:xfrm>
          <a:prstGeom prst="rect">
            <a:avLst/>
          </a:prstGeom>
          <a:noFill/>
          <a:ln/>
        </p:spPr>
        <p:txBody>
          <a:bodyPr wrap="square" lIns="0" tIns="0" rIns="0" bIns="0" rtlCol="0" anchor="t"/>
          <a:lstStyle/>
          <a:p>
            <a:pPr indent="0" marL="0">
              <a:buNone/>
            </a:pPr>
            <a:r>
              <a:rPr lang="en-US" sz="1500" b="1" dirty="0">
                <a:solidFill>
                  <a:schemeClr val="tx1"/>
                </a:solidFill>
              </a:rPr>
              <a:t>Will every parent and teacher actually use it?</a:t>
            </a:r>
            <a:endParaRPr lang="en-US" sz="1500" dirty="0"/>
          </a:p>
        </p:txBody>
      </p:sp>
      <p:sp>
        <p:nvSpPr>
          <p:cNvPr id="8" name="Text 5"/>
          <p:cNvSpPr txBox="1"/>
          <p:nvPr/>
        </p:nvSpPr>
        <p:spPr>
          <a:xfrm>
            <a:off x="1371600" y="2075688"/>
            <a:ext cx="4480560" cy="411480"/>
          </a:xfrm>
          <a:prstGeom prst="rect">
            <a:avLst/>
          </a:prstGeom>
          <a:noFill/>
          <a:ln/>
        </p:spPr>
        <p:txBody>
          <a:bodyPr wrap="square" lIns="0" tIns="0" rIns="0" bIns="0" rtlCol="0" anchor="t"/>
          <a:lstStyle/>
          <a:p>
            <a:pPr indent="0" marL="0">
              <a:buNone/>
            </a:pPr>
            <a:r>
              <a:rPr lang="en-US" sz="1300" dirty="0">
                <a:solidFill>
                  <a:schemeClr val="accent4"/>
                </a:solidFill>
              </a:rPr>
              <a:t>One clean app; each person sees only what they need.</a:t>
            </a:r>
            <a:endParaRPr lang="en-US" sz="1300" dirty="0"/>
          </a:p>
        </p:txBody>
      </p:sp>
      <p:sp>
        <p:nvSpPr>
          <p:cNvPr id="9" name="Question 2"/>
          <p:cNvSpPr/>
          <p:nvPr/>
        </p:nvSpPr>
        <p:spPr>
          <a:xfrm>
            <a:off x="6172200" y="1600200"/>
            <a:ext cx="5440680" cy="914400"/>
          </a:xfrm>
          <a:prstGeom prst="roundRect">
            <a:avLst>
              <a:gd name="adj" fmla="val 10000"/>
            </a:avLst>
          </a:prstGeom>
          <a:solidFill>
            <a:srgbClr val="F4F7FC"/>
          </a:solidFill>
          <a:ln w="12700">
            <a:solidFill>
              <a:srgbClr val="F4F7FC"/>
            </a:solidFill>
            <a:prstDash val="solid"/>
          </a:ln>
        </p:spPr>
      </p:sp>
      <p:sp>
        <p:nvSpPr>
          <p:cNvPr id="10" name="Shape 7"/>
          <p:cNvSpPr/>
          <p:nvPr/>
        </p:nvSpPr>
        <p:spPr>
          <a:xfrm>
            <a:off x="6373368" y="1847088"/>
            <a:ext cx="457200" cy="457200"/>
          </a:xfrm>
          <a:prstGeom prst="ellipse">
            <a:avLst/>
          </a:prstGeom>
          <a:solidFill>
            <a:srgbClr val="13804B"/>
          </a:solidFill>
          <a:ln w="12700">
            <a:solidFill>
              <a:srgbClr val="13804B"/>
            </a:solidFill>
            <a:prstDash val="solid"/>
          </a:ln>
        </p:spPr>
      </p:sp>
      <p:pic>
        <p:nvPicPr>
          <p:cNvPr id="11" name="Image 1" descr="preencoded.png">    </p:cNvPr>
          <p:cNvPicPr>
            <a:picLocks noChangeAspect="1"/>
          </p:cNvPicPr>
          <p:nvPr/>
        </p:nvPicPr>
        <p:blipFill>
          <a:blip r:embed="rId2"/>
          <a:stretch>
            <a:fillRect/>
          </a:stretch>
        </p:blipFill>
        <p:spPr>
          <a:xfrm>
            <a:off x="6487668" y="1961388"/>
            <a:ext cx="228600" cy="228600"/>
          </a:xfrm>
          <a:prstGeom prst="rect">
            <a:avLst/>
          </a:prstGeom>
        </p:spPr>
      </p:pic>
      <p:sp>
        <p:nvSpPr>
          <p:cNvPr id="12" name="Text 8"/>
          <p:cNvSpPr txBox="1"/>
          <p:nvPr/>
        </p:nvSpPr>
        <p:spPr>
          <a:xfrm>
            <a:off x="6995160" y="1719072"/>
            <a:ext cx="4480560" cy="329184"/>
          </a:xfrm>
          <a:prstGeom prst="rect">
            <a:avLst/>
          </a:prstGeom>
          <a:noFill/>
          <a:ln/>
        </p:spPr>
        <p:txBody>
          <a:bodyPr wrap="square" lIns="0" tIns="0" rIns="0" bIns="0" rtlCol="0" anchor="t"/>
          <a:lstStyle/>
          <a:p>
            <a:pPr indent="0" marL="0">
              <a:buNone/>
            </a:pPr>
            <a:r>
              <a:rPr lang="en-US" sz="1500" b="1" dirty="0">
                <a:solidFill>
                  <a:schemeClr val="tx1"/>
                </a:solidFill>
              </a:rPr>
              <a:t>Does it work when the internet doesn't?</a:t>
            </a:r>
            <a:endParaRPr lang="en-US" sz="1500" dirty="0"/>
          </a:p>
        </p:txBody>
      </p:sp>
      <p:sp>
        <p:nvSpPr>
          <p:cNvPr id="13" name="Text 9"/>
          <p:cNvSpPr txBox="1"/>
          <p:nvPr/>
        </p:nvSpPr>
        <p:spPr>
          <a:xfrm>
            <a:off x="6995160" y="2075688"/>
            <a:ext cx="4480560" cy="411480"/>
          </a:xfrm>
          <a:prstGeom prst="rect">
            <a:avLst/>
          </a:prstGeom>
          <a:noFill/>
          <a:ln/>
        </p:spPr>
        <p:txBody>
          <a:bodyPr wrap="square" lIns="0" tIns="0" rIns="0" bIns="0" rtlCol="0" anchor="t"/>
          <a:lstStyle/>
          <a:p>
            <a:pPr indent="0" marL="0">
              <a:buNone/>
            </a:pPr>
            <a:r>
              <a:rPr lang="en-US" sz="1300" dirty="0">
                <a:solidFill>
                  <a:schemeClr val="accent4"/>
                </a:solidFill>
              </a:rPr>
              <a:t>Yes. Teachers can take attendance offline; it syncs later.</a:t>
            </a:r>
            <a:endParaRPr lang="en-US" sz="1300" dirty="0"/>
          </a:p>
        </p:txBody>
      </p:sp>
      <p:sp>
        <p:nvSpPr>
          <p:cNvPr id="14" name="Question 3"/>
          <p:cNvSpPr/>
          <p:nvPr/>
        </p:nvSpPr>
        <p:spPr>
          <a:xfrm>
            <a:off x="548640" y="2624328"/>
            <a:ext cx="5440680" cy="914400"/>
          </a:xfrm>
          <a:prstGeom prst="roundRect">
            <a:avLst>
              <a:gd name="adj" fmla="val 10000"/>
            </a:avLst>
          </a:prstGeom>
          <a:solidFill>
            <a:srgbClr val="F4F7FC"/>
          </a:solidFill>
          <a:ln w="12700">
            <a:solidFill>
              <a:srgbClr val="F4F7FC"/>
            </a:solidFill>
            <a:prstDash val="solid"/>
          </a:ln>
        </p:spPr>
      </p:sp>
      <p:sp>
        <p:nvSpPr>
          <p:cNvPr id="15" name="Shape 11"/>
          <p:cNvSpPr/>
          <p:nvPr/>
        </p:nvSpPr>
        <p:spPr>
          <a:xfrm>
            <a:off x="749808" y="2871216"/>
            <a:ext cx="457200" cy="457200"/>
          </a:xfrm>
          <a:prstGeom prst="ellipse">
            <a:avLst/>
          </a:prstGeom>
          <a:solidFill>
            <a:srgbClr val="13804B"/>
          </a:solidFill>
          <a:ln w="12700">
            <a:solidFill>
              <a:srgbClr val="13804B"/>
            </a:solidFill>
            <a:prstDash val="solid"/>
          </a:ln>
        </p:spPr>
      </p:sp>
      <p:pic>
        <p:nvPicPr>
          <p:cNvPr id="16" name="Image 2" descr="preencoded.png">    </p:cNvPr>
          <p:cNvPicPr>
            <a:picLocks noChangeAspect="1"/>
          </p:cNvPicPr>
          <p:nvPr/>
        </p:nvPicPr>
        <p:blipFill>
          <a:blip r:embed="rId3"/>
          <a:stretch>
            <a:fillRect/>
          </a:stretch>
        </p:blipFill>
        <p:spPr>
          <a:xfrm>
            <a:off x="864108" y="2985516"/>
            <a:ext cx="228600" cy="228600"/>
          </a:xfrm>
          <a:prstGeom prst="rect">
            <a:avLst/>
          </a:prstGeom>
        </p:spPr>
      </p:pic>
      <p:sp>
        <p:nvSpPr>
          <p:cNvPr id="17" name="Text 12"/>
          <p:cNvSpPr txBox="1"/>
          <p:nvPr/>
        </p:nvSpPr>
        <p:spPr>
          <a:xfrm>
            <a:off x="1371600" y="2743200"/>
            <a:ext cx="4480560" cy="329184"/>
          </a:xfrm>
          <a:prstGeom prst="rect">
            <a:avLst/>
          </a:prstGeom>
          <a:noFill/>
          <a:ln/>
        </p:spPr>
        <p:txBody>
          <a:bodyPr wrap="square" lIns="0" tIns="0" rIns="0" bIns="0" rtlCol="0" anchor="t"/>
          <a:lstStyle/>
          <a:p>
            <a:pPr indent="0" marL="0">
              <a:buNone/>
            </a:pPr>
            <a:r>
              <a:rPr lang="en-US" sz="1500" b="1" dirty="0">
                <a:solidFill>
                  <a:schemeClr val="tx1"/>
                </a:solidFill>
              </a:rPr>
              <a:t>Will we pay for every SMS?</a:t>
            </a:r>
            <a:endParaRPr lang="en-US" sz="1500" dirty="0"/>
          </a:p>
        </p:txBody>
      </p:sp>
      <p:sp>
        <p:nvSpPr>
          <p:cNvPr id="18" name="Text 13"/>
          <p:cNvSpPr txBox="1"/>
          <p:nvPr/>
        </p:nvSpPr>
        <p:spPr>
          <a:xfrm>
            <a:off x="1371600" y="3099816"/>
            <a:ext cx="4480560" cy="411480"/>
          </a:xfrm>
          <a:prstGeom prst="rect">
            <a:avLst/>
          </a:prstGeom>
          <a:noFill/>
          <a:ln/>
        </p:spPr>
        <p:txBody>
          <a:bodyPr wrap="square" lIns="0" tIns="0" rIns="0" bIns="0" rtlCol="0" anchor="t"/>
          <a:lstStyle/>
          <a:p>
            <a:pPr indent="0" marL="0">
              <a:buNone/>
            </a:pPr>
            <a:r>
              <a:rPr lang="en-US" sz="1300" dirty="0">
                <a:solidFill>
                  <a:schemeClr val="accent4"/>
                </a:solidFill>
              </a:rPr>
              <a:t>No. App alerts are free; SMS is optional, with a daily limit you set.</a:t>
            </a:r>
            <a:endParaRPr lang="en-US" sz="1300" dirty="0"/>
          </a:p>
        </p:txBody>
      </p:sp>
      <p:sp>
        <p:nvSpPr>
          <p:cNvPr id="19" name="Question 4"/>
          <p:cNvSpPr/>
          <p:nvPr/>
        </p:nvSpPr>
        <p:spPr>
          <a:xfrm>
            <a:off x="6172200" y="2624328"/>
            <a:ext cx="5440680" cy="914400"/>
          </a:xfrm>
          <a:prstGeom prst="roundRect">
            <a:avLst>
              <a:gd name="adj" fmla="val 10000"/>
            </a:avLst>
          </a:prstGeom>
          <a:solidFill>
            <a:srgbClr val="F4F7FC"/>
          </a:solidFill>
          <a:ln w="12700">
            <a:solidFill>
              <a:srgbClr val="F4F7FC"/>
            </a:solidFill>
            <a:prstDash val="solid"/>
          </a:ln>
        </p:spPr>
      </p:sp>
      <p:sp>
        <p:nvSpPr>
          <p:cNvPr id="20" name="Shape 15"/>
          <p:cNvSpPr/>
          <p:nvPr/>
        </p:nvSpPr>
        <p:spPr>
          <a:xfrm>
            <a:off x="6373368" y="2871216"/>
            <a:ext cx="457200" cy="457200"/>
          </a:xfrm>
          <a:prstGeom prst="ellipse">
            <a:avLst/>
          </a:prstGeom>
          <a:solidFill>
            <a:srgbClr val="13804B"/>
          </a:solidFill>
          <a:ln w="12700">
            <a:solidFill>
              <a:srgbClr val="13804B"/>
            </a:solidFill>
            <a:prstDash val="solid"/>
          </a:ln>
        </p:spPr>
      </p:sp>
      <p:pic>
        <p:nvPicPr>
          <p:cNvPr id="21" name="Image 3" descr="preencoded.png">    </p:cNvPr>
          <p:cNvPicPr>
            <a:picLocks noChangeAspect="1"/>
          </p:cNvPicPr>
          <p:nvPr/>
        </p:nvPicPr>
        <p:blipFill>
          <a:blip r:embed="rId4"/>
          <a:stretch>
            <a:fillRect/>
          </a:stretch>
        </p:blipFill>
        <p:spPr>
          <a:xfrm>
            <a:off x="6487668" y="2985516"/>
            <a:ext cx="228600" cy="228600"/>
          </a:xfrm>
          <a:prstGeom prst="rect">
            <a:avLst/>
          </a:prstGeom>
        </p:spPr>
      </p:pic>
      <p:sp>
        <p:nvSpPr>
          <p:cNvPr id="22" name="Text 16"/>
          <p:cNvSpPr txBox="1"/>
          <p:nvPr/>
        </p:nvSpPr>
        <p:spPr>
          <a:xfrm>
            <a:off x="6995160" y="2743200"/>
            <a:ext cx="4480560" cy="329184"/>
          </a:xfrm>
          <a:prstGeom prst="rect">
            <a:avLst/>
          </a:prstGeom>
          <a:noFill/>
          <a:ln/>
        </p:spPr>
        <p:txBody>
          <a:bodyPr wrap="square" lIns="0" tIns="0" rIns="0" bIns="0" rtlCol="0" anchor="t"/>
          <a:lstStyle/>
          <a:p>
            <a:pPr indent="0" marL="0">
              <a:buNone/>
            </a:pPr>
            <a:r>
              <a:rPr lang="en-US" sz="1500" b="1" dirty="0">
                <a:solidFill>
                  <a:schemeClr val="tx1"/>
                </a:solidFill>
              </a:rPr>
              <a:t>Does fee money come straight to us?</a:t>
            </a:r>
            <a:endParaRPr lang="en-US" sz="1500" dirty="0"/>
          </a:p>
        </p:txBody>
      </p:sp>
      <p:sp>
        <p:nvSpPr>
          <p:cNvPr id="23" name="Text 17"/>
          <p:cNvSpPr txBox="1"/>
          <p:nvPr/>
        </p:nvSpPr>
        <p:spPr>
          <a:xfrm>
            <a:off x="6995160" y="3099816"/>
            <a:ext cx="4480560" cy="411480"/>
          </a:xfrm>
          <a:prstGeom prst="rect">
            <a:avLst/>
          </a:prstGeom>
          <a:noFill/>
          <a:ln/>
        </p:spPr>
        <p:txBody>
          <a:bodyPr wrap="square" lIns="0" tIns="0" rIns="0" bIns="0" rtlCol="0" anchor="t"/>
          <a:lstStyle/>
          <a:p>
            <a:pPr indent="0" marL="0">
              <a:buNone/>
            </a:pPr>
            <a:r>
              <a:rPr lang="en-US" sz="1300" dirty="0">
                <a:solidFill>
                  <a:schemeClr val="accent4"/>
                </a:solidFill>
              </a:rPr>
              <a:t>Yes. Into your school's own account. We never hold it.</a:t>
            </a:r>
            <a:endParaRPr lang="en-US" sz="1300" dirty="0"/>
          </a:p>
        </p:txBody>
      </p:sp>
      <p:sp>
        <p:nvSpPr>
          <p:cNvPr id="24" name="Question 5"/>
          <p:cNvSpPr/>
          <p:nvPr/>
        </p:nvSpPr>
        <p:spPr>
          <a:xfrm>
            <a:off x="548640" y="3648456"/>
            <a:ext cx="5440680" cy="914400"/>
          </a:xfrm>
          <a:prstGeom prst="roundRect">
            <a:avLst>
              <a:gd name="adj" fmla="val 10000"/>
            </a:avLst>
          </a:prstGeom>
          <a:solidFill>
            <a:srgbClr val="F4F7FC"/>
          </a:solidFill>
          <a:ln w="12700">
            <a:solidFill>
              <a:srgbClr val="F4F7FC"/>
            </a:solidFill>
            <a:prstDash val="solid"/>
          </a:ln>
        </p:spPr>
      </p:sp>
      <p:sp>
        <p:nvSpPr>
          <p:cNvPr id="25" name="Shape 19"/>
          <p:cNvSpPr/>
          <p:nvPr/>
        </p:nvSpPr>
        <p:spPr>
          <a:xfrm>
            <a:off x="749808" y="3895344"/>
            <a:ext cx="457200" cy="457200"/>
          </a:xfrm>
          <a:prstGeom prst="ellipse">
            <a:avLst/>
          </a:prstGeom>
          <a:solidFill>
            <a:srgbClr val="13804B"/>
          </a:solidFill>
          <a:ln w="12700">
            <a:solidFill>
              <a:srgbClr val="13804B"/>
            </a:solidFill>
            <a:prstDash val="solid"/>
          </a:ln>
        </p:spPr>
      </p:sp>
      <p:pic>
        <p:nvPicPr>
          <p:cNvPr id="26" name="Image 4" descr="preencoded.png">    </p:cNvPr>
          <p:cNvPicPr>
            <a:picLocks noChangeAspect="1"/>
          </p:cNvPicPr>
          <p:nvPr/>
        </p:nvPicPr>
        <p:blipFill>
          <a:blip r:embed="rId5"/>
          <a:stretch>
            <a:fillRect/>
          </a:stretch>
        </p:blipFill>
        <p:spPr>
          <a:xfrm>
            <a:off x="864108" y="4009644"/>
            <a:ext cx="228600" cy="228600"/>
          </a:xfrm>
          <a:prstGeom prst="rect">
            <a:avLst/>
          </a:prstGeom>
        </p:spPr>
      </p:pic>
      <p:sp>
        <p:nvSpPr>
          <p:cNvPr id="27" name="Text 20"/>
          <p:cNvSpPr txBox="1"/>
          <p:nvPr/>
        </p:nvSpPr>
        <p:spPr>
          <a:xfrm>
            <a:off x="1371600" y="3767328"/>
            <a:ext cx="4480560" cy="329184"/>
          </a:xfrm>
          <a:prstGeom prst="rect">
            <a:avLst/>
          </a:prstGeom>
          <a:noFill/>
          <a:ln/>
        </p:spPr>
        <p:txBody>
          <a:bodyPr wrap="square" lIns="0" tIns="0" rIns="0" bIns="0" rtlCol="0" anchor="t"/>
          <a:lstStyle/>
          <a:p>
            <a:pPr indent="0" marL="0">
              <a:buNone/>
            </a:pPr>
            <a:r>
              <a:rPr lang="en-US" sz="1500" b="1" dirty="0">
                <a:solidFill>
                  <a:schemeClr val="tx1"/>
                </a:solidFill>
              </a:rPr>
              <a:t>Can we print ID cards and report cards ourselves?</a:t>
            </a:r>
            <a:endParaRPr lang="en-US" sz="1500" dirty="0"/>
          </a:p>
        </p:txBody>
      </p:sp>
      <p:sp>
        <p:nvSpPr>
          <p:cNvPr id="28" name="Text 21"/>
          <p:cNvSpPr txBox="1"/>
          <p:nvPr/>
        </p:nvSpPr>
        <p:spPr>
          <a:xfrm>
            <a:off x="1371600" y="4123944"/>
            <a:ext cx="4480560" cy="411480"/>
          </a:xfrm>
          <a:prstGeom prst="rect">
            <a:avLst/>
          </a:prstGeom>
          <a:noFill/>
          <a:ln/>
        </p:spPr>
        <p:txBody>
          <a:bodyPr wrap="square" lIns="0" tIns="0" rIns="0" bIns="0" rtlCol="0" anchor="t"/>
          <a:lstStyle/>
          <a:p>
            <a:pPr indent="0" marL="0">
              <a:buNone/>
            </a:pPr>
            <a:r>
              <a:rPr lang="en-US" sz="1300" dirty="0">
                <a:solidFill>
                  <a:schemeClr val="accent4"/>
                </a:solidFill>
              </a:rPr>
              <a:t>Yes, in one click, on any printer.</a:t>
            </a:r>
            <a:endParaRPr lang="en-US" sz="1300" dirty="0"/>
          </a:p>
        </p:txBody>
      </p:sp>
      <p:sp>
        <p:nvSpPr>
          <p:cNvPr id="29" name="Question 6"/>
          <p:cNvSpPr/>
          <p:nvPr/>
        </p:nvSpPr>
        <p:spPr>
          <a:xfrm>
            <a:off x="6172200" y="3648456"/>
            <a:ext cx="5440680" cy="914400"/>
          </a:xfrm>
          <a:prstGeom prst="roundRect">
            <a:avLst>
              <a:gd name="adj" fmla="val 10000"/>
            </a:avLst>
          </a:prstGeom>
          <a:solidFill>
            <a:srgbClr val="F4F7FC"/>
          </a:solidFill>
          <a:ln w="12700">
            <a:solidFill>
              <a:srgbClr val="F4F7FC"/>
            </a:solidFill>
            <a:prstDash val="solid"/>
          </a:ln>
        </p:spPr>
      </p:sp>
      <p:sp>
        <p:nvSpPr>
          <p:cNvPr id="30" name="Shape 23"/>
          <p:cNvSpPr/>
          <p:nvPr/>
        </p:nvSpPr>
        <p:spPr>
          <a:xfrm>
            <a:off x="6373368" y="3895344"/>
            <a:ext cx="457200" cy="457200"/>
          </a:xfrm>
          <a:prstGeom prst="ellipse">
            <a:avLst/>
          </a:prstGeom>
          <a:solidFill>
            <a:srgbClr val="13804B"/>
          </a:solidFill>
          <a:ln w="12700">
            <a:solidFill>
              <a:srgbClr val="13804B"/>
            </a:solidFill>
            <a:prstDash val="solid"/>
          </a:ln>
        </p:spPr>
      </p:sp>
      <p:pic>
        <p:nvPicPr>
          <p:cNvPr id="31" name="Image 5" descr="preencoded.png">    </p:cNvPr>
          <p:cNvPicPr>
            <a:picLocks noChangeAspect="1"/>
          </p:cNvPicPr>
          <p:nvPr/>
        </p:nvPicPr>
        <p:blipFill>
          <a:blip r:embed="rId6"/>
          <a:stretch>
            <a:fillRect/>
          </a:stretch>
        </p:blipFill>
        <p:spPr>
          <a:xfrm>
            <a:off x="6487668" y="4009644"/>
            <a:ext cx="228600" cy="228600"/>
          </a:xfrm>
          <a:prstGeom prst="rect">
            <a:avLst/>
          </a:prstGeom>
        </p:spPr>
      </p:pic>
      <p:sp>
        <p:nvSpPr>
          <p:cNvPr id="32" name="Text 24"/>
          <p:cNvSpPr txBox="1"/>
          <p:nvPr/>
        </p:nvSpPr>
        <p:spPr>
          <a:xfrm>
            <a:off x="6995160" y="3767328"/>
            <a:ext cx="4480560" cy="329184"/>
          </a:xfrm>
          <a:prstGeom prst="rect">
            <a:avLst/>
          </a:prstGeom>
          <a:noFill/>
          <a:ln/>
        </p:spPr>
        <p:txBody>
          <a:bodyPr wrap="square" lIns="0" tIns="0" rIns="0" bIns="0" rtlCol="0" anchor="t"/>
          <a:lstStyle/>
          <a:p>
            <a:pPr indent="0" marL="0">
              <a:buNone/>
            </a:pPr>
            <a:r>
              <a:rPr lang="en-US" sz="1500" b="1" dirty="0">
                <a:solidFill>
                  <a:schemeClr val="tx1"/>
                </a:solidFill>
              </a:rPr>
              <a:t>Will it carry our school's name?</a:t>
            </a:r>
            <a:endParaRPr lang="en-US" sz="1500" dirty="0"/>
          </a:p>
        </p:txBody>
      </p:sp>
      <p:sp>
        <p:nvSpPr>
          <p:cNvPr id="33" name="Text 25"/>
          <p:cNvSpPr txBox="1"/>
          <p:nvPr/>
        </p:nvSpPr>
        <p:spPr>
          <a:xfrm>
            <a:off x="6995160" y="4123944"/>
            <a:ext cx="4480560" cy="411480"/>
          </a:xfrm>
          <a:prstGeom prst="rect">
            <a:avLst/>
          </a:prstGeom>
          <a:noFill/>
          <a:ln/>
        </p:spPr>
        <p:txBody>
          <a:bodyPr wrap="square" lIns="0" tIns="0" rIns="0" bIns="0" rtlCol="0" anchor="t"/>
          <a:lstStyle/>
          <a:p>
            <a:pPr indent="0" marL="0">
              <a:buNone/>
            </a:pPr>
            <a:r>
              <a:rPr lang="en-US" sz="1300" dirty="0">
                <a:solidFill>
                  <a:schemeClr val="accent4"/>
                </a:solidFill>
              </a:rPr>
              <a:t>Yes. Your logo, colours and web address everywhere.</a:t>
            </a:r>
            <a:endParaRPr lang="en-US" sz="1300" dirty="0"/>
          </a:p>
        </p:txBody>
      </p:sp>
      <p:sp>
        <p:nvSpPr>
          <p:cNvPr id="34" name="Question 7"/>
          <p:cNvSpPr/>
          <p:nvPr/>
        </p:nvSpPr>
        <p:spPr>
          <a:xfrm>
            <a:off x="548640" y="4672584"/>
            <a:ext cx="5440680" cy="914400"/>
          </a:xfrm>
          <a:prstGeom prst="roundRect">
            <a:avLst>
              <a:gd name="adj" fmla="val 10000"/>
            </a:avLst>
          </a:prstGeom>
          <a:solidFill>
            <a:srgbClr val="F4F7FC"/>
          </a:solidFill>
          <a:ln w="12700">
            <a:solidFill>
              <a:srgbClr val="F4F7FC"/>
            </a:solidFill>
            <a:prstDash val="solid"/>
          </a:ln>
        </p:spPr>
      </p:sp>
      <p:sp>
        <p:nvSpPr>
          <p:cNvPr id="35" name="Shape 27"/>
          <p:cNvSpPr/>
          <p:nvPr/>
        </p:nvSpPr>
        <p:spPr>
          <a:xfrm>
            <a:off x="749808" y="4919472"/>
            <a:ext cx="457200" cy="457200"/>
          </a:xfrm>
          <a:prstGeom prst="ellipse">
            <a:avLst/>
          </a:prstGeom>
          <a:solidFill>
            <a:srgbClr val="13804B"/>
          </a:solidFill>
          <a:ln w="12700">
            <a:solidFill>
              <a:srgbClr val="13804B"/>
            </a:solidFill>
            <a:prstDash val="solid"/>
          </a:ln>
        </p:spPr>
      </p:sp>
      <p:pic>
        <p:nvPicPr>
          <p:cNvPr id="36" name="Image 6" descr="preencoded.png">    </p:cNvPr>
          <p:cNvPicPr>
            <a:picLocks noChangeAspect="1"/>
          </p:cNvPicPr>
          <p:nvPr/>
        </p:nvPicPr>
        <p:blipFill>
          <a:blip r:embed="rId7"/>
          <a:stretch>
            <a:fillRect/>
          </a:stretch>
        </p:blipFill>
        <p:spPr>
          <a:xfrm>
            <a:off x="864108" y="5033772"/>
            <a:ext cx="228600" cy="228600"/>
          </a:xfrm>
          <a:prstGeom prst="rect">
            <a:avLst/>
          </a:prstGeom>
        </p:spPr>
      </p:pic>
      <p:sp>
        <p:nvSpPr>
          <p:cNvPr id="37" name="Text 28"/>
          <p:cNvSpPr txBox="1"/>
          <p:nvPr/>
        </p:nvSpPr>
        <p:spPr>
          <a:xfrm>
            <a:off x="1371600" y="4791456"/>
            <a:ext cx="4480560" cy="329184"/>
          </a:xfrm>
          <a:prstGeom prst="rect">
            <a:avLst/>
          </a:prstGeom>
          <a:noFill/>
          <a:ln/>
        </p:spPr>
        <p:txBody>
          <a:bodyPr wrap="square" lIns="0" tIns="0" rIns="0" bIns="0" rtlCol="0" anchor="t"/>
          <a:lstStyle/>
          <a:p>
            <a:pPr indent="0" marL="0">
              <a:buNone/>
            </a:pPr>
            <a:r>
              <a:rPr lang="en-US" sz="1500" b="1" dirty="0">
                <a:solidFill>
                  <a:schemeClr val="tx1"/>
                </a:solidFill>
              </a:rPr>
              <a:t>How hard is it to move our data?</a:t>
            </a:r>
            <a:endParaRPr lang="en-US" sz="1500" dirty="0"/>
          </a:p>
        </p:txBody>
      </p:sp>
      <p:sp>
        <p:nvSpPr>
          <p:cNvPr id="38" name="Text 29"/>
          <p:cNvSpPr txBox="1"/>
          <p:nvPr/>
        </p:nvSpPr>
        <p:spPr>
          <a:xfrm>
            <a:off x="1371600" y="5148072"/>
            <a:ext cx="4480560" cy="411480"/>
          </a:xfrm>
          <a:prstGeom prst="rect">
            <a:avLst/>
          </a:prstGeom>
          <a:noFill/>
          <a:ln/>
        </p:spPr>
        <p:txBody>
          <a:bodyPr wrap="square" lIns="0" tIns="0" rIns="0" bIns="0" rtlCol="0" anchor="t"/>
          <a:lstStyle/>
          <a:p>
            <a:pPr indent="0" marL="0">
              <a:buNone/>
            </a:pPr>
            <a:r>
              <a:rPr lang="en-US" sz="1300" dirty="0">
                <a:solidFill>
                  <a:schemeClr val="accent4"/>
                </a:solidFill>
              </a:rPr>
              <a:t>Send your Excel sheets; we set it up with you.</a:t>
            </a:r>
            <a:endParaRPr lang="en-US" sz="1300" dirty="0"/>
          </a:p>
        </p:txBody>
      </p:sp>
      <p:sp>
        <p:nvSpPr>
          <p:cNvPr id="39" name="Question 8"/>
          <p:cNvSpPr/>
          <p:nvPr/>
        </p:nvSpPr>
        <p:spPr>
          <a:xfrm>
            <a:off x="6172200" y="4672584"/>
            <a:ext cx="5440680" cy="914400"/>
          </a:xfrm>
          <a:prstGeom prst="roundRect">
            <a:avLst>
              <a:gd name="adj" fmla="val 10000"/>
            </a:avLst>
          </a:prstGeom>
          <a:solidFill>
            <a:srgbClr val="F4F7FC"/>
          </a:solidFill>
          <a:ln w="12700">
            <a:solidFill>
              <a:srgbClr val="F4F7FC"/>
            </a:solidFill>
            <a:prstDash val="solid"/>
          </a:ln>
        </p:spPr>
      </p:sp>
      <p:sp>
        <p:nvSpPr>
          <p:cNvPr id="40" name="Shape 31"/>
          <p:cNvSpPr/>
          <p:nvPr/>
        </p:nvSpPr>
        <p:spPr>
          <a:xfrm>
            <a:off x="6373368" y="4919472"/>
            <a:ext cx="457200" cy="457200"/>
          </a:xfrm>
          <a:prstGeom prst="ellipse">
            <a:avLst/>
          </a:prstGeom>
          <a:solidFill>
            <a:srgbClr val="13804B"/>
          </a:solidFill>
          <a:ln w="12700">
            <a:solidFill>
              <a:srgbClr val="13804B"/>
            </a:solidFill>
            <a:prstDash val="solid"/>
          </a:ln>
        </p:spPr>
      </p:sp>
      <p:pic>
        <p:nvPicPr>
          <p:cNvPr id="41" name="Image 7" descr="preencoded.png">    </p:cNvPr>
          <p:cNvPicPr>
            <a:picLocks noChangeAspect="1"/>
          </p:cNvPicPr>
          <p:nvPr/>
        </p:nvPicPr>
        <p:blipFill>
          <a:blip r:embed="rId8"/>
          <a:stretch>
            <a:fillRect/>
          </a:stretch>
        </p:blipFill>
        <p:spPr>
          <a:xfrm>
            <a:off x="6487668" y="5033772"/>
            <a:ext cx="228600" cy="228600"/>
          </a:xfrm>
          <a:prstGeom prst="rect">
            <a:avLst/>
          </a:prstGeom>
        </p:spPr>
      </p:pic>
      <p:sp>
        <p:nvSpPr>
          <p:cNvPr id="42" name="Text 32"/>
          <p:cNvSpPr txBox="1"/>
          <p:nvPr/>
        </p:nvSpPr>
        <p:spPr>
          <a:xfrm>
            <a:off x="6995160" y="4791456"/>
            <a:ext cx="4480560" cy="329184"/>
          </a:xfrm>
          <a:prstGeom prst="rect">
            <a:avLst/>
          </a:prstGeom>
          <a:noFill/>
          <a:ln/>
        </p:spPr>
        <p:txBody>
          <a:bodyPr wrap="square" lIns="0" tIns="0" rIns="0" bIns="0" rtlCol="0" anchor="t"/>
          <a:lstStyle/>
          <a:p>
            <a:pPr indent="0" marL="0">
              <a:buNone/>
            </a:pPr>
            <a:r>
              <a:rPr lang="en-US" sz="1500" b="1" dirty="0">
                <a:solidFill>
                  <a:schemeClr val="tx1"/>
                </a:solidFill>
              </a:rPr>
              <a:t>Is our data private to our school?</a:t>
            </a:r>
            <a:endParaRPr lang="en-US" sz="1500" dirty="0"/>
          </a:p>
        </p:txBody>
      </p:sp>
      <p:sp>
        <p:nvSpPr>
          <p:cNvPr id="43" name="Text 33"/>
          <p:cNvSpPr txBox="1"/>
          <p:nvPr/>
        </p:nvSpPr>
        <p:spPr>
          <a:xfrm>
            <a:off x="6995160" y="5148072"/>
            <a:ext cx="4480560" cy="411480"/>
          </a:xfrm>
          <a:prstGeom prst="rect">
            <a:avLst/>
          </a:prstGeom>
          <a:noFill/>
          <a:ln/>
        </p:spPr>
        <p:txBody>
          <a:bodyPr wrap="square" lIns="0" tIns="0" rIns="0" bIns="0" rtlCol="0" anchor="t"/>
          <a:lstStyle/>
          <a:p>
            <a:pPr indent="0" marL="0">
              <a:buNone/>
            </a:pPr>
            <a:r>
              <a:rPr lang="en-US" sz="1300" dirty="0">
                <a:solidFill>
                  <a:schemeClr val="accent4"/>
                </a:solidFill>
              </a:rPr>
              <a:t>Yes. Only your school sees it; every change is recorded.</a:t>
            </a:r>
            <a:endParaRPr lang="en-US" sz="1300" dirty="0"/>
          </a:p>
        </p:txBody>
      </p:sp>
      <p:sp>
        <p:nvSpPr>
          <p:cNvPr id="44" name="Text 34"/>
          <p:cNvSpPr txBox="1"/>
          <p:nvPr/>
        </p:nvSpPr>
        <p:spPr>
          <a:xfrm>
            <a:off x="548640" y="5788152"/>
            <a:ext cx="11064240" cy="411480"/>
          </a:xfrm>
          <a:prstGeom prst="rect">
            <a:avLst/>
          </a:prstGeom>
          <a:noFill/>
          <a:ln/>
        </p:spPr>
        <p:txBody>
          <a:bodyPr wrap="square" lIns="0" tIns="0" rIns="0" bIns="0" rtlCol="0" anchor="t"/>
          <a:lstStyle/>
          <a:p>
            <a:pPr indent="0" marL="0">
              <a:buNone/>
            </a:pPr>
            <a:r>
              <a:rPr lang="en-US" sz="1800" b="1" dirty="0">
                <a:solidFill>
                  <a:schemeClr val="accent1"/>
                </a:solidFill>
              </a:rPr>
              <a:t>Bastaa answers yes to all eight. Ask the others the same questions.</a:t>
            </a:r>
            <a:endParaRPr lang="en-US" sz="1800" dirty="0"/>
          </a:p>
        </p:txBody>
      </p:sp>
      <p:sp>
        <p:nvSpPr>
          <p:cNvPr id="25" name="Slide Number Placeholder 0"/>
          <p:cNvSpPr>
            <a:spLocks noGrp="1"/>
          </p:cNvSpPr>
          <p:nvPr>
            <p:ph type="sldNum" sz="quarter" idx="4294967295"/>
          </p:nvPr>
        </p:nvSpPr>
        <p:spPr>
          <a:xfrm>
            <a:off x="11201400"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body" hasCustomPrompt="1"/>
          </p:nvPr>
        </p:nvSpPr>
        <p:spPr>
          <a:xfrm>
            <a:off x="804672" y="384048"/>
            <a:ext cx="54864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GETTING STARTED</a:t>
            </a:r>
            <a:endParaRPr lang="en-US" sz="1200" dirty="0"/>
          </a:p>
        </p:txBody>
      </p:sp>
      <p:sp>
        <p:nvSpPr>
          <p:cNvPr id="3" name="Text 0"/>
          <p:cNvSpPr/>
          <p:nvPr>
            <p:ph idx="102" type="title" hasCustomPrompt="1"/>
          </p:nvPr>
        </p:nvSpPr>
        <p:spPr>
          <a:xfrm>
            <a:off x="548640" y="749808"/>
            <a:ext cx="11064240" cy="73152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Up and running without the headache</a:t>
            </a:r>
            <a:endParaRPr lang="en-US" sz="3000" dirty="0"/>
          </a:p>
        </p:txBody>
      </p:sp>
      <p:sp>
        <p:nvSpPr>
          <p:cNvPr id="4" name="Shape 2"/>
          <p:cNvSpPr/>
          <p:nvPr/>
        </p:nvSpPr>
        <p:spPr>
          <a:xfrm>
            <a:off x="548640" y="1737360"/>
            <a:ext cx="731520" cy="731520"/>
          </a:xfrm>
          <a:prstGeom prst="ellipse">
            <a:avLst/>
          </a:prstGeom>
          <a:solidFill>
            <a:srgbClr val="2F6FEB"/>
          </a:solidFill>
          <a:ln w="12700">
            <a:solidFill>
              <a:srgbClr val="2F6FEB"/>
            </a:solidFill>
            <a:prstDash val="solid"/>
          </a:ln>
        </p:spPr>
      </p:sp>
      <p:sp>
        <p:nvSpPr>
          <p:cNvPr id="5" name="Text 3"/>
          <p:cNvSpPr txBox="1"/>
          <p:nvPr/>
        </p:nvSpPr>
        <p:spPr>
          <a:xfrm>
            <a:off x="548640" y="173736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rPr>
              <a:t>1</a:t>
            </a:r>
            <a:endParaRPr lang="en-US" sz="2600" dirty="0"/>
          </a:p>
        </p:txBody>
      </p:sp>
      <p:sp>
        <p:nvSpPr>
          <p:cNvPr id="6" name="Shape 4"/>
          <p:cNvSpPr/>
          <p:nvPr/>
        </p:nvSpPr>
        <p:spPr>
          <a:xfrm>
            <a:off x="1417320" y="2103120"/>
            <a:ext cx="1783080" cy="0"/>
          </a:xfrm>
          <a:prstGeom prst="line">
            <a:avLst/>
          </a:prstGeom>
          <a:noFill/>
          <a:ln w="25400">
            <a:solidFill>
              <a:srgbClr val="AFC6FA"/>
            </a:solidFill>
            <a:prstDash val="dash"/>
          </a:ln>
        </p:spPr>
      </p:sp>
      <p:sp>
        <p:nvSpPr>
          <p:cNvPr id="7" name="Shape 5"/>
          <p:cNvSpPr/>
          <p:nvPr/>
        </p:nvSpPr>
        <p:spPr>
          <a:xfrm>
            <a:off x="548640" y="2743200"/>
            <a:ext cx="457200" cy="457200"/>
          </a:xfrm>
          <a:prstGeom prst="ellipse">
            <a:avLst/>
          </a:prstGeom>
          <a:solidFill>
            <a:srgbClr val="EAF1FE"/>
          </a:solidFill>
          <a:ln w="12700">
            <a:solidFill>
              <a:srgbClr val="EAF1FE"/>
            </a:solidFill>
            <a:prstDash val="solid"/>
          </a:ln>
        </p:spPr>
      </p:sp>
      <p:pic>
        <p:nvPicPr>
          <p:cNvPr id="8" name="Image 0" descr="preencoded.png">    </p:cNvPr>
          <p:cNvPicPr>
            <a:picLocks noChangeAspect="1"/>
          </p:cNvPicPr>
          <p:nvPr/>
        </p:nvPicPr>
        <p:blipFill>
          <a:blip r:embed="rId1"/>
          <a:stretch>
            <a:fillRect/>
          </a:stretch>
        </p:blipFill>
        <p:spPr>
          <a:xfrm>
            <a:off x="662940" y="2857500"/>
            <a:ext cx="228600" cy="228600"/>
          </a:xfrm>
          <a:prstGeom prst="rect">
            <a:avLst/>
          </a:prstGeom>
        </p:spPr>
      </p:pic>
      <p:sp>
        <p:nvSpPr>
          <p:cNvPr id="9" name="Text 6"/>
          <p:cNvSpPr txBox="1"/>
          <p:nvPr/>
        </p:nvSpPr>
        <p:spPr>
          <a:xfrm>
            <a:off x="548640" y="3337560"/>
            <a:ext cx="2514600" cy="365760"/>
          </a:xfrm>
          <a:prstGeom prst="rect">
            <a:avLst/>
          </a:prstGeom>
          <a:noFill/>
          <a:ln/>
        </p:spPr>
        <p:txBody>
          <a:bodyPr wrap="square" lIns="0" tIns="0" rIns="0" bIns="0" rtlCol="0" anchor="t"/>
          <a:lstStyle/>
          <a:p>
            <a:pPr indent="0" marL="0">
              <a:buNone/>
            </a:pPr>
            <a:r>
              <a:rPr lang="en-US" sz="1800" b="1" dirty="0">
                <a:solidFill>
                  <a:schemeClr val="tx1"/>
                </a:solidFill>
              </a:rPr>
              <a:t>Free demo</a:t>
            </a:r>
            <a:endParaRPr lang="en-US" sz="1800" dirty="0"/>
          </a:p>
        </p:txBody>
      </p:sp>
      <p:sp>
        <p:nvSpPr>
          <p:cNvPr id="10" name="Text 7"/>
          <p:cNvSpPr txBox="1"/>
          <p:nvPr/>
        </p:nvSpPr>
        <p:spPr>
          <a:xfrm>
            <a:off x="548640" y="3749040"/>
            <a:ext cx="2514600" cy="822960"/>
          </a:xfrm>
          <a:prstGeom prst="rect">
            <a:avLst/>
          </a:prstGeom>
          <a:noFill/>
          <a:ln/>
        </p:spPr>
        <p:txBody>
          <a:bodyPr wrap="square" lIns="0" tIns="0" rIns="0" bIns="0" rtlCol="0" anchor="t"/>
          <a:lstStyle/>
          <a:p>
            <a:pPr indent="0" marL="0">
              <a:buNone/>
            </a:pPr>
            <a:r>
              <a:rPr lang="en-US" sz="1400" dirty="0">
                <a:solidFill>
                  <a:schemeClr val="accent4"/>
                </a:solidFill>
              </a:rPr>
              <a:t>We show you Bastaa with a sample school, on your phone and computer.</a:t>
            </a:r>
            <a:endParaRPr lang="en-US" sz="1400" dirty="0"/>
          </a:p>
        </p:txBody>
      </p:sp>
      <p:sp>
        <p:nvSpPr>
          <p:cNvPr id="11" name="Shape 8"/>
          <p:cNvSpPr/>
          <p:nvPr/>
        </p:nvSpPr>
        <p:spPr>
          <a:xfrm>
            <a:off x="3346704" y="1737360"/>
            <a:ext cx="731520" cy="731520"/>
          </a:xfrm>
          <a:prstGeom prst="ellipse">
            <a:avLst/>
          </a:prstGeom>
          <a:solidFill>
            <a:srgbClr val="2F6FEB"/>
          </a:solidFill>
          <a:ln w="12700">
            <a:solidFill>
              <a:srgbClr val="2F6FEB"/>
            </a:solidFill>
            <a:prstDash val="solid"/>
          </a:ln>
        </p:spPr>
      </p:sp>
      <p:sp>
        <p:nvSpPr>
          <p:cNvPr id="12" name="Text 9"/>
          <p:cNvSpPr txBox="1"/>
          <p:nvPr/>
        </p:nvSpPr>
        <p:spPr>
          <a:xfrm>
            <a:off x="3346704" y="173736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rPr>
              <a:t>2</a:t>
            </a:r>
            <a:endParaRPr lang="en-US" sz="2600" dirty="0"/>
          </a:p>
        </p:txBody>
      </p:sp>
      <p:sp>
        <p:nvSpPr>
          <p:cNvPr id="13" name="Shape 10"/>
          <p:cNvSpPr/>
          <p:nvPr/>
        </p:nvSpPr>
        <p:spPr>
          <a:xfrm>
            <a:off x="4215384" y="2103120"/>
            <a:ext cx="1783080" cy="0"/>
          </a:xfrm>
          <a:prstGeom prst="line">
            <a:avLst/>
          </a:prstGeom>
          <a:noFill/>
          <a:ln w="25400">
            <a:solidFill>
              <a:srgbClr val="AFC6FA"/>
            </a:solidFill>
            <a:prstDash val="dash"/>
          </a:ln>
        </p:spPr>
      </p:sp>
      <p:sp>
        <p:nvSpPr>
          <p:cNvPr id="14" name="Shape 11"/>
          <p:cNvSpPr/>
          <p:nvPr/>
        </p:nvSpPr>
        <p:spPr>
          <a:xfrm>
            <a:off x="3346704" y="2743200"/>
            <a:ext cx="457200" cy="457200"/>
          </a:xfrm>
          <a:prstGeom prst="ellipse">
            <a:avLst/>
          </a:prstGeom>
          <a:solidFill>
            <a:srgbClr val="EAF1FE"/>
          </a:solidFill>
          <a:ln w="12700">
            <a:solidFill>
              <a:srgbClr val="EAF1FE"/>
            </a:solidFill>
            <a:prstDash val="solid"/>
          </a:ln>
        </p:spPr>
      </p:sp>
      <p:pic>
        <p:nvPicPr>
          <p:cNvPr id="15" name="Image 1" descr="preencoded.png">    </p:cNvPr>
          <p:cNvPicPr>
            <a:picLocks noChangeAspect="1"/>
          </p:cNvPicPr>
          <p:nvPr/>
        </p:nvPicPr>
        <p:blipFill>
          <a:blip r:embed="rId2"/>
          <a:stretch>
            <a:fillRect/>
          </a:stretch>
        </p:blipFill>
        <p:spPr>
          <a:xfrm>
            <a:off x="3461004" y="2857500"/>
            <a:ext cx="228600" cy="228600"/>
          </a:xfrm>
          <a:prstGeom prst="rect">
            <a:avLst/>
          </a:prstGeom>
        </p:spPr>
      </p:pic>
      <p:sp>
        <p:nvSpPr>
          <p:cNvPr id="16" name="Text 12"/>
          <p:cNvSpPr txBox="1"/>
          <p:nvPr/>
        </p:nvSpPr>
        <p:spPr>
          <a:xfrm>
            <a:off x="3346704" y="3337560"/>
            <a:ext cx="2514600" cy="365760"/>
          </a:xfrm>
          <a:prstGeom prst="rect">
            <a:avLst/>
          </a:prstGeom>
          <a:noFill/>
          <a:ln/>
        </p:spPr>
        <p:txBody>
          <a:bodyPr wrap="square" lIns="0" tIns="0" rIns="0" bIns="0" rtlCol="0" anchor="t"/>
          <a:lstStyle/>
          <a:p>
            <a:pPr indent="0" marL="0">
              <a:buNone/>
            </a:pPr>
            <a:r>
              <a:rPr lang="en-US" sz="1800" b="1" dirty="0">
                <a:solidFill>
                  <a:schemeClr val="tx1"/>
                </a:solidFill>
              </a:rPr>
              <a:t>Send your Excel sheets</a:t>
            </a:r>
            <a:endParaRPr lang="en-US" sz="1800" dirty="0"/>
          </a:p>
        </p:txBody>
      </p:sp>
      <p:sp>
        <p:nvSpPr>
          <p:cNvPr id="17" name="Text 13"/>
          <p:cNvSpPr txBox="1"/>
          <p:nvPr/>
        </p:nvSpPr>
        <p:spPr>
          <a:xfrm>
            <a:off x="3346704" y="3749040"/>
            <a:ext cx="2514600" cy="822960"/>
          </a:xfrm>
          <a:prstGeom prst="rect">
            <a:avLst/>
          </a:prstGeom>
          <a:noFill/>
          <a:ln/>
        </p:spPr>
        <p:txBody>
          <a:bodyPr wrap="square" lIns="0" tIns="0" rIns="0" bIns="0" rtlCol="0" anchor="t"/>
          <a:lstStyle/>
          <a:p>
            <a:pPr indent="0" marL="0">
              <a:buNone/>
            </a:pPr>
            <a:r>
              <a:rPr lang="en-US" sz="1400" dirty="0">
                <a:solidFill>
                  <a:schemeClr val="accent4"/>
                </a:solidFill>
              </a:rPr>
              <a:t>Students, parents, teachers and fees. We check every row.</a:t>
            </a:r>
            <a:endParaRPr lang="en-US" sz="1400" dirty="0"/>
          </a:p>
        </p:txBody>
      </p:sp>
      <p:sp>
        <p:nvSpPr>
          <p:cNvPr id="18" name="Shape 14"/>
          <p:cNvSpPr/>
          <p:nvPr/>
        </p:nvSpPr>
        <p:spPr>
          <a:xfrm>
            <a:off x="6144768" y="1737360"/>
            <a:ext cx="731520" cy="731520"/>
          </a:xfrm>
          <a:prstGeom prst="ellipse">
            <a:avLst/>
          </a:prstGeom>
          <a:solidFill>
            <a:srgbClr val="2F6FEB"/>
          </a:solidFill>
          <a:ln w="12700">
            <a:solidFill>
              <a:srgbClr val="2F6FEB"/>
            </a:solidFill>
            <a:prstDash val="solid"/>
          </a:ln>
        </p:spPr>
      </p:sp>
      <p:sp>
        <p:nvSpPr>
          <p:cNvPr id="19" name="Text 15"/>
          <p:cNvSpPr txBox="1"/>
          <p:nvPr/>
        </p:nvSpPr>
        <p:spPr>
          <a:xfrm>
            <a:off x="6144768" y="173736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rPr>
              <a:t>3</a:t>
            </a:r>
            <a:endParaRPr lang="en-US" sz="2600" dirty="0"/>
          </a:p>
        </p:txBody>
      </p:sp>
      <p:sp>
        <p:nvSpPr>
          <p:cNvPr id="20" name="Shape 16"/>
          <p:cNvSpPr/>
          <p:nvPr/>
        </p:nvSpPr>
        <p:spPr>
          <a:xfrm>
            <a:off x="7013448" y="2103120"/>
            <a:ext cx="1783080" cy="0"/>
          </a:xfrm>
          <a:prstGeom prst="line">
            <a:avLst/>
          </a:prstGeom>
          <a:noFill/>
          <a:ln w="25400">
            <a:solidFill>
              <a:srgbClr val="AFC6FA"/>
            </a:solidFill>
            <a:prstDash val="dash"/>
          </a:ln>
        </p:spPr>
      </p:sp>
      <p:sp>
        <p:nvSpPr>
          <p:cNvPr id="21" name="Shape 17"/>
          <p:cNvSpPr/>
          <p:nvPr/>
        </p:nvSpPr>
        <p:spPr>
          <a:xfrm>
            <a:off x="6144768" y="2743200"/>
            <a:ext cx="457200" cy="457200"/>
          </a:xfrm>
          <a:prstGeom prst="ellipse">
            <a:avLst/>
          </a:prstGeom>
          <a:solidFill>
            <a:srgbClr val="EAF1FE"/>
          </a:solidFill>
          <a:ln w="12700">
            <a:solidFill>
              <a:srgbClr val="EAF1FE"/>
            </a:solidFill>
            <a:prstDash val="solid"/>
          </a:ln>
        </p:spPr>
      </p:sp>
      <p:pic>
        <p:nvPicPr>
          <p:cNvPr id="22" name="Image 2" descr="preencoded.png">    </p:cNvPr>
          <p:cNvPicPr>
            <a:picLocks noChangeAspect="1"/>
          </p:cNvPicPr>
          <p:nvPr/>
        </p:nvPicPr>
        <p:blipFill>
          <a:blip r:embed="rId3"/>
          <a:stretch>
            <a:fillRect/>
          </a:stretch>
        </p:blipFill>
        <p:spPr>
          <a:xfrm>
            <a:off x="6259068" y="2857500"/>
            <a:ext cx="228600" cy="228600"/>
          </a:xfrm>
          <a:prstGeom prst="rect">
            <a:avLst/>
          </a:prstGeom>
        </p:spPr>
      </p:pic>
      <p:sp>
        <p:nvSpPr>
          <p:cNvPr id="23" name="Text 18"/>
          <p:cNvSpPr txBox="1"/>
          <p:nvPr/>
        </p:nvSpPr>
        <p:spPr>
          <a:xfrm>
            <a:off x="6144768" y="3337560"/>
            <a:ext cx="2514600" cy="365760"/>
          </a:xfrm>
          <a:prstGeom prst="rect">
            <a:avLst/>
          </a:prstGeom>
          <a:noFill/>
          <a:ln/>
        </p:spPr>
        <p:txBody>
          <a:bodyPr wrap="square" lIns="0" tIns="0" rIns="0" bIns="0" rtlCol="0" anchor="t"/>
          <a:lstStyle/>
          <a:p>
            <a:pPr indent="0" marL="0">
              <a:buNone/>
            </a:pPr>
            <a:r>
              <a:rPr lang="en-US" sz="1800" b="1" dirty="0">
                <a:solidFill>
                  <a:schemeClr val="tx1"/>
                </a:solidFill>
              </a:rPr>
              <a:t>We set it up with you</a:t>
            </a:r>
            <a:endParaRPr lang="en-US" sz="1800" dirty="0"/>
          </a:p>
        </p:txBody>
      </p:sp>
      <p:sp>
        <p:nvSpPr>
          <p:cNvPr id="24" name="Text 19"/>
          <p:cNvSpPr txBox="1"/>
          <p:nvPr/>
        </p:nvSpPr>
        <p:spPr>
          <a:xfrm>
            <a:off x="6144768" y="3749040"/>
            <a:ext cx="2514600" cy="822960"/>
          </a:xfrm>
          <a:prstGeom prst="rect">
            <a:avLst/>
          </a:prstGeom>
          <a:noFill/>
          <a:ln/>
        </p:spPr>
        <p:txBody>
          <a:bodyPr wrap="square" lIns="0" tIns="0" rIns="0" bIns="0" rtlCol="0" anchor="t"/>
          <a:lstStyle/>
          <a:p>
            <a:pPr indent="0" marL="0">
              <a:buNone/>
            </a:pPr>
            <a:r>
              <a:rPr lang="en-US" sz="1400" dirty="0">
                <a:solidFill>
                  <a:schemeClr val="accent4"/>
                </a:solidFill>
              </a:rPr>
              <a:t>Classes, subjects, fee structure, logo and logins.</a:t>
            </a:r>
            <a:endParaRPr lang="en-US" sz="1400" dirty="0"/>
          </a:p>
        </p:txBody>
      </p:sp>
      <p:sp>
        <p:nvSpPr>
          <p:cNvPr id="25" name="Shape 20"/>
          <p:cNvSpPr/>
          <p:nvPr/>
        </p:nvSpPr>
        <p:spPr>
          <a:xfrm>
            <a:off x="8942832" y="1737360"/>
            <a:ext cx="731520" cy="731520"/>
          </a:xfrm>
          <a:prstGeom prst="ellipse">
            <a:avLst/>
          </a:prstGeom>
          <a:solidFill>
            <a:srgbClr val="2F6FEB"/>
          </a:solidFill>
          <a:ln w="12700">
            <a:solidFill>
              <a:srgbClr val="2F6FEB"/>
            </a:solidFill>
            <a:prstDash val="solid"/>
          </a:ln>
        </p:spPr>
      </p:sp>
      <p:sp>
        <p:nvSpPr>
          <p:cNvPr id="26" name="Text 21"/>
          <p:cNvSpPr txBox="1"/>
          <p:nvPr/>
        </p:nvSpPr>
        <p:spPr>
          <a:xfrm>
            <a:off x="8942832" y="1737360"/>
            <a:ext cx="731520" cy="731520"/>
          </a:xfrm>
          <a:prstGeom prst="rect">
            <a:avLst/>
          </a:prstGeom>
          <a:noFill/>
          <a:ln/>
        </p:spPr>
        <p:txBody>
          <a:bodyPr wrap="square" lIns="0" tIns="0" rIns="0" bIns="0" rtlCol="0" anchor="ctr"/>
          <a:lstStyle/>
          <a:p>
            <a:pPr algn="ctr" indent="0" marL="0">
              <a:buNone/>
            </a:pPr>
            <a:r>
              <a:rPr lang="en-US" sz="2600" b="1" dirty="0">
                <a:solidFill>
                  <a:schemeClr val="bg1"/>
                </a:solidFill>
              </a:rPr>
              <a:t>4</a:t>
            </a:r>
            <a:endParaRPr lang="en-US" sz="2600" dirty="0"/>
          </a:p>
        </p:txBody>
      </p:sp>
      <p:sp>
        <p:nvSpPr>
          <p:cNvPr id="27" name="Shape 22"/>
          <p:cNvSpPr/>
          <p:nvPr/>
        </p:nvSpPr>
        <p:spPr>
          <a:xfrm>
            <a:off x="8942832" y="2743200"/>
            <a:ext cx="457200" cy="457200"/>
          </a:xfrm>
          <a:prstGeom prst="ellipse">
            <a:avLst/>
          </a:prstGeom>
          <a:solidFill>
            <a:srgbClr val="EAF1FE"/>
          </a:solidFill>
          <a:ln w="12700">
            <a:solidFill>
              <a:srgbClr val="EAF1FE"/>
            </a:solidFill>
            <a:prstDash val="solid"/>
          </a:ln>
        </p:spPr>
      </p:sp>
      <p:pic>
        <p:nvPicPr>
          <p:cNvPr id="28" name="Image 3" descr="preencoded.png">    </p:cNvPr>
          <p:cNvPicPr>
            <a:picLocks noChangeAspect="1"/>
          </p:cNvPicPr>
          <p:nvPr/>
        </p:nvPicPr>
        <p:blipFill>
          <a:blip r:embed="rId4"/>
          <a:stretch>
            <a:fillRect/>
          </a:stretch>
        </p:blipFill>
        <p:spPr>
          <a:xfrm>
            <a:off x="9057132" y="2857500"/>
            <a:ext cx="228600" cy="228600"/>
          </a:xfrm>
          <a:prstGeom prst="rect">
            <a:avLst/>
          </a:prstGeom>
        </p:spPr>
      </p:pic>
      <p:sp>
        <p:nvSpPr>
          <p:cNvPr id="29" name="Text 23"/>
          <p:cNvSpPr txBox="1"/>
          <p:nvPr/>
        </p:nvSpPr>
        <p:spPr>
          <a:xfrm>
            <a:off x="8942832" y="3337560"/>
            <a:ext cx="2514600" cy="365760"/>
          </a:xfrm>
          <a:prstGeom prst="rect">
            <a:avLst/>
          </a:prstGeom>
          <a:noFill/>
          <a:ln/>
        </p:spPr>
        <p:txBody>
          <a:bodyPr wrap="square" lIns="0" tIns="0" rIns="0" bIns="0" rtlCol="0" anchor="t"/>
          <a:lstStyle/>
          <a:p>
            <a:pPr indent="0" marL="0">
              <a:buNone/>
            </a:pPr>
            <a:r>
              <a:rPr lang="en-US" sz="1800" b="1" dirty="0">
                <a:solidFill>
                  <a:schemeClr val="tx1"/>
                </a:solidFill>
              </a:rPr>
              <a:t>Go live</a:t>
            </a:r>
            <a:endParaRPr lang="en-US" sz="1800" dirty="0"/>
          </a:p>
        </p:txBody>
      </p:sp>
      <p:sp>
        <p:nvSpPr>
          <p:cNvPr id="30" name="Text 24"/>
          <p:cNvSpPr txBox="1"/>
          <p:nvPr/>
        </p:nvSpPr>
        <p:spPr>
          <a:xfrm>
            <a:off x="8942832" y="3749040"/>
            <a:ext cx="2514600" cy="822960"/>
          </a:xfrm>
          <a:prstGeom prst="rect">
            <a:avLst/>
          </a:prstGeom>
          <a:noFill/>
          <a:ln/>
        </p:spPr>
        <p:txBody>
          <a:bodyPr wrap="square" lIns="0" tIns="0" rIns="0" bIns="0" rtlCol="0" anchor="t"/>
          <a:lstStyle/>
          <a:p>
            <a:pPr indent="0" marL="0">
              <a:buNone/>
            </a:pPr>
            <a:r>
              <a:rPr lang="en-US" sz="1400" dirty="0">
                <a:solidFill>
                  <a:schemeClr val="accent4"/>
                </a:solidFill>
              </a:rPr>
              <a:t>Teachers and parents get their logins and start using it.</a:t>
            </a:r>
            <a:endParaRPr lang="en-US" sz="1400" dirty="0"/>
          </a:p>
        </p:txBody>
      </p:sp>
      <p:sp>
        <p:nvSpPr>
          <p:cNvPr id="31" name="No hardware"/>
          <p:cNvSpPr/>
          <p:nvPr/>
        </p:nvSpPr>
        <p:spPr>
          <a:xfrm>
            <a:off x="548640" y="4983480"/>
            <a:ext cx="11064240" cy="1051560"/>
          </a:xfrm>
          <a:prstGeom prst="roundRect">
            <a:avLst>
              <a:gd name="adj" fmla="val 12174"/>
            </a:avLst>
          </a:prstGeom>
          <a:solidFill>
            <a:srgbClr val="0B1530"/>
          </a:solidFill>
          <a:ln w="12700">
            <a:solidFill>
              <a:srgbClr val="0B1530"/>
            </a:solidFill>
            <a:prstDash val="solid"/>
          </a:ln>
        </p:spPr>
      </p:sp>
      <p:sp>
        <p:nvSpPr>
          <p:cNvPr id="32" name="Shape 26"/>
          <p:cNvSpPr/>
          <p:nvPr/>
        </p:nvSpPr>
        <p:spPr>
          <a:xfrm>
            <a:off x="868680" y="5257800"/>
            <a:ext cx="475488" cy="475488"/>
          </a:xfrm>
          <a:prstGeom prst="ellipse">
            <a:avLst/>
          </a:prstGeom>
          <a:solidFill>
            <a:srgbClr val="F7A400"/>
          </a:solidFill>
          <a:ln w="12700">
            <a:solidFill>
              <a:srgbClr val="F7A400"/>
            </a:solidFill>
            <a:prstDash val="solid"/>
          </a:ln>
        </p:spPr>
      </p:sp>
      <p:pic>
        <p:nvPicPr>
          <p:cNvPr id="33" name="Image 4" descr="preencoded.png">    </p:cNvPr>
          <p:cNvPicPr>
            <a:picLocks noChangeAspect="1"/>
          </p:cNvPicPr>
          <p:nvPr/>
        </p:nvPicPr>
        <p:blipFill>
          <a:blip r:embed="rId5"/>
          <a:stretch>
            <a:fillRect/>
          </a:stretch>
        </p:blipFill>
        <p:spPr>
          <a:xfrm>
            <a:off x="987552" y="5376672"/>
            <a:ext cx="237744" cy="237744"/>
          </a:xfrm>
          <a:prstGeom prst="rect">
            <a:avLst/>
          </a:prstGeom>
        </p:spPr>
      </p:pic>
      <p:sp>
        <p:nvSpPr>
          <p:cNvPr id="34" name="Text 27"/>
          <p:cNvSpPr txBox="1"/>
          <p:nvPr/>
        </p:nvSpPr>
        <p:spPr>
          <a:xfrm>
            <a:off x="1463040" y="5257800"/>
            <a:ext cx="2011680" cy="475488"/>
          </a:xfrm>
          <a:prstGeom prst="rect">
            <a:avLst/>
          </a:prstGeom>
          <a:noFill/>
          <a:ln/>
        </p:spPr>
        <p:txBody>
          <a:bodyPr wrap="square" lIns="0" tIns="0" rIns="0" bIns="0" rtlCol="0" anchor="ctr"/>
          <a:lstStyle/>
          <a:p>
            <a:pPr indent="0" marL="0">
              <a:buNone/>
            </a:pPr>
            <a:r>
              <a:rPr lang="en-US" sz="1400" b="1" dirty="0">
                <a:solidFill>
                  <a:schemeClr val="bg1"/>
                </a:solidFill>
              </a:rPr>
              <a:t>No hardware to buy</a:t>
            </a:r>
            <a:endParaRPr lang="en-US" sz="1400" dirty="0"/>
          </a:p>
        </p:txBody>
      </p:sp>
      <p:sp>
        <p:nvSpPr>
          <p:cNvPr id="35" name="Shape 28"/>
          <p:cNvSpPr/>
          <p:nvPr/>
        </p:nvSpPr>
        <p:spPr>
          <a:xfrm>
            <a:off x="3566160" y="5257800"/>
            <a:ext cx="475488" cy="475488"/>
          </a:xfrm>
          <a:prstGeom prst="ellipse">
            <a:avLst/>
          </a:prstGeom>
          <a:solidFill>
            <a:srgbClr val="F7A400"/>
          </a:solidFill>
          <a:ln w="12700">
            <a:solidFill>
              <a:srgbClr val="F7A400"/>
            </a:solidFill>
            <a:prstDash val="solid"/>
          </a:ln>
        </p:spPr>
      </p:sp>
      <p:pic>
        <p:nvPicPr>
          <p:cNvPr id="36" name="Image 5" descr="preencoded.png">    </p:cNvPr>
          <p:cNvPicPr>
            <a:picLocks noChangeAspect="1"/>
          </p:cNvPicPr>
          <p:nvPr/>
        </p:nvPicPr>
        <p:blipFill>
          <a:blip r:embed="rId6"/>
          <a:stretch>
            <a:fillRect/>
          </a:stretch>
        </p:blipFill>
        <p:spPr>
          <a:xfrm>
            <a:off x="3685032" y="5376672"/>
            <a:ext cx="237744" cy="237744"/>
          </a:xfrm>
          <a:prstGeom prst="rect">
            <a:avLst/>
          </a:prstGeom>
        </p:spPr>
      </p:pic>
      <p:sp>
        <p:nvSpPr>
          <p:cNvPr id="37" name="Text 29"/>
          <p:cNvSpPr txBox="1"/>
          <p:nvPr/>
        </p:nvSpPr>
        <p:spPr>
          <a:xfrm>
            <a:off x="4160520" y="5257800"/>
            <a:ext cx="2011680" cy="475488"/>
          </a:xfrm>
          <a:prstGeom prst="rect">
            <a:avLst/>
          </a:prstGeom>
          <a:noFill/>
          <a:ln/>
        </p:spPr>
        <p:txBody>
          <a:bodyPr wrap="square" lIns="0" tIns="0" rIns="0" bIns="0" rtlCol="0" anchor="ctr"/>
          <a:lstStyle/>
          <a:p>
            <a:pPr indent="0" marL="0">
              <a:buNone/>
            </a:pPr>
            <a:r>
              <a:rPr lang="en-US" sz="1400" b="1" dirty="0">
                <a:solidFill>
                  <a:schemeClr val="bg1"/>
                </a:solidFill>
              </a:rPr>
              <a:t>Prints on any printer</a:t>
            </a:r>
            <a:endParaRPr lang="en-US" sz="1400" dirty="0"/>
          </a:p>
        </p:txBody>
      </p:sp>
      <p:sp>
        <p:nvSpPr>
          <p:cNvPr id="38" name="Shape 30"/>
          <p:cNvSpPr/>
          <p:nvPr/>
        </p:nvSpPr>
        <p:spPr>
          <a:xfrm>
            <a:off x="6263640" y="5257800"/>
            <a:ext cx="475488" cy="475488"/>
          </a:xfrm>
          <a:prstGeom prst="ellipse">
            <a:avLst/>
          </a:prstGeom>
          <a:solidFill>
            <a:srgbClr val="F7A400"/>
          </a:solidFill>
          <a:ln w="12700">
            <a:solidFill>
              <a:srgbClr val="F7A400"/>
            </a:solidFill>
            <a:prstDash val="solid"/>
          </a:ln>
        </p:spPr>
      </p:sp>
      <p:pic>
        <p:nvPicPr>
          <p:cNvPr id="39" name="Image 6" descr="preencoded.png">    </p:cNvPr>
          <p:cNvPicPr>
            <a:picLocks noChangeAspect="1"/>
          </p:cNvPicPr>
          <p:nvPr/>
        </p:nvPicPr>
        <p:blipFill>
          <a:blip r:embed="rId7"/>
          <a:stretch>
            <a:fillRect/>
          </a:stretch>
        </p:blipFill>
        <p:spPr>
          <a:xfrm>
            <a:off x="6382512" y="5376672"/>
            <a:ext cx="237744" cy="237744"/>
          </a:xfrm>
          <a:prstGeom prst="rect">
            <a:avLst/>
          </a:prstGeom>
        </p:spPr>
      </p:pic>
      <p:sp>
        <p:nvSpPr>
          <p:cNvPr id="40" name="Text 31"/>
          <p:cNvSpPr txBox="1"/>
          <p:nvPr/>
        </p:nvSpPr>
        <p:spPr>
          <a:xfrm>
            <a:off x="6858000" y="5257800"/>
            <a:ext cx="2011680" cy="475488"/>
          </a:xfrm>
          <a:prstGeom prst="rect">
            <a:avLst/>
          </a:prstGeom>
          <a:noFill/>
          <a:ln/>
        </p:spPr>
        <p:txBody>
          <a:bodyPr wrap="square" lIns="0" tIns="0" rIns="0" bIns="0" rtlCol="0" anchor="ctr"/>
          <a:lstStyle/>
          <a:p>
            <a:pPr indent="0" marL="0">
              <a:buNone/>
            </a:pPr>
            <a:r>
              <a:rPr lang="en-US" sz="1400" b="1" dirty="0">
                <a:solidFill>
                  <a:schemeClr val="bg1"/>
                </a:solidFill>
              </a:rPr>
              <a:t>Simple, plain-language screens</a:t>
            </a:r>
            <a:endParaRPr lang="en-US" sz="1400" dirty="0"/>
          </a:p>
        </p:txBody>
      </p:sp>
      <p:sp>
        <p:nvSpPr>
          <p:cNvPr id="41" name="Shape 32"/>
          <p:cNvSpPr/>
          <p:nvPr/>
        </p:nvSpPr>
        <p:spPr>
          <a:xfrm>
            <a:off x="8961120" y="5257800"/>
            <a:ext cx="475488" cy="475488"/>
          </a:xfrm>
          <a:prstGeom prst="ellipse">
            <a:avLst/>
          </a:prstGeom>
          <a:solidFill>
            <a:srgbClr val="F7A400"/>
          </a:solidFill>
          <a:ln w="12700">
            <a:solidFill>
              <a:srgbClr val="F7A400"/>
            </a:solidFill>
            <a:prstDash val="solid"/>
          </a:ln>
        </p:spPr>
      </p:sp>
      <p:pic>
        <p:nvPicPr>
          <p:cNvPr id="42" name="Image 7" descr="preencoded.png">    </p:cNvPr>
          <p:cNvPicPr>
            <a:picLocks noChangeAspect="1"/>
          </p:cNvPicPr>
          <p:nvPr/>
        </p:nvPicPr>
        <p:blipFill>
          <a:blip r:embed="rId8"/>
          <a:stretch>
            <a:fillRect/>
          </a:stretch>
        </p:blipFill>
        <p:spPr>
          <a:xfrm>
            <a:off x="9079992" y="5376672"/>
            <a:ext cx="237744" cy="237744"/>
          </a:xfrm>
          <a:prstGeom prst="rect">
            <a:avLst/>
          </a:prstGeom>
        </p:spPr>
      </p:pic>
      <p:sp>
        <p:nvSpPr>
          <p:cNvPr id="43" name="Text 33"/>
          <p:cNvSpPr txBox="1"/>
          <p:nvPr/>
        </p:nvSpPr>
        <p:spPr>
          <a:xfrm>
            <a:off x="9555480" y="5257800"/>
            <a:ext cx="2011680" cy="475488"/>
          </a:xfrm>
          <a:prstGeom prst="rect">
            <a:avLst/>
          </a:prstGeom>
          <a:noFill/>
          <a:ln/>
        </p:spPr>
        <p:txBody>
          <a:bodyPr wrap="square" lIns="0" tIns="0" rIns="0" bIns="0" rtlCol="0" anchor="ctr"/>
          <a:lstStyle/>
          <a:p>
            <a:pPr indent="0" marL="0">
              <a:buNone/>
            </a:pPr>
            <a:r>
              <a:rPr lang="en-US" sz="1400" b="1" dirty="0">
                <a:solidFill>
                  <a:schemeClr val="bg1"/>
                </a:solidFill>
              </a:rPr>
              <a:t>Setup done with you</a:t>
            </a:r>
            <a:endParaRPr lang="en-US" sz="1400" dirty="0"/>
          </a:p>
        </p:txBody>
      </p:sp>
      <p:sp>
        <p:nvSpPr>
          <p:cNvPr id="25" name="Slide Number Placeholder 0"/>
          <p:cNvSpPr>
            <a:spLocks noGrp="1"/>
          </p:cNvSpPr>
          <p:nvPr>
            <p:ph type="sldNum" sz="quarter" idx="4294967295"/>
          </p:nvPr>
        </p:nvSpPr>
        <p:spPr>
          <a:xfrm>
            <a:off x="11201400"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body" hasCustomPrompt="1"/>
          </p:nvPr>
        </p:nvSpPr>
        <p:spPr>
          <a:xfrm>
            <a:off x="804672" y="384048"/>
            <a:ext cx="54864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SAFE AND PRIVATE</a:t>
            </a:r>
            <a:endParaRPr lang="en-US" sz="1200" dirty="0"/>
          </a:p>
        </p:txBody>
      </p:sp>
      <p:sp>
        <p:nvSpPr>
          <p:cNvPr id="3" name="Text 0"/>
          <p:cNvSpPr/>
          <p:nvPr>
            <p:ph idx="102" type="title" hasCustomPrompt="1"/>
          </p:nvPr>
        </p:nvSpPr>
        <p:spPr>
          <a:xfrm>
            <a:off x="548640" y="749808"/>
            <a:ext cx="11064240" cy="731520"/>
          </a:xfrm>
          <a:prstGeom prst="rect">
            <a:avLst/>
          </a:prstGeom>
          <a:noFill/>
          <a:ln/>
        </p:spPr>
        <p:txBody>
          <a:bodyPr wrap="square" lIns="0" tIns="0" rIns="0" bIns="0" rtlCol="0" anchor="t"/>
          <a:lstStyle/>
          <a:p>
            <a:pPr algn="l" indent="0" marL="0">
              <a:buNone/>
            </a:pPr>
            <a:r>
              <a:rPr lang="en-US" sz="3000" b="1" dirty="0">
                <a:solidFill>
                  <a:schemeClr val="bg1"/>
                </a:solidFill>
                <a:latin typeface="Arial" pitchFamily="34" charset="0"/>
                <a:ea typeface="Arial" pitchFamily="34" charset="-122"/>
                <a:cs typeface="Arial" pitchFamily="34" charset="-120"/>
              </a:rPr>
              <a:t>Your school's data stays your school's</a:t>
            </a:r>
            <a:endParaRPr lang="en-US" sz="3000" dirty="0"/>
          </a:p>
        </p:txBody>
      </p:sp>
      <p:sp>
        <p:nvSpPr>
          <p:cNvPr id="4" name="Private to your school"/>
          <p:cNvSpPr/>
          <p:nvPr/>
        </p:nvSpPr>
        <p:spPr>
          <a:xfrm>
            <a:off x="548640" y="1737360"/>
            <a:ext cx="3538728" cy="1783080"/>
          </a:xfrm>
          <a:prstGeom prst="roundRect">
            <a:avLst>
              <a:gd name="adj" fmla="val 6154"/>
            </a:avLst>
          </a:prstGeom>
          <a:solidFill>
            <a:srgbClr val="17234A"/>
          </a:solidFill>
          <a:ln w="12700">
            <a:solidFill>
              <a:srgbClr val="17234A"/>
            </a:solidFill>
            <a:prstDash val="solid"/>
          </a:ln>
        </p:spPr>
      </p:sp>
      <p:sp>
        <p:nvSpPr>
          <p:cNvPr id="5" name="Shape 3"/>
          <p:cNvSpPr/>
          <p:nvPr/>
        </p:nvSpPr>
        <p:spPr>
          <a:xfrm>
            <a:off x="804672" y="2011680"/>
            <a:ext cx="512064" cy="512064"/>
          </a:xfrm>
          <a:prstGeom prst="ellipse">
            <a:avLst/>
          </a:prstGeom>
          <a:solidFill>
            <a:srgbClr val="F7A400"/>
          </a:solidFill>
          <a:ln w="12700">
            <a:solidFill>
              <a:srgbClr val="F7A400"/>
            </a:solidFill>
            <a:prstDash val="solid"/>
          </a:ln>
        </p:spPr>
      </p:sp>
      <p:pic>
        <p:nvPicPr>
          <p:cNvPr id="6" name="Image 0" descr="preencoded.png">    </p:cNvPr>
          <p:cNvPicPr>
            <a:picLocks noChangeAspect="1"/>
          </p:cNvPicPr>
          <p:nvPr/>
        </p:nvPicPr>
        <p:blipFill>
          <a:blip r:embed="rId1"/>
          <a:stretch>
            <a:fillRect/>
          </a:stretch>
        </p:blipFill>
        <p:spPr>
          <a:xfrm>
            <a:off x="932688" y="2139696"/>
            <a:ext cx="256032" cy="256032"/>
          </a:xfrm>
          <a:prstGeom prst="rect">
            <a:avLst/>
          </a:prstGeom>
        </p:spPr>
      </p:pic>
      <p:sp>
        <p:nvSpPr>
          <p:cNvPr id="7" name="Text 4"/>
          <p:cNvSpPr txBox="1"/>
          <p:nvPr/>
        </p:nvSpPr>
        <p:spPr>
          <a:xfrm>
            <a:off x="804672" y="2651760"/>
            <a:ext cx="3063240" cy="329184"/>
          </a:xfrm>
          <a:prstGeom prst="rect">
            <a:avLst/>
          </a:prstGeom>
          <a:noFill/>
          <a:ln/>
        </p:spPr>
        <p:txBody>
          <a:bodyPr wrap="square" lIns="0" tIns="0" rIns="0" bIns="0" rtlCol="0" anchor="ctr"/>
          <a:lstStyle/>
          <a:p>
            <a:pPr indent="0" marL="0">
              <a:buNone/>
            </a:pPr>
            <a:r>
              <a:rPr lang="en-US" sz="1600" b="1" dirty="0">
                <a:solidFill>
                  <a:schemeClr val="bg1"/>
                </a:solidFill>
              </a:rPr>
              <a:t>Private to your school</a:t>
            </a:r>
            <a:endParaRPr lang="en-US" sz="1600" dirty="0"/>
          </a:p>
        </p:txBody>
      </p:sp>
      <p:sp>
        <p:nvSpPr>
          <p:cNvPr id="8" name="Text 5"/>
          <p:cNvSpPr txBox="1"/>
          <p:nvPr/>
        </p:nvSpPr>
        <p:spPr>
          <a:xfrm>
            <a:off x="804672" y="2999232"/>
            <a:ext cx="3063240" cy="457200"/>
          </a:xfrm>
          <a:prstGeom prst="rect">
            <a:avLst/>
          </a:prstGeom>
          <a:noFill/>
          <a:ln/>
        </p:spPr>
        <p:txBody>
          <a:bodyPr wrap="square" lIns="0" tIns="0" rIns="0" bIns="0" rtlCol="0" anchor="t"/>
          <a:lstStyle/>
          <a:p>
            <a:pPr indent="0" marL="0">
              <a:buNone/>
            </a:pPr>
            <a:r>
              <a:rPr lang="en-US" sz="1300" dirty="0">
                <a:solidFill>
                  <a:schemeClr val="accent5"/>
                </a:solidFill>
              </a:rPr>
              <a:t>No other school can ever see your data.</a:t>
            </a:r>
            <a:endParaRPr lang="en-US" sz="1300" dirty="0"/>
          </a:p>
        </p:txBody>
      </p:sp>
      <p:sp>
        <p:nvSpPr>
          <p:cNvPr id="9" name="Right person, right data"/>
          <p:cNvSpPr/>
          <p:nvPr/>
        </p:nvSpPr>
        <p:spPr>
          <a:xfrm>
            <a:off x="4270248" y="1737360"/>
            <a:ext cx="3538728" cy="1783080"/>
          </a:xfrm>
          <a:prstGeom prst="roundRect">
            <a:avLst>
              <a:gd name="adj" fmla="val 6154"/>
            </a:avLst>
          </a:prstGeom>
          <a:solidFill>
            <a:srgbClr val="17234A"/>
          </a:solidFill>
          <a:ln w="12700">
            <a:solidFill>
              <a:srgbClr val="17234A"/>
            </a:solidFill>
            <a:prstDash val="solid"/>
          </a:ln>
        </p:spPr>
      </p:sp>
      <p:sp>
        <p:nvSpPr>
          <p:cNvPr id="10" name="Shape 7"/>
          <p:cNvSpPr/>
          <p:nvPr/>
        </p:nvSpPr>
        <p:spPr>
          <a:xfrm>
            <a:off x="4526280" y="2011680"/>
            <a:ext cx="512064" cy="512064"/>
          </a:xfrm>
          <a:prstGeom prst="ellipse">
            <a:avLst/>
          </a:prstGeom>
          <a:solidFill>
            <a:srgbClr val="F7A400"/>
          </a:solidFill>
          <a:ln w="12700">
            <a:solidFill>
              <a:srgbClr val="F7A400"/>
            </a:solidFill>
            <a:prstDash val="solid"/>
          </a:ln>
        </p:spPr>
      </p:sp>
      <p:pic>
        <p:nvPicPr>
          <p:cNvPr id="11" name="Image 1" descr="preencoded.png">    </p:cNvPr>
          <p:cNvPicPr>
            <a:picLocks noChangeAspect="1"/>
          </p:cNvPicPr>
          <p:nvPr/>
        </p:nvPicPr>
        <p:blipFill>
          <a:blip r:embed="rId2"/>
          <a:stretch>
            <a:fillRect/>
          </a:stretch>
        </p:blipFill>
        <p:spPr>
          <a:xfrm>
            <a:off x="4654296" y="2139696"/>
            <a:ext cx="256032" cy="256032"/>
          </a:xfrm>
          <a:prstGeom prst="rect">
            <a:avLst/>
          </a:prstGeom>
        </p:spPr>
      </p:pic>
      <p:sp>
        <p:nvSpPr>
          <p:cNvPr id="12" name="Text 8"/>
          <p:cNvSpPr txBox="1"/>
          <p:nvPr/>
        </p:nvSpPr>
        <p:spPr>
          <a:xfrm>
            <a:off x="4526280" y="2651760"/>
            <a:ext cx="3063240" cy="329184"/>
          </a:xfrm>
          <a:prstGeom prst="rect">
            <a:avLst/>
          </a:prstGeom>
          <a:noFill/>
          <a:ln/>
        </p:spPr>
        <p:txBody>
          <a:bodyPr wrap="square" lIns="0" tIns="0" rIns="0" bIns="0" rtlCol="0" anchor="ctr"/>
          <a:lstStyle/>
          <a:p>
            <a:pPr indent="0" marL="0">
              <a:buNone/>
            </a:pPr>
            <a:r>
              <a:rPr lang="en-US" sz="1600" b="1" dirty="0">
                <a:solidFill>
                  <a:schemeClr val="bg1"/>
                </a:solidFill>
              </a:rPr>
              <a:t>Right person, right data</a:t>
            </a:r>
            <a:endParaRPr lang="en-US" sz="1600" dirty="0"/>
          </a:p>
        </p:txBody>
      </p:sp>
      <p:sp>
        <p:nvSpPr>
          <p:cNvPr id="13" name="Text 9"/>
          <p:cNvSpPr txBox="1"/>
          <p:nvPr/>
        </p:nvSpPr>
        <p:spPr>
          <a:xfrm>
            <a:off x="4526280" y="2999232"/>
            <a:ext cx="3063240" cy="457200"/>
          </a:xfrm>
          <a:prstGeom prst="rect">
            <a:avLst/>
          </a:prstGeom>
          <a:noFill/>
          <a:ln/>
        </p:spPr>
        <p:txBody>
          <a:bodyPr wrap="square" lIns="0" tIns="0" rIns="0" bIns="0" rtlCol="0" anchor="t"/>
          <a:lstStyle/>
          <a:p>
            <a:pPr indent="0" marL="0">
              <a:buNone/>
            </a:pPr>
            <a:r>
              <a:rPr lang="en-US" sz="1300" dirty="0">
                <a:solidFill>
                  <a:schemeClr val="accent5"/>
                </a:solidFill>
              </a:rPr>
              <a:t>Parents see only their child; teachers only their classes.</a:t>
            </a:r>
            <a:endParaRPr lang="en-US" sz="1300" dirty="0"/>
          </a:p>
        </p:txBody>
      </p:sp>
      <p:sp>
        <p:nvSpPr>
          <p:cNvPr id="14" name="Every change recorded"/>
          <p:cNvSpPr/>
          <p:nvPr/>
        </p:nvSpPr>
        <p:spPr>
          <a:xfrm>
            <a:off x="7991856" y="1737360"/>
            <a:ext cx="3538728" cy="1783080"/>
          </a:xfrm>
          <a:prstGeom prst="roundRect">
            <a:avLst>
              <a:gd name="adj" fmla="val 6154"/>
            </a:avLst>
          </a:prstGeom>
          <a:solidFill>
            <a:srgbClr val="17234A"/>
          </a:solidFill>
          <a:ln w="12700">
            <a:solidFill>
              <a:srgbClr val="17234A"/>
            </a:solidFill>
            <a:prstDash val="solid"/>
          </a:ln>
        </p:spPr>
      </p:sp>
      <p:sp>
        <p:nvSpPr>
          <p:cNvPr id="15" name="Shape 11"/>
          <p:cNvSpPr/>
          <p:nvPr/>
        </p:nvSpPr>
        <p:spPr>
          <a:xfrm>
            <a:off x="8247888" y="2011680"/>
            <a:ext cx="512064" cy="512064"/>
          </a:xfrm>
          <a:prstGeom prst="ellipse">
            <a:avLst/>
          </a:prstGeom>
          <a:solidFill>
            <a:srgbClr val="F7A400"/>
          </a:solidFill>
          <a:ln w="12700">
            <a:solidFill>
              <a:srgbClr val="F7A400"/>
            </a:solidFill>
            <a:prstDash val="solid"/>
          </a:ln>
        </p:spPr>
      </p:sp>
      <p:pic>
        <p:nvPicPr>
          <p:cNvPr id="16" name="Image 2" descr="preencoded.png">    </p:cNvPr>
          <p:cNvPicPr>
            <a:picLocks noChangeAspect="1"/>
          </p:cNvPicPr>
          <p:nvPr/>
        </p:nvPicPr>
        <p:blipFill>
          <a:blip r:embed="rId3"/>
          <a:stretch>
            <a:fillRect/>
          </a:stretch>
        </p:blipFill>
        <p:spPr>
          <a:xfrm>
            <a:off x="8375904" y="2139696"/>
            <a:ext cx="256032" cy="256032"/>
          </a:xfrm>
          <a:prstGeom prst="rect">
            <a:avLst/>
          </a:prstGeom>
        </p:spPr>
      </p:pic>
      <p:sp>
        <p:nvSpPr>
          <p:cNvPr id="17" name="Text 12"/>
          <p:cNvSpPr txBox="1"/>
          <p:nvPr/>
        </p:nvSpPr>
        <p:spPr>
          <a:xfrm>
            <a:off x="8247888" y="2651760"/>
            <a:ext cx="3063240" cy="329184"/>
          </a:xfrm>
          <a:prstGeom prst="rect">
            <a:avLst/>
          </a:prstGeom>
          <a:noFill/>
          <a:ln/>
        </p:spPr>
        <p:txBody>
          <a:bodyPr wrap="square" lIns="0" tIns="0" rIns="0" bIns="0" rtlCol="0" anchor="ctr"/>
          <a:lstStyle/>
          <a:p>
            <a:pPr indent="0" marL="0">
              <a:buNone/>
            </a:pPr>
            <a:r>
              <a:rPr lang="en-US" sz="1600" b="1" dirty="0">
                <a:solidFill>
                  <a:schemeClr val="bg1"/>
                </a:solidFill>
              </a:rPr>
              <a:t>Every change recorded</a:t>
            </a:r>
            <a:endParaRPr lang="en-US" sz="1600" dirty="0"/>
          </a:p>
        </p:txBody>
      </p:sp>
      <p:sp>
        <p:nvSpPr>
          <p:cNvPr id="18" name="Text 13"/>
          <p:cNvSpPr txBox="1"/>
          <p:nvPr/>
        </p:nvSpPr>
        <p:spPr>
          <a:xfrm>
            <a:off x="8247888" y="2999232"/>
            <a:ext cx="3063240" cy="457200"/>
          </a:xfrm>
          <a:prstGeom prst="rect">
            <a:avLst/>
          </a:prstGeom>
          <a:noFill/>
          <a:ln/>
        </p:spPr>
        <p:txBody>
          <a:bodyPr wrap="square" lIns="0" tIns="0" rIns="0" bIns="0" rtlCol="0" anchor="t"/>
          <a:lstStyle/>
          <a:p>
            <a:pPr indent="0" marL="0">
              <a:buNone/>
            </a:pPr>
            <a:r>
              <a:rPr lang="en-US" sz="1300" dirty="0">
                <a:solidFill>
                  <a:schemeClr val="accent5"/>
                </a:solidFill>
              </a:rPr>
              <a:t>See who changed what, and when, in the audit log.</a:t>
            </a:r>
            <a:endParaRPr lang="en-US" sz="1300" dirty="0"/>
          </a:p>
        </p:txBody>
      </p:sp>
      <p:sp>
        <p:nvSpPr>
          <p:cNvPr id="19" name="Support only with your OK"/>
          <p:cNvSpPr/>
          <p:nvPr/>
        </p:nvSpPr>
        <p:spPr>
          <a:xfrm>
            <a:off x="548640" y="3749040"/>
            <a:ext cx="3538728" cy="1783080"/>
          </a:xfrm>
          <a:prstGeom prst="roundRect">
            <a:avLst>
              <a:gd name="adj" fmla="val 6154"/>
            </a:avLst>
          </a:prstGeom>
          <a:solidFill>
            <a:srgbClr val="17234A"/>
          </a:solidFill>
          <a:ln w="12700">
            <a:solidFill>
              <a:srgbClr val="17234A"/>
            </a:solidFill>
            <a:prstDash val="solid"/>
          </a:ln>
        </p:spPr>
      </p:sp>
      <p:sp>
        <p:nvSpPr>
          <p:cNvPr id="20" name="Shape 15"/>
          <p:cNvSpPr/>
          <p:nvPr/>
        </p:nvSpPr>
        <p:spPr>
          <a:xfrm>
            <a:off x="804672" y="4023360"/>
            <a:ext cx="512064" cy="512064"/>
          </a:xfrm>
          <a:prstGeom prst="ellipse">
            <a:avLst/>
          </a:prstGeom>
          <a:solidFill>
            <a:srgbClr val="F7A400"/>
          </a:solidFill>
          <a:ln w="12700">
            <a:solidFill>
              <a:srgbClr val="F7A400"/>
            </a:solidFill>
            <a:prstDash val="solid"/>
          </a:ln>
        </p:spPr>
      </p:sp>
      <p:pic>
        <p:nvPicPr>
          <p:cNvPr id="21" name="Image 3" descr="preencoded.png">    </p:cNvPr>
          <p:cNvPicPr>
            <a:picLocks noChangeAspect="1"/>
          </p:cNvPicPr>
          <p:nvPr/>
        </p:nvPicPr>
        <p:blipFill>
          <a:blip r:embed="rId4"/>
          <a:stretch>
            <a:fillRect/>
          </a:stretch>
        </p:blipFill>
        <p:spPr>
          <a:xfrm>
            <a:off x="932688" y="4151376"/>
            <a:ext cx="256032" cy="256032"/>
          </a:xfrm>
          <a:prstGeom prst="rect">
            <a:avLst/>
          </a:prstGeom>
        </p:spPr>
      </p:pic>
      <p:sp>
        <p:nvSpPr>
          <p:cNvPr id="22" name="Text 16"/>
          <p:cNvSpPr txBox="1"/>
          <p:nvPr/>
        </p:nvSpPr>
        <p:spPr>
          <a:xfrm>
            <a:off x="804672" y="4663440"/>
            <a:ext cx="3063240" cy="329184"/>
          </a:xfrm>
          <a:prstGeom prst="rect">
            <a:avLst/>
          </a:prstGeom>
          <a:noFill/>
          <a:ln/>
        </p:spPr>
        <p:txBody>
          <a:bodyPr wrap="square" lIns="0" tIns="0" rIns="0" bIns="0" rtlCol="0" anchor="ctr"/>
          <a:lstStyle/>
          <a:p>
            <a:pPr indent="0" marL="0">
              <a:buNone/>
            </a:pPr>
            <a:r>
              <a:rPr lang="en-US" sz="1600" b="1" dirty="0">
                <a:solidFill>
                  <a:schemeClr val="bg1"/>
                </a:solidFill>
              </a:rPr>
              <a:t>Support only with your OK</a:t>
            </a:r>
            <a:endParaRPr lang="en-US" sz="1600" dirty="0"/>
          </a:p>
        </p:txBody>
      </p:sp>
      <p:sp>
        <p:nvSpPr>
          <p:cNvPr id="23" name="Text 17"/>
          <p:cNvSpPr txBox="1"/>
          <p:nvPr/>
        </p:nvSpPr>
        <p:spPr>
          <a:xfrm>
            <a:off x="804672" y="5010912"/>
            <a:ext cx="3063240" cy="457200"/>
          </a:xfrm>
          <a:prstGeom prst="rect">
            <a:avLst/>
          </a:prstGeom>
          <a:noFill/>
          <a:ln/>
        </p:spPr>
        <p:txBody>
          <a:bodyPr wrap="square" lIns="0" tIns="0" rIns="0" bIns="0" rtlCol="0" anchor="t"/>
          <a:lstStyle/>
          <a:p>
            <a:pPr indent="0" marL="0">
              <a:buNone/>
            </a:pPr>
            <a:r>
              <a:rPr lang="en-US" sz="1300" dirty="0">
                <a:solidFill>
                  <a:schemeClr val="accent5"/>
                </a:solidFill>
              </a:rPr>
              <a:t>Our team can look only when your admin approves, read-only.</a:t>
            </a:r>
            <a:endParaRPr lang="en-US" sz="1300" dirty="0"/>
          </a:p>
        </p:txBody>
      </p:sp>
      <p:sp>
        <p:nvSpPr>
          <p:cNvPr id="24" name="No ads, ever"/>
          <p:cNvSpPr/>
          <p:nvPr/>
        </p:nvSpPr>
        <p:spPr>
          <a:xfrm>
            <a:off x="4270248" y="3749040"/>
            <a:ext cx="3538728" cy="1783080"/>
          </a:xfrm>
          <a:prstGeom prst="roundRect">
            <a:avLst>
              <a:gd name="adj" fmla="val 6154"/>
            </a:avLst>
          </a:prstGeom>
          <a:solidFill>
            <a:srgbClr val="17234A"/>
          </a:solidFill>
          <a:ln w="12700">
            <a:solidFill>
              <a:srgbClr val="17234A"/>
            </a:solidFill>
            <a:prstDash val="solid"/>
          </a:ln>
        </p:spPr>
      </p:sp>
      <p:sp>
        <p:nvSpPr>
          <p:cNvPr id="25" name="Shape 19"/>
          <p:cNvSpPr/>
          <p:nvPr/>
        </p:nvSpPr>
        <p:spPr>
          <a:xfrm>
            <a:off x="4526280" y="4023360"/>
            <a:ext cx="512064" cy="512064"/>
          </a:xfrm>
          <a:prstGeom prst="ellipse">
            <a:avLst/>
          </a:prstGeom>
          <a:solidFill>
            <a:srgbClr val="F7A400"/>
          </a:solidFill>
          <a:ln w="12700">
            <a:solidFill>
              <a:srgbClr val="F7A400"/>
            </a:solidFill>
            <a:prstDash val="solid"/>
          </a:ln>
        </p:spPr>
      </p:sp>
      <p:pic>
        <p:nvPicPr>
          <p:cNvPr id="26" name="Image 4" descr="preencoded.png">    </p:cNvPr>
          <p:cNvPicPr>
            <a:picLocks noChangeAspect="1"/>
          </p:cNvPicPr>
          <p:nvPr/>
        </p:nvPicPr>
        <p:blipFill>
          <a:blip r:embed="rId5"/>
          <a:stretch>
            <a:fillRect/>
          </a:stretch>
        </p:blipFill>
        <p:spPr>
          <a:xfrm>
            <a:off x="4654296" y="4151376"/>
            <a:ext cx="256032" cy="256032"/>
          </a:xfrm>
          <a:prstGeom prst="rect">
            <a:avLst/>
          </a:prstGeom>
        </p:spPr>
      </p:pic>
      <p:sp>
        <p:nvSpPr>
          <p:cNvPr id="27" name="Text 20"/>
          <p:cNvSpPr txBox="1"/>
          <p:nvPr/>
        </p:nvSpPr>
        <p:spPr>
          <a:xfrm>
            <a:off x="4526280" y="4663440"/>
            <a:ext cx="3063240" cy="329184"/>
          </a:xfrm>
          <a:prstGeom prst="rect">
            <a:avLst/>
          </a:prstGeom>
          <a:noFill/>
          <a:ln/>
        </p:spPr>
        <p:txBody>
          <a:bodyPr wrap="square" lIns="0" tIns="0" rIns="0" bIns="0" rtlCol="0" anchor="ctr"/>
          <a:lstStyle/>
          <a:p>
            <a:pPr indent="0" marL="0">
              <a:buNone/>
            </a:pPr>
            <a:r>
              <a:rPr lang="en-US" sz="1600" b="1" dirty="0">
                <a:solidFill>
                  <a:schemeClr val="bg1"/>
                </a:solidFill>
              </a:rPr>
              <a:t>No ads, ever</a:t>
            </a:r>
            <a:endParaRPr lang="en-US" sz="1600" dirty="0"/>
          </a:p>
        </p:txBody>
      </p:sp>
      <p:sp>
        <p:nvSpPr>
          <p:cNvPr id="28" name="Text 21"/>
          <p:cNvSpPr txBox="1"/>
          <p:nvPr/>
        </p:nvSpPr>
        <p:spPr>
          <a:xfrm>
            <a:off x="4526280" y="5010912"/>
            <a:ext cx="3063240" cy="457200"/>
          </a:xfrm>
          <a:prstGeom prst="rect">
            <a:avLst/>
          </a:prstGeom>
          <a:noFill/>
          <a:ln/>
        </p:spPr>
        <p:txBody>
          <a:bodyPr wrap="square" lIns="0" tIns="0" rIns="0" bIns="0" rtlCol="0" anchor="t"/>
          <a:lstStyle/>
          <a:p>
            <a:pPr indent="0" marL="0">
              <a:buNone/>
            </a:pPr>
            <a:r>
              <a:rPr lang="en-US" sz="1300" dirty="0">
                <a:solidFill>
                  <a:schemeClr val="accent5"/>
                </a:solidFill>
              </a:rPr>
              <a:t>Your data is never sold or used for advertising.</a:t>
            </a:r>
            <a:endParaRPr lang="en-US" sz="1300" dirty="0"/>
          </a:p>
        </p:txBody>
      </p:sp>
      <p:sp>
        <p:nvSpPr>
          <p:cNvPr id="29" name="Works without SMS"/>
          <p:cNvSpPr/>
          <p:nvPr/>
        </p:nvSpPr>
        <p:spPr>
          <a:xfrm>
            <a:off x="7991856" y="3749040"/>
            <a:ext cx="3538728" cy="1783080"/>
          </a:xfrm>
          <a:prstGeom prst="roundRect">
            <a:avLst>
              <a:gd name="adj" fmla="val 6154"/>
            </a:avLst>
          </a:prstGeom>
          <a:solidFill>
            <a:srgbClr val="17234A"/>
          </a:solidFill>
          <a:ln w="12700">
            <a:solidFill>
              <a:srgbClr val="17234A"/>
            </a:solidFill>
            <a:prstDash val="solid"/>
          </a:ln>
        </p:spPr>
      </p:sp>
      <p:sp>
        <p:nvSpPr>
          <p:cNvPr id="30" name="Shape 23"/>
          <p:cNvSpPr/>
          <p:nvPr/>
        </p:nvSpPr>
        <p:spPr>
          <a:xfrm>
            <a:off x="8247888" y="4023360"/>
            <a:ext cx="512064" cy="512064"/>
          </a:xfrm>
          <a:prstGeom prst="ellipse">
            <a:avLst/>
          </a:prstGeom>
          <a:solidFill>
            <a:srgbClr val="F7A400"/>
          </a:solidFill>
          <a:ln w="12700">
            <a:solidFill>
              <a:srgbClr val="F7A400"/>
            </a:solidFill>
            <a:prstDash val="solid"/>
          </a:ln>
        </p:spPr>
      </p:sp>
      <p:pic>
        <p:nvPicPr>
          <p:cNvPr id="31" name="Image 5" descr="preencoded.png">    </p:cNvPr>
          <p:cNvPicPr>
            <a:picLocks noChangeAspect="1"/>
          </p:cNvPicPr>
          <p:nvPr/>
        </p:nvPicPr>
        <p:blipFill>
          <a:blip r:embed="rId6"/>
          <a:stretch>
            <a:fillRect/>
          </a:stretch>
        </p:blipFill>
        <p:spPr>
          <a:xfrm>
            <a:off x="8375904" y="4151376"/>
            <a:ext cx="256032" cy="256032"/>
          </a:xfrm>
          <a:prstGeom prst="rect">
            <a:avLst/>
          </a:prstGeom>
        </p:spPr>
      </p:pic>
      <p:sp>
        <p:nvSpPr>
          <p:cNvPr id="32" name="Text 24"/>
          <p:cNvSpPr txBox="1"/>
          <p:nvPr/>
        </p:nvSpPr>
        <p:spPr>
          <a:xfrm>
            <a:off x="8247888" y="4663440"/>
            <a:ext cx="3063240" cy="329184"/>
          </a:xfrm>
          <a:prstGeom prst="rect">
            <a:avLst/>
          </a:prstGeom>
          <a:noFill/>
          <a:ln/>
        </p:spPr>
        <p:txBody>
          <a:bodyPr wrap="square" lIns="0" tIns="0" rIns="0" bIns="0" rtlCol="0" anchor="ctr"/>
          <a:lstStyle/>
          <a:p>
            <a:pPr indent="0" marL="0">
              <a:buNone/>
            </a:pPr>
            <a:r>
              <a:rPr lang="en-US" sz="1600" b="1" dirty="0">
                <a:solidFill>
                  <a:schemeClr val="bg1"/>
                </a:solidFill>
              </a:rPr>
              <a:t>Works without SMS</a:t>
            </a:r>
            <a:endParaRPr lang="en-US" sz="1600" dirty="0"/>
          </a:p>
        </p:txBody>
      </p:sp>
      <p:sp>
        <p:nvSpPr>
          <p:cNvPr id="33" name="Text 25"/>
          <p:cNvSpPr txBox="1"/>
          <p:nvPr/>
        </p:nvSpPr>
        <p:spPr>
          <a:xfrm>
            <a:off x="8247888" y="5010912"/>
            <a:ext cx="3063240" cy="457200"/>
          </a:xfrm>
          <a:prstGeom prst="rect">
            <a:avLst/>
          </a:prstGeom>
          <a:noFill/>
          <a:ln/>
        </p:spPr>
        <p:txBody>
          <a:bodyPr wrap="square" lIns="0" tIns="0" rIns="0" bIns="0" rtlCol="0" anchor="t"/>
          <a:lstStyle/>
          <a:p>
            <a:pPr indent="0" marL="0">
              <a:buNone/>
            </a:pPr>
            <a:r>
              <a:rPr lang="en-US" sz="1300" dirty="0">
                <a:solidFill>
                  <a:schemeClr val="accent5"/>
                </a:solidFill>
              </a:rPr>
              <a:t>Passwords and one-time codes from your office.</a:t>
            </a:r>
            <a:endParaRPr lang="en-US" sz="1300" dirty="0"/>
          </a:p>
        </p:txBody>
      </p:sp>
      <p:sp>
        <p:nvSpPr>
          <p:cNvPr id="25" name="Slide Number Placeholder 0"/>
          <p:cNvSpPr>
            <a:spLocks noGrp="1"/>
          </p:cNvSpPr>
          <p:nvPr>
            <p:ph type="sldNum" sz="quarter" idx="4294967295"/>
          </p:nvPr>
        </p:nvSpPr>
        <p:spPr>
          <a:xfrm>
            <a:off x="11201400"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body" hasCustomPrompt="1"/>
          </p:nvPr>
        </p:nvSpPr>
        <p:spPr>
          <a:xfrm>
            <a:off x="804672" y="384048"/>
            <a:ext cx="54864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PLANS</a:t>
            </a:r>
            <a:endParaRPr lang="en-US" sz="1200" dirty="0"/>
          </a:p>
        </p:txBody>
      </p:sp>
      <p:sp>
        <p:nvSpPr>
          <p:cNvPr id="3" name="Text 0"/>
          <p:cNvSpPr/>
          <p:nvPr>
            <p:ph idx="102" type="title" hasCustomPrompt="1"/>
          </p:nvPr>
        </p:nvSpPr>
        <p:spPr>
          <a:xfrm>
            <a:off x="548640" y="749808"/>
            <a:ext cx="11064240" cy="73152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A plan for every size of school</a:t>
            </a:r>
            <a:endParaRPr lang="en-US" sz="3000" dirty="0"/>
          </a:p>
        </p:txBody>
      </p:sp>
      <p:sp>
        <p:nvSpPr>
          <p:cNvPr id="4" name="Plan Basic"/>
          <p:cNvSpPr/>
          <p:nvPr/>
        </p:nvSpPr>
        <p:spPr>
          <a:xfrm>
            <a:off x="548640" y="1691640"/>
            <a:ext cx="3538728" cy="3566160"/>
          </a:xfrm>
          <a:prstGeom prst="roundRect">
            <a:avLst>
              <a:gd name="adj" fmla="val 3618"/>
            </a:avLst>
          </a:prstGeom>
          <a:solidFill>
            <a:srgbClr val="F4F7FC"/>
          </a:solidFill>
          <a:ln w="12700">
            <a:solidFill>
              <a:srgbClr val="F4F7FC"/>
            </a:solidFill>
            <a:prstDash val="solid"/>
          </a:ln>
        </p:spPr>
      </p:sp>
      <p:sp>
        <p:nvSpPr>
          <p:cNvPr id="5" name="Text 3"/>
          <p:cNvSpPr txBox="1"/>
          <p:nvPr/>
        </p:nvSpPr>
        <p:spPr>
          <a:xfrm>
            <a:off x="822960" y="1920240"/>
            <a:ext cx="2194560" cy="457200"/>
          </a:xfrm>
          <a:prstGeom prst="rect">
            <a:avLst/>
          </a:prstGeom>
          <a:noFill/>
          <a:ln/>
        </p:spPr>
        <p:txBody>
          <a:bodyPr wrap="square" lIns="0" tIns="0" rIns="0" bIns="0" rtlCol="0" anchor="ctr"/>
          <a:lstStyle/>
          <a:p>
            <a:pPr indent="0" marL="0">
              <a:buNone/>
            </a:pPr>
            <a:r>
              <a:rPr lang="en-US" sz="2400" b="1" dirty="0">
                <a:solidFill>
                  <a:schemeClr val="tx1"/>
                </a:solidFill>
              </a:rPr>
              <a:t>Basic</a:t>
            </a:r>
            <a:endParaRPr lang="en-US" sz="2400" dirty="0"/>
          </a:p>
        </p:txBody>
      </p:sp>
      <p:sp>
        <p:nvSpPr>
          <p:cNvPr id="6" name="Text 4"/>
          <p:cNvSpPr txBox="1"/>
          <p:nvPr/>
        </p:nvSpPr>
        <p:spPr>
          <a:xfrm>
            <a:off x="822960" y="2423160"/>
            <a:ext cx="3017520" cy="320040"/>
          </a:xfrm>
          <a:prstGeom prst="rect">
            <a:avLst/>
          </a:prstGeom>
          <a:noFill/>
          <a:ln/>
        </p:spPr>
        <p:txBody>
          <a:bodyPr wrap="square" lIns="0" tIns="0" rIns="0" bIns="0" rtlCol="0" anchor="ctr"/>
          <a:lstStyle/>
          <a:p>
            <a:pPr indent="0" marL="0">
              <a:buNone/>
            </a:pPr>
            <a:r>
              <a:rPr lang="en-US" sz="1500" b="1" dirty="0">
                <a:solidFill>
                  <a:schemeClr val="accent1"/>
                </a:solidFill>
              </a:rPr>
              <a:t>Up to 500 students</a:t>
            </a:r>
            <a:endParaRPr lang="en-US" sz="1500" dirty="0"/>
          </a:p>
        </p:txBody>
      </p:sp>
      <p:sp>
        <p:nvSpPr>
          <p:cNvPr id="7" name="Text 5"/>
          <p:cNvSpPr txBox="1"/>
          <p:nvPr/>
        </p:nvSpPr>
        <p:spPr>
          <a:xfrm>
            <a:off x="822960" y="2971800"/>
            <a:ext cx="3017520" cy="2103120"/>
          </a:xfrm>
          <a:prstGeom prst="rect">
            <a:avLst/>
          </a:prstGeom>
          <a:noFill/>
          <a:ln/>
        </p:spPr>
        <p:txBody>
          <a:bodyPr wrap="square" lIns="0" tIns="0" rIns="0" bIns="0" rtlCol="0" anchor="t"/>
          <a:lstStyle/>
          <a:p>
            <a:pPr marL="203200" indent="-203200">
              <a:spcAft>
                <a:spcPts val="900"/>
              </a:spcAft>
              <a:buSzPct val="100000"/>
              <a:buChar char="✓"/>
            </a:pPr>
            <a:r>
              <a:rPr lang="en-US" sz="1500" dirty="0">
                <a:solidFill>
                  <a:schemeClr val="tx1"/>
                </a:solidFill>
              </a:rPr>
              <a:t>All core school management</a:t>
            </a:r>
            <a:endParaRPr lang="en-US" sz="1500" dirty="0"/>
          </a:p>
          <a:p>
            <a:pPr marL="203200" indent="-203200">
              <a:spcAft>
                <a:spcPts val="900"/>
              </a:spcAft>
              <a:buSzPct val="100000"/>
              <a:buChar char="✓"/>
            </a:pPr>
            <a:r>
              <a:rPr lang="en-US" sz="1500" dirty="0">
                <a:solidFill>
                  <a:schemeClr val="tx1"/>
                </a:solidFill>
              </a:rPr>
              <a:t>Attendance, homework, exams</a:t>
            </a:r>
            <a:endParaRPr lang="en-US" sz="1500" dirty="0"/>
          </a:p>
          <a:p>
            <a:pPr marL="203200" indent="-203200">
              <a:spcAft>
                <a:spcPts val="900"/>
              </a:spcAft>
              <a:buSzPct val="100000"/>
              <a:buChar char="✓"/>
            </a:pPr>
            <a:r>
              <a:rPr lang="en-US" sz="1500" dirty="0">
                <a:solidFill>
                  <a:schemeClr val="tx1"/>
                </a:solidFill>
              </a:rPr>
              <a:t>Parent and teacher app</a:t>
            </a:r>
            <a:endParaRPr lang="en-US" sz="1500" dirty="0"/>
          </a:p>
          <a:p>
            <a:pPr marL="203200" indent="-203200">
              <a:spcAft>
                <a:spcPts val="900"/>
              </a:spcAft>
              <a:buSzPct val="100000"/>
              <a:buChar char="✓"/>
            </a:pPr>
            <a:r>
              <a:rPr lang="en-US" sz="1500" dirty="0">
                <a:solidFill>
                  <a:schemeClr val="tx1"/>
                </a:solidFill>
              </a:rPr>
              <a:t>2,000 SMS a month included</a:t>
            </a:r>
            <a:endParaRPr lang="en-US" sz="1500" dirty="0"/>
          </a:p>
        </p:txBody>
      </p:sp>
      <p:sp>
        <p:nvSpPr>
          <p:cNvPr id="8" name="Plan Professional"/>
          <p:cNvSpPr/>
          <p:nvPr/>
        </p:nvSpPr>
        <p:spPr>
          <a:xfrm>
            <a:off x="4270248" y="1691640"/>
            <a:ext cx="3538728" cy="3566160"/>
          </a:xfrm>
          <a:prstGeom prst="roundRect">
            <a:avLst>
              <a:gd name="adj" fmla="val 3618"/>
            </a:avLst>
          </a:prstGeom>
          <a:solidFill>
            <a:srgbClr val="2F6FEB"/>
          </a:solidFill>
          <a:ln w="12700">
            <a:solidFill>
              <a:srgbClr val="2F6FEB"/>
            </a:solidFill>
            <a:prstDash val="solid"/>
          </a:ln>
          <a:effectLst>
            <a:outerShdw sx="100000" sy="100000" kx="0" ky="0" algn="bl" rotWithShape="0" blurRad="177800" dist="50800" dir="5400000">
              <a:srgbClr val="0B1530">
                <a:alpha val="20000"/>
              </a:srgbClr>
            </a:outerShdw>
          </a:effectLst>
        </p:spPr>
      </p:sp>
      <p:sp>
        <p:nvSpPr>
          <p:cNvPr id="9" name="Shape 7"/>
          <p:cNvSpPr/>
          <p:nvPr/>
        </p:nvSpPr>
        <p:spPr>
          <a:xfrm>
            <a:off x="6327648" y="1920240"/>
            <a:ext cx="1234440" cy="292608"/>
          </a:xfrm>
          <a:prstGeom prst="roundRect">
            <a:avLst>
              <a:gd name="adj" fmla="val 50000"/>
            </a:avLst>
          </a:prstGeom>
          <a:solidFill>
            <a:srgbClr val="F7A400"/>
          </a:solidFill>
          <a:ln w="12700">
            <a:solidFill>
              <a:srgbClr val="F7A400"/>
            </a:solidFill>
            <a:prstDash val="solid"/>
          </a:ln>
        </p:spPr>
      </p:sp>
      <p:sp>
        <p:nvSpPr>
          <p:cNvPr id="10" name="Text 8"/>
          <p:cNvSpPr txBox="1"/>
          <p:nvPr/>
        </p:nvSpPr>
        <p:spPr>
          <a:xfrm>
            <a:off x="6327648" y="1920240"/>
            <a:ext cx="1234440" cy="292608"/>
          </a:xfrm>
          <a:prstGeom prst="rect">
            <a:avLst/>
          </a:prstGeom>
          <a:noFill/>
          <a:ln/>
        </p:spPr>
        <p:txBody>
          <a:bodyPr wrap="square" lIns="0" tIns="0" rIns="0" bIns="0" rtlCol="0" anchor="ctr"/>
          <a:lstStyle/>
          <a:p>
            <a:pPr algn="ctr" indent="0" marL="0">
              <a:buNone/>
            </a:pPr>
            <a:r>
              <a:rPr lang="en-US" sz="1100" b="1" dirty="0">
                <a:solidFill>
                  <a:schemeClr val="tx1"/>
                </a:solidFill>
              </a:rPr>
              <a:t>Most popular</a:t>
            </a:r>
            <a:endParaRPr lang="en-US" sz="1100" dirty="0"/>
          </a:p>
        </p:txBody>
      </p:sp>
      <p:sp>
        <p:nvSpPr>
          <p:cNvPr id="11" name="Text 9"/>
          <p:cNvSpPr txBox="1"/>
          <p:nvPr/>
        </p:nvSpPr>
        <p:spPr>
          <a:xfrm>
            <a:off x="4544568" y="1920240"/>
            <a:ext cx="2194560" cy="457200"/>
          </a:xfrm>
          <a:prstGeom prst="rect">
            <a:avLst/>
          </a:prstGeom>
          <a:noFill/>
          <a:ln/>
        </p:spPr>
        <p:txBody>
          <a:bodyPr wrap="square" lIns="0" tIns="0" rIns="0" bIns="0" rtlCol="0" anchor="ctr"/>
          <a:lstStyle/>
          <a:p>
            <a:pPr indent="0" marL="0">
              <a:buNone/>
            </a:pPr>
            <a:r>
              <a:rPr lang="en-US" sz="2400" b="1" dirty="0">
                <a:solidFill>
                  <a:schemeClr val="bg1"/>
                </a:solidFill>
              </a:rPr>
              <a:t>Professional</a:t>
            </a:r>
            <a:endParaRPr lang="en-US" sz="2400" dirty="0"/>
          </a:p>
        </p:txBody>
      </p:sp>
      <p:sp>
        <p:nvSpPr>
          <p:cNvPr id="12" name="Text 10"/>
          <p:cNvSpPr txBox="1"/>
          <p:nvPr/>
        </p:nvSpPr>
        <p:spPr>
          <a:xfrm>
            <a:off x="4544568" y="2423160"/>
            <a:ext cx="3017520" cy="320040"/>
          </a:xfrm>
          <a:prstGeom prst="rect">
            <a:avLst/>
          </a:prstGeom>
          <a:noFill/>
          <a:ln/>
        </p:spPr>
        <p:txBody>
          <a:bodyPr wrap="square" lIns="0" tIns="0" rIns="0" bIns="0" rtlCol="0" anchor="ctr"/>
          <a:lstStyle/>
          <a:p>
            <a:pPr indent="0" marL="0">
              <a:buNone/>
            </a:pPr>
            <a:r>
              <a:rPr lang="en-US" sz="1500" b="1" dirty="0">
                <a:solidFill>
                  <a:schemeClr val="bg1"/>
                </a:solidFill>
              </a:rPr>
              <a:t>Up to 2,000 students</a:t>
            </a:r>
            <a:endParaRPr lang="en-US" sz="1500" dirty="0"/>
          </a:p>
        </p:txBody>
      </p:sp>
      <p:sp>
        <p:nvSpPr>
          <p:cNvPr id="13" name="Text 11"/>
          <p:cNvSpPr txBox="1"/>
          <p:nvPr/>
        </p:nvSpPr>
        <p:spPr>
          <a:xfrm>
            <a:off x="4544568" y="2971800"/>
            <a:ext cx="3017520" cy="2103120"/>
          </a:xfrm>
          <a:prstGeom prst="rect">
            <a:avLst/>
          </a:prstGeom>
          <a:noFill/>
          <a:ln/>
        </p:spPr>
        <p:txBody>
          <a:bodyPr wrap="square" lIns="0" tIns="0" rIns="0" bIns="0" rtlCol="0" anchor="t"/>
          <a:lstStyle/>
          <a:p>
            <a:pPr marL="203200" indent="-203200">
              <a:spcAft>
                <a:spcPts val="900"/>
              </a:spcAft>
              <a:buSzPct val="100000"/>
              <a:buChar char="✓"/>
            </a:pPr>
            <a:r>
              <a:rPr lang="en-US" sz="1500" dirty="0">
                <a:solidFill>
                  <a:schemeClr val="bg1"/>
                </a:solidFill>
              </a:rPr>
              <a:t>Everything in Basic</a:t>
            </a:r>
            <a:endParaRPr lang="en-US" sz="1500" dirty="0"/>
          </a:p>
          <a:p>
            <a:pPr marL="203200" indent="-203200">
              <a:spcAft>
                <a:spcPts val="900"/>
              </a:spcAft>
              <a:buSzPct val="100000"/>
              <a:buChar char="✓"/>
            </a:pPr>
            <a:r>
              <a:rPr lang="en-US" sz="1500" dirty="0">
                <a:solidFill>
                  <a:schemeClr val="bg1"/>
                </a:solidFill>
              </a:rPr>
              <a:t>Online fee payments</a:t>
            </a:r>
            <a:endParaRPr lang="en-US" sz="1500" dirty="0"/>
          </a:p>
          <a:p>
            <a:pPr marL="203200" indent="-203200">
              <a:spcAft>
                <a:spcPts val="900"/>
              </a:spcAft>
              <a:buSzPct val="100000"/>
              <a:buChar char="✓"/>
            </a:pPr>
            <a:r>
              <a:rPr lang="en-US" sz="1500" dirty="0">
                <a:solidFill>
                  <a:schemeClr val="bg1"/>
                </a:solidFill>
              </a:rPr>
              <a:t>Report builder</a:t>
            </a:r>
            <a:endParaRPr lang="en-US" sz="1500" dirty="0"/>
          </a:p>
          <a:p>
            <a:pPr marL="203200" indent="-203200">
              <a:spcAft>
                <a:spcPts val="900"/>
              </a:spcAft>
              <a:buSzPct val="100000"/>
              <a:buChar char="✓"/>
            </a:pPr>
            <a:r>
              <a:rPr lang="en-US" sz="1500" dirty="0">
                <a:solidFill>
                  <a:schemeClr val="bg1"/>
                </a:solidFill>
              </a:rPr>
              <a:t>10,000 SMS a month included</a:t>
            </a:r>
            <a:endParaRPr lang="en-US" sz="1500" dirty="0"/>
          </a:p>
        </p:txBody>
      </p:sp>
      <p:sp>
        <p:nvSpPr>
          <p:cNvPr id="14" name="Plan Enterprise"/>
          <p:cNvSpPr/>
          <p:nvPr/>
        </p:nvSpPr>
        <p:spPr>
          <a:xfrm>
            <a:off x="7991856" y="1691640"/>
            <a:ext cx="3538728" cy="3566160"/>
          </a:xfrm>
          <a:prstGeom prst="roundRect">
            <a:avLst>
              <a:gd name="adj" fmla="val 3618"/>
            </a:avLst>
          </a:prstGeom>
          <a:solidFill>
            <a:srgbClr val="F4F7FC"/>
          </a:solidFill>
          <a:ln w="12700">
            <a:solidFill>
              <a:srgbClr val="F4F7FC"/>
            </a:solidFill>
            <a:prstDash val="solid"/>
          </a:ln>
        </p:spPr>
      </p:sp>
      <p:sp>
        <p:nvSpPr>
          <p:cNvPr id="15" name="Text 13"/>
          <p:cNvSpPr txBox="1"/>
          <p:nvPr/>
        </p:nvSpPr>
        <p:spPr>
          <a:xfrm>
            <a:off x="8266176" y="1920240"/>
            <a:ext cx="2194560" cy="457200"/>
          </a:xfrm>
          <a:prstGeom prst="rect">
            <a:avLst/>
          </a:prstGeom>
          <a:noFill/>
          <a:ln/>
        </p:spPr>
        <p:txBody>
          <a:bodyPr wrap="square" lIns="0" tIns="0" rIns="0" bIns="0" rtlCol="0" anchor="ctr"/>
          <a:lstStyle/>
          <a:p>
            <a:pPr indent="0" marL="0">
              <a:buNone/>
            </a:pPr>
            <a:r>
              <a:rPr lang="en-US" sz="2400" b="1" dirty="0">
                <a:solidFill>
                  <a:schemeClr val="tx1"/>
                </a:solidFill>
              </a:rPr>
              <a:t>Enterprise</a:t>
            </a:r>
            <a:endParaRPr lang="en-US" sz="2400" dirty="0"/>
          </a:p>
        </p:txBody>
      </p:sp>
      <p:sp>
        <p:nvSpPr>
          <p:cNvPr id="16" name="Text 14"/>
          <p:cNvSpPr txBox="1"/>
          <p:nvPr/>
        </p:nvSpPr>
        <p:spPr>
          <a:xfrm>
            <a:off x="8266176" y="2423160"/>
            <a:ext cx="3017520" cy="320040"/>
          </a:xfrm>
          <a:prstGeom prst="rect">
            <a:avLst/>
          </a:prstGeom>
          <a:noFill/>
          <a:ln/>
        </p:spPr>
        <p:txBody>
          <a:bodyPr wrap="square" lIns="0" tIns="0" rIns="0" bIns="0" rtlCol="0" anchor="ctr"/>
          <a:lstStyle/>
          <a:p>
            <a:pPr indent="0" marL="0">
              <a:buNone/>
            </a:pPr>
            <a:r>
              <a:rPr lang="en-US" sz="1500" b="1" dirty="0">
                <a:solidFill>
                  <a:schemeClr val="accent1"/>
                </a:solidFill>
              </a:rPr>
              <a:t>Large schools and groups</a:t>
            </a:r>
            <a:endParaRPr lang="en-US" sz="1500" dirty="0"/>
          </a:p>
        </p:txBody>
      </p:sp>
      <p:sp>
        <p:nvSpPr>
          <p:cNvPr id="17" name="Text 15"/>
          <p:cNvSpPr txBox="1"/>
          <p:nvPr/>
        </p:nvSpPr>
        <p:spPr>
          <a:xfrm>
            <a:off x="8266176" y="2971800"/>
            <a:ext cx="3017520" cy="2103120"/>
          </a:xfrm>
          <a:prstGeom prst="rect">
            <a:avLst/>
          </a:prstGeom>
          <a:noFill/>
          <a:ln/>
        </p:spPr>
        <p:txBody>
          <a:bodyPr wrap="square" lIns="0" tIns="0" rIns="0" bIns="0" rtlCol="0" anchor="t"/>
          <a:lstStyle/>
          <a:p>
            <a:pPr marL="203200" indent="-203200">
              <a:spcAft>
                <a:spcPts val="900"/>
              </a:spcAft>
              <a:buSzPct val="100000"/>
              <a:buChar char="✓"/>
            </a:pPr>
            <a:r>
              <a:rPr lang="en-US" sz="1500" dirty="0">
                <a:solidFill>
                  <a:schemeClr val="tx1"/>
                </a:solidFill>
              </a:rPr>
              <a:t>Everything in Professional</a:t>
            </a:r>
            <a:endParaRPr lang="en-US" sz="1500" dirty="0"/>
          </a:p>
          <a:p>
            <a:pPr marL="203200" indent="-203200">
              <a:spcAft>
                <a:spcPts val="900"/>
              </a:spcAft>
              <a:buSzPct val="100000"/>
              <a:buChar char="✓"/>
            </a:pPr>
            <a:r>
              <a:rPr lang="en-US" sz="1500" dirty="0">
                <a:solidFill>
                  <a:schemeClr val="tx1"/>
                </a:solidFill>
              </a:rPr>
              <a:t>No student limit</a:t>
            </a:r>
            <a:endParaRPr lang="en-US" sz="1500" dirty="0"/>
          </a:p>
          <a:p>
            <a:pPr marL="203200" indent="-203200">
              <a:spcAft>
                <a:spcPts val="900"/>
              </a:spcAft>
              <a:buSzPct val="100000"/>
              <a:buChar char="✓"/>
            </a:pPr>
            <a:r>
              <a:rPr lang="en-US" sz="1500" dirty="0">
                <a:solidFill>
                  <a:schemeClr val="tx1"/>
                </a:solidFill>
              </a:rPr>
              <a:t>AI assistant (coming soon)</a:t>
            </a:r>
            <a:endParaRPr lang="en-US" sz="1500" dirty="0"/>
          </a:p>
          <a:p>
            <a:pPr marL="203200" indent="-203200">
              <a:spcAft>
                <a:spcPts val="900"/>
              </a:spcAft>
              <a:buSzPct val="100000"/>
              <a:buChar char="✓"/>
            </a:pPr>
            <a:r>
              <a:rPr lang="en-US" sz="1500" dirty="0">
                <a:solidFill>
                  <a:schemeClr val="tx1"/>
                </a:solidFill>
              </a:rPr>
              <a:t>Custom terms</a:t>
            </a:r>
            <a:endParaRPr lang="en-US" sz="1500" dirty="0"/>
          </a:p>
        </p:txBody>
      </p:sp>
      <p:sp>
        <p:nvSpPr>
          <p:cNvPr id="18" name="Quote"/>
          <p:cNvSpPr/>
          <p:nvPr/>
        </p:nvSpPr>
        <p:spPr>
          <a:xfrm>
            <a:off x="548640" y="5486400"/>
            <a:ext cx="11064240" cy="685800"/>
          </a:xfrm>
          <a:prstGeom prst="roundRect">
            <a:avLst>
              <a:gd name="adj" fmla="val 16000"/>
            </a:avLst>
          </a:prstGeom>
          <a:solidFill>
            <a:srgbClr val="FFF4DB"/>
          </a:solidFill>
          <a:ln w="12700">
            <a:solidFill>
              <a:srgbClr val="FFF4DB"/>
            </a:solidFill>
            <a:prstDash val="solid"/>
          </a:ln>
        </p:spPr>
      </p:sp>
      <p:sp>
        <p:nvSpPr>
          <p:cNvPr id="19" name="Text 17"/>
          <p:cNvSpPr txBox="1"/>
          <p:nvPr/>
        </p:nvSpPr>
        <p:spPr>
          <a:xfrm>
            <a:off x="822960" y="5486400"/>
            <a:ext cx="10607040" cy="685800"/>
          </a:xfrm>
          <a:prstGeom prst="rect">
            <a:avLst/>
          </a:prstGeom>
          <a:noFill/>
          <a:ln/>
        </p:spPr>
        <p:txBody>
          <a:bodyPr wrap="square" lIns="0" tIns="0" rIns="0" bIns="0" rtlCol="0" anchor="ctr"/>
          <a:lstStyle/>
          <a:p>
            <a:pPr indent="0" marL="0">
              <a:buNone/>
            </a:pPr>
            <a:r>
              <a:rPr lang="en-US" sz="1600" b="1" dirty="0">
                <a:solidFill>
                  <a:srgbClr val="0B1530"/>
                </a:solidFill>
              </a:rPr>
              <a:t>Priced by the number of students.  </a:t>
            </a:r>
            <a:pPr indent="0" marL="0">
              <a:buNone/>
            </a:pPr>
            <a:r>
              <a:rPr lang="en-US" sz="1600" dirty="0">
                <a:solidFill>
                  <a:srgbClr val="0B1530"/>
                </a:solidFill>
              </a:rPr>
              <a:t>Tell us your school size and we'll send a quote for your school.</a:t>
            </a:r>
            <a:endParaRPr lang="en-US" sz="1600" dirty="0"/>
          </a:p>
        </p:txBody>
      </p:sp>
      <p:sp>
        <p:nvSpPr>
          <p:cNvPr id="25" name="Slide Number Placeholder 0"/>
          <p:cNvSpPr>
            <a:spLocks noGrp="1"/>
          </p:cNvSpPr>
          <p:nvPr>
            <p:ph type="sldNum" sz="quarter" idx="4294967295"/>
          </p:nvPr>
        </p:nvSpPr>
        <p:spPr>
          <a:xfrm>
            <a:off x="11201400"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body" hasCustomPrompt="1"/>
          </p:nvPr>
        </p:nvSpPr>
        <p:spPr>
          <a:xfrm>
            <a:off x="804672" y="384048"/>
            <a:ext cx="54864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QUESTIONS SCHOOLS ASK 1/2</a:t>
            </a:r>
            <a:endParaRPr lang="en-US" sz="1200" dirty="0"/>
          </a:p>
        </p:txBody>
      </p:sp>
      <p:sp>
        <p:nvSpPr>
          <p:cNvPr id="3" name="Text 0"/>
          <p:cNvSpPr/>
          <p:nvPr>
            <p:ph idx="102" type="title" hasCustomPrompt="1"/>
          </p:nvPr>
        </p:nvSpPr>
        <p:spPr>
          <a:xfrm>
            <a:off x="548640" y="749808"/>
            <a:ext cx="11064240" cy="73152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Your questions, answered</a:t>
            </a:r>
            <a:endParaRPr lang="en-US" sz="3000" dirty="0"/>
          </a:p>
        </p:txBody>
      </p:sp>
      <p:sp>
        <p:nvSpPr>
          <p:cNvPr id="4" name="FAQ 1"/>
          <p:cNvSpPr/>
          <p:nvPr/>
        </p:nvSpPr>
        <p:spPr>
          <a:xfrm>
            <a:off x="548640" y="1645920"/>
            <a:ext cx="5440680" cy="1325880"/>
          </a:xfrm>
          <a:prstGeom prst="roundRect">
            <a:avLst>
              <a:gd name="adj" fmla="val 6897"/>
            </a:avLst>
          </a:prstGeom>
          <a:solidFill>
            <a:srgbClr val="F4F7FC"/>
          </a:solidFill>
          <a:ln w="12700">
            <a:solidFill>
              <a:srgbClr val="F4F7FC"/>
            </a:solidFill>
            <a:prstDash val="solid"/>
          </a:ln>
        </p:spPr>
      </p:sp>
      <p:sp>
        <p:nvSpPr>
          <p:cNvPr id="5" name="Shape 3"/>
          <p:cNvSpPr/>
          <p:nvPr/>
        </p:nvSpPr>
        <p:spPr>
          <a:xfrm>
            <a:off x="749808" y="1847088"/>
            <a:ext cx="420624" cy="420624"/>
          </a:xfrm>
          <a:prstGeom prst="ellipse">
            <a:avLst/>
          </a:prstGeom>
          <a:solidFill>
            <a:srgbClr val="EAF1FE"/>
          </a:solidFill>
          <a:ln w="12700">
            <a:solidFill>
              <a:srgbClr val="EAF1FE"/>
            </a:solidFill>
            <a:prstDash val="solid"/>
          </a:ln>
        </p:spPr>
      </p:sp>
      <p:pic>
        <p:nvPicPr>
          <p:cNvPr id="6" name="Image 0" descr="preencoded.png">    </p:cNvPr>
          <p:cNvPicPr>
            <a:picLocks noChangeAspect="1"/>
          </p:cNvPicPr>
          <p:nvPr/>
        </p:nvPicPr>
        <p:blipFill>
          <a:blip r:embed="rId1"/>
          <a:stretch>
            <a:fillRect/>
          </a:stretch>
        </p:blipFill>
        <p:spPr>
          <a:xfrm>
            <a:off x="854964" y="1952244"/>
            <a:ext cx="210312" cy="210312"/>
          </a:xfrm>
          <a:prstGeom prst="rect">
            <a:avLst/>
          </a:prstGeom>
        </p:spPr>
      </p:pic>
      <p:sp>
        <p:nvSpPr>
          <p:cNvPr id="7" name="Text 4"/>
          <p:cNvSpPr txBox="1"/>
          <p:nvPr/>
        </p:nvSpPr>
        <p:spPr>
          <a:xfrm>
            <a:off x="1325880" y="1828800"/>
            <a:ext cx="4480560" cy="365760"/>
          </a:xfrm>
          <a:prstGeom prst="rect">
            <a:avLst/>
          </a:prstGeom>
          <a:noFill/>
          <a:ln/>
        </p:spPr>
        <p:txBody>
          <a:bodyPr wrap="square" lIns="0" tIns="0" rIns="0" bIns="0" rtlCol="0" anchor="t"/>
          <a:lstStyle/>
          <a:p>
            <a:pPr indent="0" marL="0">
              <a:buNone/>
            </a:pPr>
            <a:r>
              <a:rPr lang="en-US" sz="1500" b="1" dirty="0">
                <a:solidFill>
                  <a:schemeClr val="accent1"/>
                </a:solidFill>
              </a:rPr>
              <a:t>Do parents need a smartphone?</a:t>
            </a:r>
            <a:endParaRPr lang="en-US" sz="1500" dirty="0"/>
          </a:p>
        </p:txBody>
      </p:sp>
      <p:sp>
        <p:nvSpPr>
          <p:cNvPr id="8" name="Text 5"/>
          <p:cNvSpPr txBox="1"/>
          <p:nvPr/>
        </p:nvSpPr>
        <p:spPr>
          <a:xfrm>
            <a:off x="1325880" y="2212848"/>
            <a:ext cx="4480560" cy="685800"/>
          </a:xfrm>
          <a:prstGeom prst="rect">
            <a:avLst/>
          </a:prstGeom>
          <a:noFill/>
          <a:ln/>
        </p:spPr>
        <p:txBody>
          <a:bodyPr wrap="square" lIns="0" tIns="0" rIns="0" bIns="0" rtlCol="0" anchor="t"/>
          <a:lstStyle/>
          <a:p>
            <a:pPr indent="0" marL="0">
              <a:buNone/>
            </a:pPr>
            <a:r>
              <a:rPr lang="en-US" sz="1400" dirty="0">
                <a:solidFill>
                  <a:schemeClr val="tx1"/>
                </a:solidFill>
              </a:rPr>
              <a:t>Most parents use the Android app. Others can open the website on any phone or computer.</a:t>
            </a:r>
            <a:endParaRPr lang="en-US" sz="1400" dirty="0"/>
          </a:p>
        </p:txBody>
      </p:sp>
      <p:sp>
        <p:nvSpPr>
          <p:cNvPr id="9" name="FAQ 2"/>
          <p:cNvSpPr/>
          <p:nvPr/>
        </p:nvSpPr>
        <p:spPr>
          <a:xfrm>
            <a:off x="6172200" y="1645920"/>
            <a:ext cx="5440680" cy="1325880"/>
          </a:xfrm>
          <a:prstGeom prst="roundRect">
            <a:avLst>
              <a:gd name="adj" fmla="val 6897"/>
            </a:avLst>
          </a:prstGeom>
          <a:solidFill>
            <a:srgbClr val="F4F7FC"/>
          </a:solidFill>
          <a:ln w="12700">
            <a:solidFill>
              <a:srgbClr val="F4F7FC"/>
            </a:solidFill>
            <a:prstDash val="solid"/>
          </a:ln>
        </p:spPr>
      </p:sp>
      <p:sp>
        <p:nvSpPr>
          <p:cNvPr id="10" name="Shape 7"/>
          <p:cNvSpPr/>
          <p:nvPr/>
        </p:nvSpPr>
        <p:spPr>
          <a:xfrm>
            <a:off x="6373368" y="1847088"/>
            <a:ext cx="420624" cy="420624"/>
          </a:xfrm>
          <a:prstGeom prst="ellipse">
            <a:avLst/>
          </a:prstGeom>
          <a:solidFill>
            <a:srgbClr val="EAF1FE"/>
          </a:solidFill>
          <a:ln w="12700">
            <a:solidFill>
              <a:srgbClr val="EAF1FE"/>
            </a:solidFill>
            <a:prstDash val="solid"/>
          </a:ln>
        </p:spPr>
      </p:sp>
      <p:pic>
        <p:nvPicPr>
          <p:cNvPr id="11" name="Image 1" descr="preencoded.png">    </p:cNvPr>
          <p:cNvPicPr>
            <a:picLocks noChangeAspect="1"/>
          </p:cNvPicPr>
          <p:nvPr/>
        </p:nvPicPr>
        <p:blipFill>
          <a:blip r:embed="rId2"/>
          <a:stretch>
            <a:fillRect/>
          </a:stretch>
        </p:blipFill>
        <p:spPr>
          <a:xfrm>
            <a:off x="6478524" y="1952244"/>
            <a:ext cx="210312" cy="210312"/>
          </a:xfrm>
          <a:prstGeom prst="rect">
            <a:avLst/>
          </a:prstGeom>
        </p:spPr>
      </p:pic>
      <p:sp>
        <p:nvSpPr>
          <p:cNvPr id="12" name="Text 8"/>
          <p:cNvSpPr txBox="1"/>
          <p:nvPr/>
        </p:nvSpPr>
        <p:spPr>
          <a:xfrm>
            <a:off x="6949440" y="1828800"/>
            <a:ext cx="4480560" cy="365760"/>
          </a:xfrm>
          <a:prstGeom prst="rect">
            <a:avLst/>
          </a:prstGeom>
          <a:noFill/>
          <a:ln/>
        </p:spPr>
        <p:txBody>
          <a:bodyPr wrap="square" lIns="0" tIns="0" rIns="0" bIns="0" rtlCol="0" anchor="t"/>
          <a:lstStyle/>
          <a:p>
            <a:pPr indent="0" marL="0">
              <a:buNone/>
            </a:pPr>
            <a:r>
              <a:rPr lang="en-US" sz="1500" b="1" dirty="0">
                <a:solidFill>
                  <a:schemeClr val="accent1"/>
                </a:solidFill>
              </a:rPr>
              <a:t>Our teachers aren't tech-savvy. Will they manage?</a:t>
            </a:r>
            <a:endParaRPr lang="en-US" sz="1500" dirty="0"/>
          </a:p>
        </p:txBody>
      </p:sp>
      <p:sp>
        <p:nvSpPr>
          <p:cNvPr id="13" name="Text 9"/>
          <p:cNvSpPr txBox="1"/>
          <p:nvPr/>
        </p:nvSpPr>
        <p:spPr>
          <a:xfrm>
            <a:off x="6949440" y="2212848"/>
            <a:ext cx="4480560" cy="685800"/>
          </a:xfrm>
          <a:prstGeom prst="rect">
            <a:avLst/>
          </a:prstGeom>
          <a:noFill/>
          <a:ln/>
        </p:spPr>
        <p:txBody>
          <a:bodyPr wrap="square" lIns="0" tIns="0" rIns="0" bIns="0" rtlCol="0" anchor="t"/>
          <a:lstStyle/>
          <a:p>
            <a:pPr indent="0" marL="0">
              <a:buNone/>
            </a:pPr>
            <a:r>
              <a:rPr lang="en-US" sz="1400" dirty="0">
                <a:solidFill>
                  <a:schemeClr val="tx1"/>
                </a:solidFill>
              </a:rPr>
              <a:t>Yes. Attendance is one tap per student, and we show your staff how during setup.</a:t>
            </a:r>
            <a:endParaRPr lang="en-US" sz="1400" dirty="0"/>
          </a:p>
        </p:txBody>
      </p:sp>
      <p:sp>
        <p:nvSpPr>
          <p:cNvPr id="14" name="FAQ 3"/>
          <p:cNvSpPr/>
          <p:nvPr/>
        </p:nvSpPr>
        <p:spPr>
          <a:xfrm>
            <a:off x="548640" y="3127248"/>
            <a:ext cx="5440680" cy="1325880"/>
          </a:xfrm>
          <a:prstGeom prst="roundRect">
            <a:avLst>
              <a:gd name="adj" fmla="val 6897"/>
            </a:avLst>
          </a:prstGeom>
          <a:solidFill>
            <a:srgbClr val="F4F7FC"/>
          </a:solidFill>
          <a:ln w="12700">
            <a:solidFill>
              <a:srgbClr val="F4F7FC"/>
            </a:solidFill>
            <a:prstDash val="solid"/>
          </a:ln>
        </p:spPr>
      </p:sp>
      <p:sp>
        <p:nvSpPr>
          <p:cNvPr id="15" name="Shape 11"/>
          <p:cNvSpPr/>
          <p:nvPr/>
        </p:nvSpPr>
        <p:spPr>
          <a:xfrm>
            <a:off x="749808" y="3328416"/>
            <a:ext cx="420624" cy="420624"/>
          </a:xfrm>
          <a:prstGeom prst="ellipse">
            <a:avLst/>
          </a:prstGeom>
          <a:solidFill>
            <a:srgbClr val="EAF1FE"/>
          </a:solidFill>
          <a:ln w="12700">
            <a:solidFill>
              <a:srgbClr val="EAF1FE"/>
            </a:solidFill>
            <a:prstDash val="solid"/>
          </a:ln>
        </p:spPr>
      </p:sp>
      <p:pic>
        <p:nvPicPr>
          <p:cNvPr id="16" name="Image 2" descr="preencoded.png">    </p:cNvPr>
          <p:cNvPicPr>
            <a:picLocks noChangeAspect="1"/>
          </p:cNvPicPr>
          <p:nvPr/>
        </p:nvPicPr>
        <p:blipFill>
          <a:blip r:embed="rId3"/>
          <a:stretch>
            <a:fillRect/>
          </a:stretch>
        </p:blipFill>
        <p:spPr>
          <a:xfrm>
            <a:off x="854964" y="3433572"/>
            <a:ext cx="210312" cy="210312"/>
          </a:xfrm>
          <a:prstGeom prst="rect">
            <a:avLst/>
          </a:prstGeom>
        </p:spPr>
      </p:pic>
      <p:sp>
        <p:nvSpPr>
          <p:cNvPr id="17" name="Text 12"/>
          <p:cNvSpPr txBox="1"/>
          <p:nvPr/>
        </p:nvSpPr>
        <p:spPr>
          <a:xfrm>
            <a:off x="1325880" y="3310128"/>
            <a:ext cx="4480560" cy="365760"/>
          </a:xfrm>
          <a:prstGeom prst="rect">
            <a:avLst/>
          </a:prstGeom>
          <a:noFill/>
          <a:ln/>
        </p:spPr>
        <p:txBody>
          <a:bodyPr wrap="square" lIns="0" tIns="0" rIns="0" bIns="0" rtlCol="0" anchor="t"/>
          <a:lstStyle/>
          <a:p>
            <a:pPr indent="0" marL="0">
              <a:buNone/>
            </a:pPr>
            <a:r>
              <a:rPr lang="en-US" sz="1500" b="1" dirty="0">
                <a:solidFill>
                  <a:schemeClr val="accent1"/>
                </a:solidFill>
              </a:rPr>
              <a:t>What if the internet is slow or down?</a:t>
            </a:r>
            <a:endParaRPr lang="en-US" sz="1500" dirty="0"/>
          </a:p>
        </p:txBody>
      </p:sp>
      <p:sp>
        <p:nvSpPr>
          <p:cNvPr id="18" name="Text 13"/>
          <p:cNvSpPr txBox="1"/>
          <p:nvPr/>
        </p:nvSpPr>
        <p:spPr>
          <a:xfrm>
            <a:off x="1325880" y="3694176"/>
            <a:ext cx="4480560" cy="685800"/>
          </a:xfrm>
          <a:prstGeom prst="rect">
            <a:avLst/>
          </a:prstGeom>
          <a:noFill/>
          <a:ln/>
        </p:spPr>
        <p:txBody>
          <a:bodyPr wrap="square" lIns="0" tIns="0" rIns="0" bIns="0" rtlCol="0" anchor="t"/>
          <a:lstStyle/>
          <a:p>
            <a:pPr indent="0" marL="0">
              <a:buNone/>
            </a:pPr>
            <a:r>
              <a:rPr lang="en-US" sz="1400" dirty="0">
                <a:solidFill>
                  <a:schemeClr val="tx1"/>
                </a:solidFill>
              </a:rPr>
              <a:t>Teachers can still take attendance in the app; it is sent once the connection is back.</a:t>
            </a:r>
            <a:endParaRPr lang="en-US" sz="1400" dirty="0"/>
          </a:p>
        </p:txBody>
      </p:sp>
      <p:sp>
        <p:nvSpPr>
          <p:cNvPr id="19" name="FAQ 4"/>
          <p:cNvSpPr/>
          <p:nvPr/>
        </p:nvSpPr>
        <p:spPr>
          <a:xfrm>
            <a:off x="6172200" y="3127248"/>
            <a:ext cx="5440680" cy="1325880"/>
          </a:xfrm>
          <a:prstGeom prst="roundRect">
            <a:avLst>
              <a:gd name="adj" fmla="val 6897"/>
            </a:avLst>
          </a:prstGeom>
          <a:solidFill>
            <a:srgbClr val="F4F7FC"/>
          </a:solidFill>
          <a:ln w="12700">
            <a:solidFill>
              <a:srgbClr val="F4F7FC"/>
            </a:solidFill>
            <a:prstDash val="solid"/>
          </a:ln>
        </p:spPr>
      </p:sp>
      <p:sp>
        <p:nvSpPr>
          <p:cNvPr id="20" name="Shape 15"/>
          <p:cNvSpPr/>
          <p:nvPr/>
        </p:nvSpPr>
        <p:spPr>
          <a:xfrm>
            <a:off x="6373368" y="3328416"/>
            <a:ext cx="420624" cy="420624"/>
          </a:xfrm>
          <a:prstGeom prst="ellipse">
            <a:avLst/>
          </a:prstGeom>
          <a:solidFill>
            <a:srgbClr val="EAF1FE"/>
          </a:solidFill>
          <a:ln w="12700">
            <a:solidFill>
              <a:srgbClr val="EAF1FE"/>
            </a:solidFill>
            <a:prstDash val="solid"/>
          </a:ln>
        </p:spPr>
      </p:sp>
      <p:pic>
        <p:nvPicPr>
          <p:cNvPr id="21" name="Image 3" descr="preencoded.png">    </p:cNvPr>
          <p:cNvPicPr>
            <a:picLocks noChangeAspect="1"/>
          </p:cNvPicPr>
          <p:nvPr/>
        </p:nvPicPr>
        <p:blipFill>
          <a:blip r:embed="rId4"/>
          <a:stretch>
            <a:fillRect/>
          </a:stretch>
        </p:blipFill>
        <p:spPr>
          <a:xfrm>
            <a:off x="6478524" y="3433572"/>
            <a:ext cx="210312" cy="210312"/>
          </a:xfrm>
          <a:prstGeom prst="rect">
            <a:avLst/>
          </a:prstGeom>
        </p:spPr>
      </p:pic>
      <p:sp>
        <p:nvSpPr>
          <p:cNvPr id="22" name="Text 16"/>
          <p:cNvSpPr txBox="1"/>
          <p:nvPr/>
        </p:nvSpPr>
        <p:spPr>
          <a:xfrm>
            <a:off x="6949440" y="3310128"/>
            <a:ext cx="4480560" cy="365760"/>
          </a:xfrm>
          <a:prstGeom prst="rect">
            <a:avLst/>
          </a:prstGeom>
          <a:noFill/>
          <a:ln/>
        </p:spPr>
        <p:txBody>
          <a:bodyPr wrap="square" lIns="0" tIns="0" rIns="0" bIns="0" rtlCol="0" anchor="t"/>
          <a:lstStyle/>
          <a:p>
            <a:pPr indent="0" marL="0">
              <a:buNone/>
            </a:pPr>
            <a:r>
              <a:rPr lang="en-US" sz="1500" b="1" dirty="0">
                <a:solidFill>
                  <a:schemeClr val="accent1"/>
                </a:solidFill>
              </a:rPr>
              <a:t>How does fee money reach us?</a:t>
            </a:r>
            <a:endParaRPr lang="en-US" sz="1500" dirty="0"/>
          </a:p>
        </p:txBody>
      </p:sp>
      <p:sp>
        <p:nvSpPr>
          <p:cNvPr id="23" name="Text 17"/>
          <p:cNvSpPr txBox="1"/>
          <p:nvPr/>
        </p:nvSpPr>
        <p:spPr>
          <a:xfrm>
            <a:off x="6949440" y="3694176"/>
            <a:ext cx="4480560" cy="685800"/>
          </a:xfrm>
          <a:prstGeom prst="rect">
            <a:avLst/>
          </a:prstGeom>
          <a:noFill/>
          <a:ln/>
        </p:spPr>
        <p:txBody>
          <a:bodyPr wrap="square" lIns="0" tIns="0" rIns="0" bIns="0" rtlCol="0" anchor="t"/>
          <a:lstStyle/>
          <a:p>
            <a:pPr indent="0" marL="0">
              <a:buNone/>
            </a:pPr>
            <a:r>
              <a:rPr lang="en-US" sz="1400" dirty="0">
                <a:solidFill>
                  <a:schemeClr val="tx1"/>
                </a:solidFill>
              </a:rPr>
              <a:t>Online payments go straight into your school's own payment account, then to your bank.</a:t>
            </a:r>
            <a:endParaRPr lang="en-US" sz="1400" dirty="0"/>
          </a:p>
        </p:txBody>
      </p:sp>
      <p:sp>
        <p:nvSpPr>
          <p:cNvPr id="24" name="FAQ 5"/>
          <p:cNvSpPr/>
          <p:nvPr/>
        </p:nvSpPr>
        <p:spPr>
          <a:xfrm>
            <a:off x="548640" y="4608576"/>
            <a:ext cx="5440680" cy="1325880"/>
          </a:xfrm>
          <a:prstGeom prst="roundRect">
            <a:avLst>
              <a:gd name="adj" fmla="val 6897"/>
            </a:avLst>
          </a:prstGeom>
          <a:solidFill>
            <a:srgbClr val="F4F7FC"/>
          </a:solidFill>
          <a:ln w="12700">
            <a:solidFill>
              <a:srgbClr val="F4F7FC"/>
            </a:solidFill>
            <a:prstDash val="solid"/>
          </a:ln>
        </p:spPr>
      </p:sp>
      <p:sp>
        <p:nvSpPr>
          <p:cNvPr id="25" name="Shape 19"/>
          <p:cNvSpPr/>
          <p:nvPr/>
        </p:nvSpPr>
        <p:spPr>
          <a:xfrm>
            <a:off x="749808" y="4809744"/>
            <a:ext cx="420624" cy="420624"/>
          </a:xfrm>
          <a:prstGeom prst="ellipse">
            <a:avLst/>
          </a:prstGeom>
          <a:solidFill>
            <a:srgbClr val="EAF1FE"/>
          </a:solidFill>
          <a:ln w="12700">
            <a:solidFill>
              <a:srgbClr val="EAF1FE"/>
            </a:solidFill>
            <a:prstDash val="solid"/>
          </a:ln>
        </p:spPr>
      </p:sp>
      <p:pic>
        <p:nvPicPr>
          <p:cNvPr id="26" name="Image 4" descr="preencoded.png">    </p:cNvPr>
          <p:cNvPicPr>
            <a:picLocks noChangeAspect="1"/>
          </p:cNvPicPr>
          <p:nvPr/>
        </p:nvPicPr>
        <p:blipFill>
          <a:blip r:embed="rId5"/>
          <a:stretch>
            <a:fillRect/>
          </a:stretch>
        </p:blipFill>
        <p:spPr>
          <a:xfrm>
            <a:off x="854964" y="4914900"/>
            <a:ext cx="210312" cy="210312"/>
          </a:xfrm>
          <a:prstGeom prst="rect">
            <a:avLst/>
          </a:prstGeom>
        </p:spPr>
      </p:pic>
      <p:sp>
        <p:nvSpPr>
          <p:cNvPr id="27" name="Text 20"/>
          <p:cNvSpPr txBox="1"/>
          <p:nvPr/>
        </p:nvSpPr>
        <p:spPr>
          <a:xfrm>
            <a:off x="1325880" y="4791456"/>
            <a:ext cx="4480560" cy="365760"/>
          </a:xfrm>
          <a:prstGeom prst="rect">
            <a:avLst/>
          </a:prstGeom>
          <a:noFill/>
          <a:ln/>
        </p:spPr>
        <p:txBody>
          <a:bodyPr wrap="square" lIns="0" tIns="0" rIns="0" bIns="0" rtlCol="0" anchor="t"/>
          <a:lstStyle/>
          <a:p>
            <a:pPr indent="0" marL="0">
              <a:buNone/>
            </a:pPr>
            <a:r>
              <a:rPr lang="en-US" sz="1500" b="1" dirty="0">
                <a:solidFill>
                  <a:schemeClr val="accent1"/>
                </a:solidFill>
              </a:rPr>
              <a:t>Can we bring our existing records?</a:t>
            </a:r>
            <a:endParaRPr lang="en-US" sz="1500" dirty="0"/>
          </a:p>
        </p:txBody>
      </p:sp>
      <p:sp>
        <p:nvSpPr>
          <p:cNvPr id="28" name="Text 21"/>
          <p:cNvSpPr txBox="1"/>
          <p:nvPr/>
        </p:nvSpPr>
        <p:spPr>
          <a:xfrm>
            <a:off x="1325880" y="5175504"/>
            <a:ext cx="4480560" cy="685800"/>
          </a:xfrm>
          <a:prstGeom prst="rect">
            <a:avLst/>
          </a:prstGeom>
          <a:noFill/>
          <a:ln/>
        </p:spPr>
        <p:txBody>
          <a:bodyPr wrap="square" lIns="0" tIns="0" rIns="0" bIns="0" rtlCol="0" anchor="t"/>
          <a:lstStyle/>
          <a:p>
            <a:pPr indent="0" marL="0">
              <a:buNone/>
            </a:pPr>
            <a:r>
              <a:rPr lang="en-US" sz="1400" dirty="0">
                <a:solidFill>
                  <a:schemeClr val="tx1"/>
                </a:solidFill>
              </a:rPr>
              <a:t>Yes. Students, parents, teachers, classes, subjects and fees come in from Excel.</a:t>
            </a:r>
            <a:endParaRPr lang="en-US" sz="1400" dirty="0"/>
          </a:p>
        </p:txBody>
      </p:sp>
      <p:sp>
        <p:nvSpPr>
          <p:cNvPr id="29" name="FAQ 6"/>
          <p:cNvSpPr/>
          <p:nvPr/>
        </p:nvSpPr>
        <p:spPr>
          <a:xfrm>
            <a:off x="6172200" y="4608576"/>
            <a:ext cx="5440680" cy="1325880"/>
          </a:xfrm>
          <a:prstGeom prst="roundRect">
            <a:avLst>
              <a:gd name="adj" fmla="val 6897"/>
            </a:avLst>
          </a:prstGeom>
          <a:solidFill>
            <a:srgbClr val="F4F7FC"/>
          </a:solidFill>
          <a:ln w="12700">
            <a:solidFill>
              <a:srgbClr val="F4F7FC"/>
            </a:solidFill>
            <a:prstDash val="solid"/>
          </a:ln>
        </p:spPr>
      </p:sp>
      <p:sp>
        <p:nvSpPr>
          <p:cNvPr id="30" name="Shape 23"/>
          <p:cNvSpPr/>
          <p:nvPr/>
        </p:nvSpPr>
        <p:spPr>
          <a:xfrm>
            <a:off x="6373368" y="4809744"/>
            <a:ext cx="420624" cy="420624"/>
          </a:xfrm>
          <a:prstGeom prst="ellipse">
            <a:avLst/>
          </a:prstGeom>
          <a:solidFill>
            <a:srgbClr val="EAF1FE"/>
          </a:solidFill>
          <a:ln w="12700">
            <a:solidFill>
              <a:srgbClr val="EAF1FE"/>
            </a:solidFill>
            <a:prstDash val="solid"/>
          </a:ln>
        </p:spPr>
      </p:sp>
      <p:pic>
        <p:nvPicPr>
          <p:cNvPr id="31" name="Image 5" descr="preencoded.png">    </p:cNvPr>
          <p:cNvPicPr>
            <a:picLocks noChangeAspect="1"/>
          </p:cNvPicPr>
          <p:nvPr/>
        </p:nvPicPr>
        <p:blipFill>
          <a:blip r:embed="rId6"/>
          <a:stretch>
            <a:fillRect/>
          </a:stretch>
        </p:blipFill>
        <p:spPr>
          <a:xfrm>
            <a:off x="6478524" y="4914900"/>
            <a:ext cx="210312" cy="210312"/>
          </a:xfrm>
          <a:prstGeom prst="rect">
            <a:avLst/>
          </a:prstGeom>
        </p:spPr>
      </p:pic>
      <p:sp>
        <p:nvSpPr>
          <p:cNvPr id="32" name="Text 24"/>
          <p:cNvSpPr txBox="1"/>
          <p:nvPr/>
        </p:nvSpPr>
        <p:spPr>
          <a:xfrm>
            <a:off x="6949440" y="4791456"/>
            <a:ext cx="4480560" cy="365760"/>
          </a:xfrm>
          <a:prstGeom prst="rect">
            <a:avLst/>
          </a:prstGeom>
          <a:noFill/>
          <a:ln/>
        </p:spPr>
        <p:txBody>
          <a:bodyPr wrap="square" lIns="0" tIns="0" rIns="0" bIns="0" rtlCol="0" anchor="t"/>
          <a:lstStyle/>
          <a:p>
            <a:pPr indent="0" marL="0">
              <a:buNone/>
            </a:pPr>
            <a:r>
              <a:rPr lang="en-US" sz="1500" b="1" dirty="0">
                <a:solidFill>
                  <a:schemeClr val="accent1"/>
                </a:solidFill>
              </a:rPr>
              <a:t>Do we need to buy any hardware?</a:t>
            </a:r>
            <a:endParaRPr lang="en-US" sz="1500" dirty="0"/>
          </a:p>
        </p:txBody>
      </p:sp>
      <p:sp>
        <p:nvSpPr>
          <p:cNvPr id="33" name="Text 25"/>
          <p:cNvSpPr txBox="1"/>
          <p:nvPr/>
        </p:nvSpPr>
        <p:spPr>
          <a:xfrm>
            <a:off x="6949440" y="5175504"/>
            <a:ext cx="4480560" cy="685800"/>
          </a:xfrm>
          <a:prstGeom prst="rect">
            <a:avLst/>
          </a:prstGeom>
          <a:noFill/>
          <a:ln/>
        </p:spPr>
        <p:txBody>
          <a:bodyPr wrap="square" lIns="0" tIns="0" rIns="0" bIns="0" rtlCol="0" anchor="t"/>
          <a:lstStyle/>
          <a:p>
            <a:pPr indent="0" marL="0">
              <a:buNone/>
            </a:pPr>
            <a:r>
              <a:rPr lang="en-US" sz="1400" dirty="0">
                <a:solidFill>
                  <a:schemeClr val="tx1"/>
                </a:solidFill>
              </a:rPr>
              <a:t>No. It works on the phones and computers you already have.</a:t>
            </a:r>
            <a:endParaRPr lang="en-US" sz="1400" dirty="0"/>
          </a:p>
        </p:txBody>
      </p:sp>
      <p:sp>
        <p:nvSpPr>
          <p:cNvPr id="25" name="Slide Number Placeholder 0"/>
          <p:cNvSpPr>
            <a:spLocks noGrp="1"/>
          </p:cNvSpPr>
          <p:nvPr>
            <p:ph type="sldNum" sz="quarter" idx="4294967295"/>
          </p:nvPr>
        </p:nvSpPr>
        <p:spPr>
          <a:xfrm>
            <a:off x="11201400"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body" hasCustomPrompt="1"/>
          </p:nvPr>
        </p:nvSpPr>
        <p:spPr>
          <a:xfrm>
            <a:off x="804672" y="384048"/>
            <a:ext cx="5486400" cy="274320"/>
          </a:xfrm>
          <a:prstGeom prst="rect">
            <a:avLst/>
          </a:prstGeom>
          <a:noFill/>
          <a:ln/>
        </p:spPr>
        <p:txBody>
          <a:bodyPr wrap="square" lIns="0" tIns="0" rIns="0" bIns="0" rtlCol="0" anchor="ctr"/>
          <a:lstStyle/>
          <a:p>
            <a:pPr algn="l" indent="0" marL="0">
              <a:buNone/>
            </a:pPr>
            <a:r>
              <a:rPr lang="en-US" sz="1200" b="1" spc="200" kern="0" dirty="0">
                <a:solidFill>
                  <a:schemeClr val="accent2"/>
                </a:solidFill>
              </a:rPr>
              <a:t>QUESTIONS SCHOOLS ASK 2/2</a:t>
            </a:r>
            <a:endParaRPr lang="en-US" sz="1200" dirty="0"/>
          </a:p>
        </p:txBody>
      </p:sp>
      <p:sp>
        <p:nvSpPr>
          <p:cNvPr id="3" name="Text 0"/>
          <p:cNvSpPr/>
          <p:nvPr>
            <p:ph idx="102" type="title" hasCustomPrompt="1"/>
          </p:nvPr>
        </p:nvSpPr>
        <p:spPr>
          <a:xfrm>
            <a:off x="548640" y="749808"/>
            <a:ext cx="11064240" cy="731520"/>
          </a:xfrm>
          <a:prstGeom prst="rect">
            <a:avLst/>
          </a:prstGeom>
          <a:noFill/>
          <a:ln/>
        </p:spPr>
        <p:txBody>
          <a:bodyPr wrap="square" lIns="0" tIns="0" rIns="0" bIns="0" rtlCol="0" anchor="t"/>
          <a:lstStyle/>
          <a:p>
            <a:pPr algn="l" indent="0" marL="0">
              <a:buNone/>
            </a:pPr>
            <a:r>
              <a:rPr lang="en-US" sz="3000" b="1" dirty="0">
                <a:solidFill>
                  <a:schemeClr val="tx1"/>
                </a:solidFill>
                <a:latin typeface="Arial" pitchFamily="34" charset="0"/>
                <a:ea typeface="Arial" pitchFamily="34" charset="-122"/>
                <a:cs typeface="Arial" pitchFamily="34" charset="-120"/>
              </a:rPr>
              <a:t>More questions, answered</a:t>
            </a:r>
            <a:endParaRPr lang="en-US" sz="3000" dirty="0"/>
          </a:p>
        </p:txBody>
      </p:sp>
      <p:sp>
        <p:nvSpPr>
          <p:cNvPr id="4" name="FAQ 7"/>
          <p:cNvSpPr/>
          <p:nvPr/>
        </p:nvSpPr>
        <p:spPr>
          <a:xfrm>
            <a:off x="548640" y="1645920"/>
            <a:ext cx="5440680" cy="1325880"/>
          </a:xfrm>
          <a:prstGeom prst="roundRect">
            <a:avLst>
              <a:gd name="adj" fmla="val 6897"/>
            </a:avLst>
          </a:prstGeom>
          <a:solidFill>
            <a:srgbClr val="F4F7FC"/>
          </a:solidFill>
          <a:ln w="12700">
            <a:solidFill>
              <a:srgbClr val="F4F7FC"/>
            </a:solidFill>
            <a:prstDash val="solid"/>
          </a:ln>
        </p:spPr>
      </p:sp>
      <p:sp>
        <p:nvSpPr>
          <p:cNvPr id="5" name="Shape 3"/>
          <p:cNvSpPr/>
          <p:nvPr/>
        </p:nvSpPr>
        <p:spPr>
          <a:xfrm>
            <a:off x="749808" y="1847088"/>
            <a:ext cx="420624" cy="420624"/>
          </a:xfrm>
          <a:prstGeom prst="ellipse">
            <a:avLst/>
          </a:prstGeom>
          <a:solidFill>
            <a:srgbClr val="EAF1FE"/>
          </a:solidFill>
          <a:ln w="12700">
            <a:solidFill>
              <a:srgbClr val="EAF1FE"/>
            </a:solidFill>
            <a:prstDash val="solid"/>
          </a:ln>
        </p:spPr>
      </p:sp>
      <p:pic>
        <p:nvPicPr>
          <p:cNvPr id="6" name="Image 0" descr="preencoded.png">    </p:cNvPr>
          <p:cNvPicPr>
            <a:picLocks noChangeAspect="1"/>
          </p:cNvPicPr>
          <p:nvPr/>
        </p:nvPicPr>
        <p:blipFill>
          <a:blip r:embed="rId1"/>
          <a:stretch>
            <a:fillRect/>
          </a:stretch>
        </p:blipFill>
        <p:spPr>
          <a:xfrm>
            <a:off x="854964" y="1952244"/>
            <a:ext cx="210312" cy="210312"/>
          </a:xfrm>
          <a:prstGeom prst="rect">
            <a:avLst/>
          </a:prstGeom>
        </p:spPr>
      </p:pic>
      <p:sp>
        <p:nvSpPr>
          <p:cNvPr id="7" name="Text 4"/>
          <p:cNvSpPr txBox="1"/>
          <p:nvPr/>
        </p:nvSpPr>
        <p:spPr>
          <a:xfrm>
            <a:off x="1325880" y="1828800"/>
            <a:ext cx="4480560" cy="365760"/>
          </a:xfrm>
          <a:prstGeom prst="rect">
            <a:avLst/>
          </a:prstGeom>
          <a:noFill/>
          <a:ln/>
        </p:spPr>
        <p:txBody>
          <a:bodyPr wrap="square" lIns="0" tIns="0" rIns="0" bIns="0" rtlCol="0" anchor="t"/>
          <a:lstStyle/>
          <a:p>
            <a:pPr indent="0" marL="0">
              <a:buNone/>
            </a:pPr>
            <a:r>
              <a:rPr lang="en-US" sz="1500" b="1" dirty="0">
                <a:solidFill>
                  <a:schemeClr val="accent1"/>
                </a:solidFill>
              </a:rPr>
              <a:t>Does it support our board?</a:t>
            </a:r>
            <a:endParaRPr lang="en-US" sz="1500" dirty="0"/>
          </a:p>
        </p:txBody>
      </p:sp>
      <p:sp>
        <p:nvSpPr>
          <p:cNvPr id="8" name="Text 5"/>
          <p:cNvSpPr txBox="1"/>
          <p:nvPr/>
        </p:nvSpPr>
        <p:spPr>
          <a:xfrm>
            <a:off x="1325880" y="2212848"/>
            <a:ext cx="4480560" cy="685800"/>
          </a:xfrm>
          <a:prstGeom prst="rect">
            <a:avLst/>
          </a:prstGeom>
          <a:noFill/>
          <a:ln/>
        </p:spPr>
        <p:txBody>
          <a:bodyPr wrap="square" lIns="0" tIns="0" rIns="0" bIns="0" rtlCol="0" anchor="t"/>
          <a:lstStyle/>
          <a:p>
            <a:pPr indent="0" marL="0">
              <a:buNone/>
            </a:pPr>
            <a:r>
              <a:rPr lang="en-US" sz="1400" dirty="0">
                <a:solidFill>
                  <a:schemeClr val="tx1"/>
                </a:solidFill>
              </a:rPr>
              <a:t>CBSE 9-point grading is built in, and you can set your own grading scale for ICSE or state boards.</a:t>
            </a:r>
            <a:endParaRPr lang="en-US" sz="1400" dirty="0"/>
          </a:p>
        </p:txBody>
      </p:sp>
      <p:sp>
        <p:nvSpPr>
          <p:cNvPr id="9" name="FAQ 8"/>
          <p:cNvSpPr/>
          <p:nvPr/>
        </p:nvSpPr>
        <p:spPr>
          <a:xfrm>
            <a:off x="6172200" y="1645920"/>
            <a:ext cx="5440680" cy="1325880"/>
          </a:xfrm>
          <a:prstGeom prst="roundRect">
            <a:avLst>
              <a:gd name="adj" fmla="val 6897"/>
            </a:avLst>
          </a:prstGeom>
          <a:solidFill>
            <a:srgbClr val="F4F7FC"/>
          </a:solidFill>
          <a:ln w="12700">
            <a:solidFill>
              <a:srgbClr val="F4F7FC"/>
            </a:solidFill>
            <a:prstDash val="solid"/>
          </a:ln>
        </p:spPr>
      </p:sp>
      <p:sp>
        <p:nvSpPr>
          <p:cNvPr id="10" name="Shape 7"/>
          <p:cNvSpPr/>
          <p:nvPr/>
        </p:nvSpPr>
        <p:spPr>
          <a:xfrm>
            <a:off x="6373368" y="1847088"/>
            <a:ext cx="420624" cy="420624"/>
          </a:xfrm>
          <a:prstGeom prst="ellipse">
            <a:avLst/>
          </a:prstGeom>
          <a:solidFill>
            <a:srgbClr val="EAF1FE"/>
          </a:solidFill>
          <a:ln w="12700">
            <a:solidFill>
              <a:srgbClr val="EAF1FE"/>
            </a:solidFill>
            <a:prstDash val="solid"/>
          </a:ln>
        </p:spPr>
      </p:sp>
      <p:pic>
        <p:nvPicPr>
          <p:cNvPr id="11" name="Image 1" descr="preencoded.png">    </p:cNvPr>
          <p:cNvPicPr>
            <a:picLocks noChangeAspect="1"/>
          </p:cNvPicPr>
          <p:nvPr/>
        </p:nvPicPr>
        <p:blipFill>
          <a:blip r:embed="rId2"/>
          <a:stretch>
            <a:fillRect/>
          </a:stretch>
        </p:blipFill>
        <p:spPr>
          <a:xfrm>
            <a:off x="6478524" y="1952244"/>
            <a:ext cx="210312" cy="210312"/>
          </a:xfrm>
          <a:prstGeom prst="rect">
            <a:avLst/>
          </a:prstGeom>
        </p:spPr>
      </p:pic>
      <p:sp>
        <p:nvSpPr>
          <p:cNvPr id="12" name="Text 8"/>
          <p:cNvSpPr txBox="1"/>
          <p:nvPr/>
        </p:nvSpPr>
        <p:spPr>
          <a:xfrm>
            <a:off x="6949440" y="1828800"/>
            <a:ext cx="4480560" cy="365760"/>
          </a:xfrm>
          <a:prstGeom prst="rect">
            <a:avLst/>
          </a:prstGeom>
          <a:noFill/>
          <a:ln/>
        </p:spPr>
        <p:txBody>
          <a:bodyPr wrap="square" lIns="0" tIns="0" rIns="0" bIns="0" rtlCol="0" anchor="t"/>
          <a:lstStyle/>
          <a:p>
            <a:pPr indent="0" marL="0">
              <a:buNone/>
            </a:pPr>
            <a:r>
              <a:rPr lang="en-US" sz="1500" b="1" dirty="0">
                <a:solidFill>
                  <a:schemeClr val="accent1"/>
                </a:solidFill>
              </a:rPr>
              <a:t>Will parents get too many messages?</a:t>
            </a:r>
            <a:endParaRPr lang="en-US" sz="1500" dirty="0"/>
          </a:p>
        </p:txBody>
      </p:sp>
      <p:sp>
        <p:nvSpPr>
          <p:cNvPr id="13" name="Text 9"/>
          <p:cNvSpPr txBox="1"/>
          <p:nvPr/>
        </p:nvSpPr>
        <p:spPr>
          <a:xfrm>
            <a:off x="6949440" y="2212848"/>
            <a:ext cx="4480560" cy="685800"/>
          </a:xfrm>
          <a:prstGeom prst="rect">
            <a:avLst/>
          </a:prstGeom>
          <a:noFill/>
          <a:ln/>
        </p:spPr>
        <p:txBody>
          <a:bodyPr wrap="square" lIns="0" tIns="0" rIns="0" bIns="0" rtlCol="0" anchor="t"/>
          <a:lstStyle/>
          <a:p>
            <a:pPr indent="0" marL="0">
              <a:buNone/>
            </a:pPr>
            <a:r>
              <a:rPr lang="en-US" sz="1400" dirty="0">
                <a:solidFill>
                  <a:schemeClr val="tx1"/>
                </a:solidFill>
              </a:rPr>
              <a:t>You choose which alerts go out, and quiet hours hold them until morning.</a:t>
            </a:r>
            <a:endParaRPr lang="en-US" sz="1400" dirty="0"/>
          </a:p>
        </p:txBody>
      </p:sp>
      <p:sp>
        <p:nvSpPr>
          <p:cNvPr id="14" name="FAQ 9"/>
          <p:cNvSpPr/>
          <p:nvPr/>
        </p:nvSpPr>
        <p:spPr>
          <a:xfrm>
            <a:off x="548640" y="3127248"/>
            <a:ext cx="5440680" cy="1325880"/>
          </a:xfrm>
          <a:prstGeom prst="roundRect">
            <a:avLst>
              <a:gd name="adj" fmla="val 6897"/>
            </a:avLst>
          </a:prstGeom>
          <a:solidFill>
            <a:srgbClr val="F4F7FC"/>
          </a:solidFill>
          <a:ln w="12700">
            <a:solidFill>
              <a:srgbClr val="F4F7FC"/>
            </a:solidFill>
            <a:prstDash val="solid"/>
          </a:ln>
        </p:spPr>
      </p:sp>
      <p:sp>
        <p:nvSpPr>
          <p:cNvPr id="15" name="Shape 11"/>
          <p:cNvSpPr/>
          <p:nvPr/>
        </p:nvSpPr>
        <p:spPr>
          <a:xfrm>
            <a:off x="749808" y="3328416"/>
            <a:ext cx="420624" cy="420624"/>
          </a:xfrm>
          <a:prstGeom prst="ellipse">
            <a:avLst/>
          </a:prstGeom>
          <a:solidFill>
            <a:srgbClr val="EAF1FE"/>
          </a:solidFill>
          <a:ln w="12700">
            <a:solidFill>
              <a:srgbClr val="EAF1FE"/>
            </a:solidFill>
            <a:prstDash val="solid"/>
          </a:ln>
        </p:spPr>
      </p:sp>
      <p:pic>
        <p:nvPicPr>
          <p:cNvPr id="16" name="Image 2" descr="preencoded.png">    </p:cNvPr>
          <p:cNvPicPr>
            <a:picLocks noChangeAspect="1"/>
          </p:cNvPicPr>
          <p:nvPr/>
        </p:nvPicPr>
        <p:blipFill>
          <a:blip r:embed="rId3"/>
          <a:stretch>
            <a:fillRect/>
          </a:stretch>
        </p:blipFill>
        <p:spPr>
          <a:xfrm>
            <a:off x="854964" y="3433572"/>
            <a:ext cx="210312" cy="210312"/>
          </a:xfrm>
          <a:prstGeom prst="rect">
            <a:avLst/>
          </a:prstGeom>
        </p:spPr>
      </p:pic>
      <p:sp>
        <p:nvSpPr>
          <p:cNvPr id="17" name="Text 12"/>
          <p:cNvSpPr txBox="1"/>
          <p:nvPr/>
        </p:nvSpPr>
        <p:spPr>
          <a:xfrm>
            <a:off x="1325880" y="3310128"/>
            <a:ext cx="4480560" cy="365760"/>
          </a:xfrm>
          <a:prstGeom prst="rect">
            <a:avLst/>
          </a:prstGeom>
          <a:noFill/>
          <a:ln/>
        </p:spPr>
        <p:txBody>
          <a:bodyPr wrap="square" lIns="0" tIns="0" rIns="0" bIns="0" rtlCol="0" anchor="t"/>
          <a:lstStyle/>
          <a:p>
            <a:pPr indent="0" marL="0">
              <a:buNone/>
            </a:pPr>
            <a:r>
              <a:rPr lang="en-US" sz="1500" b="1" dirty="0">
                <a:solidFill>
                  <a:schemeClr val="accent1"/>
                </a:solidFill>
              </a:rPr>
              <a:t>What about parents with iPhones?</a:t>
            </a:r>
            <a:endParaRPr lang="en-US" sz="1500" dirty="0"/>
          </a:p>
        </p:txBody>
      </p:sp>
      <p:sp>
        <p:nvSpPr>
          <p:cNvPr id="18" name="Text 13"/>
          <p:cNvSpPr txBox="1"/>
          <p:nvPr/>
        </p:nvSpPr>
        <p:spPr>
          <a:xfrm>
            <a:off x="1325880" y="3694176"/>
            <a:ext cx="4480560" cy="685800"/>
          </a:xfrm>
          <a:prstGeom prst="rect">
            <a:avLst/>
          </a:prstGeom>
          <a:noFill/>
          <a:ln/>
        </p:spPr>
        <p:txBody>
          <a:bodyPr wrap="square" lIns="0" tIns="0" rIns="0" bIns="0" rtlCol="0" anchor="t"/>
          <a:lstStyle/>
          <a:p>
            <a:pPr indent="0" marL="0">
              <a:buNone/>
            </a:pPr>
            <a:r>
              <a:rPr lang="en-US" sz="1400" dirty="0">
                <a:solidFill>
                  <a:schemeClr val="tx1"/>
                </a:solidFill>
              </a:rPr>
              <a:t>They use the website in their phone browser today; an iPhone app is planned.</a:t>
            </a:r>
            <a:endParaRPr lang="en-US" sz="1400" dirty="0"/>
          </a:p>
        </p:txBody>
      </p:sp>
      <p:sp>
        <p:nvSpPr>
          <p:cNvPr id="19" name="FAQ 10"/>
          <p:cNvSpPr/>
          <p:nvPr/>
        </p:nvSpPr>
        <p:spPr>
          <a:xfrm>
            <a:off x="6172200" y="3127248"/>
            <a:ext cx="5440680" cy="1325880"/>
          </a:xfrm>
          <a:prstGeom prst="roundRect">
            <a:avLst>
              <a:gd name="adj" fmla="val 6897"/>
            </a:avLst>
          </a:prstGeom>
          <a:solidFill>
            <a:srgbClr val="F4F7FC"/>
          </a:solidFill>
          <a:ln w="12700">
            <a:solidFill>
              <a:srgbClr val="F4F7FC"/>
            </a:solidFill>
            <a:prstDash val="solid"/>
          </a:ln>
        </p:spPr>
      </p:sp>
      <p:sp>
        <p:nvSpPr>
          <p:cNvPr id="20" name="Shape 15"/>
          <p:cNvSpPr/>
          <p:nvPr/>
        </p:nvSpPr>
        <p:spPr>
          <a:xfrm>
            <a:off x="6373368" y="3328416"/>
            <a:ext cx="420624" cy="420624"/>
          </a:xfrm>
          <a:prstGeom prst="ellipse">
            <a:avLst/>
          </a:prstGeom>
          <a:solidFill>
            <a:srgbClr val="EAF1FE"/>
          </a:solidFill>
          <a:ln w="12700">
            <a:solidFill>
              <a:srgbClr val="EAF1FE"/>
            </a:solidFill>
            <a:prstDash val="solid"/>
          </a:ln>
        </p:spPr>
      </p:sp>
      <p:pic>
        <p:nvPicPr>
          <p:cNvPr id="21" name="Image 3" descr="preencoded.png">    </p:cNvPr>
          <p:cNvPicPr>
            <a:picLocks noChangeAspect="1"/>
          </p:cNvPicPr>
          <p:nvPr/>
        </p:nvPicPr>
        <p:blipFill>
          <a:blip r:embed="rId4"/>
          <a:stretch>
            <a:fillRect/>
          </a:stretch>
        </p:blipFill>
        <p:spPr>
          <a:xfrm>
            <a:off x="6478524" y="3433572"/>
            <a:ext cx="210312" cy="210312"/>
          </a:xfrm>
          <a:prstGeom prst="rect">
            <a:avLst/>
          </a:prstGeom>
        </p:spPr>
      </p:pic>
      <p:sp>
        <p:nvSpPr>
          <p:cNvPr id="22" name="Text 16"/>
          <p:cNvSpPr txBox="1"/>
          <p:nvPr/>
        </p:nvSpPr>
        <p:spPr>
          <a:xfrm>
            <a:off x="6949440" y="3310128"/>
            <a:ext cx="4480560" cy="365760"/>
          </a:xfrm>
          <a:prstGeom prst="rect">
            <a:avLst/>
          </a:prstGeom>
          <a:noFill/>
          <a:ln/>
        </p:spPr>
        <p:txBody>
          <a:bodyPr wrap="square" lIns="0" tIns="0" rIns="0" bIns="0" rtlCol="0" anchor="t"/>
          <a:lstStyle/>
          <a:p>
            <a:pPr indent="0" marL="0">
              <a:buNone/>
            </a:pPr>
            <a:r>
              <a:rPr lang="en-US" sz="1500" b="1" dirty="0">
                <a:solidFill>
                  <a:schemeClr val="accent1"/>
                </a:solidFill>
              </a:rPr>
              <a:t>Can we try it before deciding?</a:t>
            </a:r>
            <a:endParaRPr lang="en-US" sz="1500" dirty="0"/>
          </a:p>
        </p:txBody>
      </p:sp>
      <p:sp>
        <p:nvSpPr>
          <p:cNvPr id="23" name="Text 17"/>
          <p:cNvSpPr txBox="1"/>
          <p:nvPr/>
        </p:nvSpPr>
        <p:spPr>
          <a:xfrm>
            <a:off x="6949440" y="3694176"/>
            <a:ext cx="4480560" cy="685800"/>
          </a:xfrm>
          <a:prstGeom prst="rect">
            <a:avLst/>
          </a:prstGeom>
          <a:noFill/>
          <a:ln/>
        </p:spPr>
        <p:txBody>
          <a:bodyPr wrap="square" lIns="0" tIns="0" rIns="0" bIns="0" rtlCol="0" anchor="t"/>
          <a:lstStyle/>
          <a:p>
            <a:pPr indent="0" marL="0">
              <a:buNone/>
            </a:pPr>
            <a:r>
              <a:rPr lang="en-US" sz="1400" dirty="0">
                <a:solidFill>
                  <a:schemeClr val="tx1"/>
                </a:solidFill>
              </a:rPr>
              <a:t>Yes. Book a free demo and see it working with a sample school.</a:t>
            </a:r>
            <a:endParaRPr lang="en-US" sz="1400" dirty="0"/>
          </a:p>
        </p:txBody>
      </p:sp>
      <p:sp>
        <p:nvSpPr>
          <p:cNvPr id="24" name="FAQ 11"/>
          <p:cNvSpPr/>
          <p:nvPr/>
        </p:nvSpPr>
        <p:spPr>
          <a:xfrm>
            <a:off x="548640" y="4608576"/>
            <a:ext cx="5440680" cy="1325880"/>
          </a:xfrm>
          <a:prstGeom prst="roundRect">
            <a:avLst>
              <a:gd name="adj" fmla="val 6897"/>
            </a:avLst>
          </a:prstGeom>
          <a:solidFill>
            <a:srgbClr val="F4F7FC"/>
          </a:solidFill>
          <a:ln w="12700">
            <a:solidFill>
              <a:srgbClr val="F4F7FC"/>
            </a:solidFill>
            <a:prstDash val="solid"/>
          </a:ln>
        </p:spPr>
      </p:sp>
      <p:sp>
        <p:nvSpPr>
          <p:cNvPr id="25" name="Shape 19"/>
          <p:cNvSpPr/>
          <p:nvPr/>
        </p:nvSpPr>
        <p:spPr>
          <a:xfrm>
            <a:off x="749808" y="4809744"/>
            <a:ext cx="420624" cy="420624"/>
          </a:xfrm>
          <a:prstGeom prst="ellipse">
            <a:avLst/>
          </a:prstGeom>
          <a:solidFill>
            <a:srgbClr val="EAF1FE"/>
          </a:solidFill>
          <a:ln w="12700">
            <a:solidFill>
              <a:srgbClr val="EAF1FE"/>
            </a:solidFill>
            <a:prstDash val="solid"/>
          </a:ln>
        </p:spPr>
      </p:sp>
      <p:pic>
        <p:nvPicPr>
          <p:cNvPr id="26" name="Image 4" descr="preencoded.png">    </p:cNvPr>
          <p:cNvPicPr>
            <a:picLocks noChangeAspect="1"/>
          </p:cNvPicPr>
          <p:nvPr/>
        </p:nvPicPr>
        <p:blipFill>
          <a:blip r:embed="rId5"/>
          <a:stretch>
            <a:fillRect/>
          </a:stretch>
        </p:blipFill>
        <p:spPr>
          <a:xfrm>
            <a:off x="854964" y="4914900"/>
            <a:ext cx="210312" cy="210312"/>
          </a:xfrm>
          <a:prstGeom prst="rect">
            <a:avLst/>
          </a:prstGeom>
        </p:spPr>
      </p:pic>
      <p:sp>
        <p:nvSpPr>
          <p:cNvPr id="27" name="Text 20"/>
          <p:cNvSpPr txBox="1"/>
          <p:nvPr/>
        </p:nvSpPr>
        <p:spPr>
          <a:xfrm>
            <a:off x="1325880" y="4791456"/>
            <a:ext cx="4480560" cy="365760"/>
          </a:xfrm>
          <a:prstGeom prst="rect">
            <a:avLst/>
          </a:prstGeom>
          <a:noFill/>
          <a:ln/>
        </p:spPr>
        <p:txBody>
          <a:bodyPr wrap="square" lIns="0" tIns="0" rIns="0" bIns="0" rtlCol="0" anchor="t"/>
          <a:lstStyle/>
          <a:p>
            <a:pPr indent="0" marL="0">
              <a:buNone/>
            </a:pPr>
            <a:r>
              <a:rPr lang="en-US" sz="1500" b="1" dirty="0">
                <a:solidFill>
                  <a:schemeClr val="accent1"/>
                </a:solidFill>
              </a:rPr>
              <a:t>What does it cost?</a:t>
            </a:r>
            <a:endParaRPr lang="en-US" sz="1500" dirty="0"/>
          </a:p>
        </p:txBody>
      </p:sp>
      <p:sp>
        <p:nvSpPr>
          <p:cNvPr id="28" name="Text 21"/>
          <p:cNvSpPr txBox="1"/>
          <p:nvPr/>
        </p:nvSpPr>
        <p:spPr>
          <a:xfrm>
            <a:off x="1325880" y="5175504"/>
            <a:ext cx="4480560" cy="685800"/>
          </a:xfrm>
          <a:prstGeom prst="rect">
            <a:avLst/>
          </a:prstGeom>
          <a:noFill/>
          <a:ln/>
        </p:spPr>
        <p:txBody>
          <a:bodyPr wrap="square" lIns="0" tIns="0" rIns="0" bIns="0" rtlCol="0" anchor="t"/>
          <a:lstStyle/>
          <a:p>
            <a:pPr indent="0" marL="0">
              <a:buNone/>
            </a:pPr>
            <a:r>
              <a:rPr lang="en-US" sz="1400" dirty="0">
                <a:solidFill>
                  <a:schemeClr val="tx1"/>
                </a:solidFill>
              </a:rPr>
              <a:t>It depends on your number of students. We'll send you a quote for your school.</a:t>
            </a:r>
            <a:endParaRPr lang="en-US" sz="1400" dirty="0"/>
          </a:p>
        </p:txBody>
      </p:sp>
      <p:sp>
        <p:nvSpPr>
          <p:cNvPr id="29" name="FAQ 12"/>
          <p:cNvSpPr/>
          <p:nvPr/>
        </p:nvSpPr>
        <p:spPr>
          <a:xfrm>
            <a:off x="6172200" y="4608576"/>
            <a:ext cx="5440680" cy="1325880"/>
          </a:xfrm>
          <a:prstGeom prst="roundRect">
            <a:avLst>
              <a:gd name="adj" fmla="val 6897"/>
            </a:avLst>
          </a:prstGeom>
          <a:solidFill>
            <a:srgbClr val="F4F7FC"/>
          </a:solidFill>
          <a:ln w="12700">
            <a:solidFill>
              <a:srgbClr val="F4F7FC"/>
            </a:solidFill>
            <a:prstDash val="solid"/>
          </a:ln>
        </p:spPr>
      </p:sp>
      <p:sp>
        <p:nvSpPr>
          <p:cNvPr id="30" name="Shape 23"/>
          <p:cNvSpPr/>
          <p:nvPr/>
        </p:nvSpPr>
        <p:spPr>
          <a:xfrm>
            <a:off x="6373368" y="4809744"/>
            <a:ext cx="420624" cy="420624"/>
          </a:xfrm>
          <a:prstGeom prst="ellipse">
            <a:avLst/>
          </a:prstGeom>
          <a:solidFill>
            <a:srgbClr val="EAF1FE"/>
          </a:solidFill>
          <a:ln w="12700">
            <a:solidFill>
              <a:srgbClr val="EAF1FE"/>
            </a:solidFill>
            <a:prstDash val="solid"/>
          </a:ln>
        </p:spPr>
      </p:sp>
      <p:pic>
        <p:nvPicPr>
          <p:cNvPr id="31" name="Image 5" descr="preencoded.png">    </p:cNvPr>
          <p:cNvPicPr>
            <a:picLocks noChangeAspect="1"/>
          </p:cNvPicPr>
          <p:nvPr/>
        </p:nvPicPr>
        <p:blipFill>
          <a:blip r:embed="rId6"/>
          <a:stretch>
            <a:fillRect/>
          </a:stretch>
        </p:blipFill>
        <p:spPr>
          <a:xfrm>
            <a:off x="6478524" y="4914900"/>
            <a:ext cx="210312" cy="210312"/>
          </a:xfrm>
          <a:prstGeom prst="rect">
            <a:avLst/>
          </a:prstGeom>
        </p:spPr>
      </p:pic>
      <p:sp>
        <p:nvSpPr>
          <p:cNvPr id="32" name="Text 24"/>
          <p:cNvSpPr txBox="1"/>
          <p:nvPr/>
        </p:nvSpPr>
        <p:spPr>
          <a:xfrm>
            <a:off x="6949440" y="4791456"/>
            <a:ext cx="4480560" cy="365760"/>
          </a:xfrm>
          <a:prstGeom prst="rect">
            <a:avLst/>
          </a:prstGeom>
          <a:noFill/>
          <a:ln/>
        </p:spPr>
        <p:txBody>
          <a:bodyPr wrap="square" lIns="0" tIns="0" rIns="0" bIns="0" rtlCol="0" anchor="t"/>
          <a:lstStyle/>
          <a:p>
            <a:pPr indent="0" marL="0">
              <a:buNone/>
            </a:pPr>
            <a:r>
              <a:rPr lang="en-US" sz="1500" b="1" dirty="0">
                <a:solidFill>
                  <a:schemeClr val="accent1"/>
                </a:solidFill>
              </a:rPr>
              <a:t>What support do we get?</a:t>
            </a:r>
            <a:endParaRPr lang="en-US" sz="1500" dirty="0"/>
          </a:p>
        </p:txBody>
      </p:sp>
      <p:sp>
        <p:nvSpPr>
          <p:cNvPr id="33" name="Text 25"/>
          <p:cNvSpPr txBox="1"/>
          <p:nvPr/>
        </p:nvSpPr>
        <p:spPr>
          <a:xfrm>
            <a:off x="6949440" y="5175504"/>
            <a:ext cx="4480560" cy="685800"/>
          </a:xfrm>
          <a:prstGeom prst="rect">
            <a:avLst/>
          </a:prstGeom>
          <a:noFill/>
          <a:ln/>
        </p:spPr>
        <p:txBody>
          <a:bodyPr wrap="square" lIns="0" tIns="0" rIns="0" bIns="0" rtlCol="0" anchor="t"/>
          <a:lstStyle/>
          <a:p>
            <a:pPr indent="0" marL="0">
              <a:buNone/>
            </a:pPr>
            <a:r>
              <a:rPr lang="en-US" sz="1400" dirty="0">
                <a:solidFill>
                  <a:schemeClr val="tx1"/>
                </a:solidFill>
              </a:rPr>
              <a:t>We set up your school with you, and help whenever you need it, only with your permission.</a:t>
            </a:r>
            <a:endParaRPr lang="en-US" sz="1400" dirty="0"/>
          </a:p>
        </p:txBody>
      </p:sp>
      <p:sp>
        <p:nvSpPr>
          <p:cNvPr id="25" name="Slide Number Placeholder 0"/>
          <p:cNvSpPr>
            <a:spLocks noGrp="1"/>
          </p:cNvSpPr>
          <p:nvPr>
            <p:ph type="sldNum" sz="quarter" idx="4294967295"/>
          </p:nvPr>
        </p:nvSpPr>
        <p:spPr>
          <a:xfrm>
            <a:off x="11201400" y="638251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tmp/claude-0/-home-user-school-erp/e29ee0a4-43fe-57b9-bbca-796e49c4c9e9/scratchpad/deck/assets2/bastaa-logo-white.png">    </p:cNvPr>
          <p:cNvPicPr>
            <a:picLocks noChangeAspect="1"/>
          </p:cNvPicPr>
          <p:nvPr/>
        </p:nvPicPr>
        <p:blipFill>
          <a:blip r:embed="rId1"/>
          <a:stretch>
            <a:fillRect/>
          </a:stretch>
        </p:blipFill>
        <p:spPr>
          <a:xfrm>
            <a:off x="685800" y="640080"/>
            <a:ext cx="2194560" cy="655093"/>
          </a:xfrm>
          <a:prstGeom prst="rect">
            <a:avLst/>
          </a:prstGeom>
        </p:spPr>
      </p:pic>
      <p:sp>
        <p:nvSpPr>
          <p:cNvPr id="3" name="Text 0"/>
          <p:cNvSpPr/>
          <p:nvPr>
            <p:ph idx="100" type="title" hasCustomPrompt="1"/>
          </p:nvPr>
        </p:nvSpPr>
        <p:spPr>
          <a:xfrm>
            <a:off x="685800" y="1783080"/>
            <a:ext cx="5760720" cy="1920240"/>
          </a:xfrm>
          <a:prstGeom prst="rect">
            <a:avLst/>
          </a:prstGeom>
          <a:noFill/>
          <a:ln/>
        </p:spPr>
        <p:txBody>
          <a:bodyPr wrap="square" lIns="0" tIns="0" rIns="0" bIns="0" rtlCol="0" anchor="t"/>
          <a:lstStyle/>
          <a:p>
            <a:pPr algn="l" indent="0" marL="0">
              <a:buNone/>
            </a:pPr>
            <a:r>
              <a:rPr lang="en-US" sz="4600" b="1" dirty="0">
                <a:solidFill>
                  <a:schemeClr val="bg1"/>
                </a:solidFill>
                <a:latin typeface="Arial" pitchFamily="34" charset="0"/>
                <a:ea typeface="Arial" pitchFamily="34" charset="-122"/>
                <a:cs typeface="Arial" pitchFamily="34" charset="-120"/>
              </a:rPr>
              <a:t>Go paperless this term.</a:t>
            </a:r>
            <a:endParaRPr lang="en-US" sz="4600" dirty="0"/>
          </a:p>
        </p:txBody>
      </p:sp>
      <p:sp>
        <p:nvSpPr>
          <p:cNvPr id="4" name="Text 0"/>
          <p:cNvSpPr/>
          <p:nvPr>
            <p:ph idx="101" type="body" hasCustomPrompt="1"/>
          </p:nvPr>
        </p:nvSpPr>
        <p:spPr>
          <a:xfrm>
            <a:off x="685800" y="3794760"/>
            <a:ext cx="5394960" cy="1097280"/>
          </a:xfrm>
          <a:prstGeom prst="rect">
            <a:avLst/>
          </a:prstGeom>
          <a:noFill/>
          <a:ln/>
        </p:spPr>
        <p:txBody>
          <a:bodyPr wrap="square" lIns="0" tIns="0" rIns="0" bIns="0" rtlCol="0" anchor="t"/>
          <a:lstStyle/>
          <a:p>
            <a:pPr algn="l" indent="0" marL="0">
              <a:buNone/>
            </a:pPr>
            <a:r>
              <a:rPr lang="en-US" sz="1900" dirty="0">
                <a:solidFill>
                  <a:schemeClr val="accent5"/>
                </a:solidFill>
              </a:rPr>
              <a:t>A 30-minute demo is all it takes to see the difference.</a:t>
            </a:r>
            <a:endParaRPr lang="en-US" sz="1900" dirty="0"/>
          </a:p>
        </p:txBody>
      </p:sp>
      <p:sp>
        <p:nvSpPr>
          <p:cNvPr id="5" name="Shape 2"/>
          <p:cNvSpPr/>
          <p:nvPr/>
        </p:nvSpPr>
        <p:spPr>
          <a:xfrm>
            <a:off x="685800" y="4617720"/>
            <a:ext cx="457200" cy="457200"/>
          </a:xfrm>
          <a:prstGeom prst="ellipse">
            <a:avLst/>
          </a:prstGeom>
          <a:solidFill>
            <a:srgbClr val="F7A400"/>
          </a:solidFill>
          <a:ln w="12700">
            <a:solidFill>
              <a:srgbClr val="F7A400"/>
            </a:solidFill>
            <a:prstDash val="solid"/>
          </a:ln>
        </p:spPr>
      </p:sp>
      <p:sp>
        <p:nvSpPr>
          <p:cNvPr id="6" name="Text 3"/>
          <p:cNvSpPr txBox="1"/>
          <p:nvPr/>
        </p:nvSpPr>
        <p:spPr>
          <a:xfrm>
            <a:off x="685800" y="461772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7" name="Text 4"/>
          <p:cNvSpPr txBox="1"/>
          <p:nvPr/>
        </p:nvSpPr>
        <p:spPr>
          <a:xfrm>
            <a:off x="685800" y="5166360"/>
            <a:ext cx="1828800" cy="320040"/>
          </a:xfrm>
          <a:prstGeom prst="rect">
            <a:avLst/>
          </a:prstGeom>
          <a:noFill/>
          <a:ln/>
        </p:spPr>
        <p:txBody>
          <a:bodyPr wrap="square" lIns="0" tIns="0" rIns="0" bIns="0" rtlCol="0" anchor="ctr"/>
          <a:lstStyle/>
          <a:p>
            <a:pPr indent="0" marL="0">
              <a:buNone/>
            </a:pPr>
            <a:r>
              <a:rPr lang="en-US" sz="1500" b="1" dirty="0">
                <a:solidFill>
                  <a:schemeClr val="bg1"/>
                </a:solidFill>
              </a:rPr>
              <a:t>Free demo</a:t>
            </a:r>
            <a:endParaRPr lang="en-US" sz="1500" dirty="0"/>
          </a:p>
        </p:txBody>
      </p:sp>
      <p:sp>
        <p:nvSpPr>
          <p:cNvPr id="8" name="Text 5"/>
          <p:cNvSpPr txBox="1"/>
          <p:nvPr/>
        </p:nvSpPr>
        <p:spPr>
          <a:xfrm>
            <a:off x="685800" y="5486400"/>
            <a:ext cx="1828800" cy="457200"/>
          </a:xfrm>
          <a:prstGeom prst="rect">
            <a:avLst/>
          </a:prstGeom>
          <a:noFill/>
          <a:ln/>
        </p:spPr>
        <p:txBody>
          <a:bodyPr wrap="square" lIns="0" tIns="0" rIns="0" bIns="0" rtlCol="0" anchor="t"/>
          <a:lstStyle/>
          <a:p>
            <a:pPr indent="0" marL="0">
              <a:buNone/>
            </a:pPr>
            <a:r>
              <a:rPr lang="en-US" sz="1200" dirty="0">
                <a:solidFill>
                  <a:schemeClr val="accent5"/>
                </a:solidFill>
              </a:rPr>
              <a:t>At your school, on your phone</a:t>
            </a:r>
            <a:endParaRPr lang="en-US" sz="1200" dirty="0"/>
          </a:p>
        </p:txBody>
      </p:sp>
      <p:sp>
        <p:nvSpPr>
          <p:cNvPr id="9" name="Shape 6"/>
          <p:cNvSpPr/>
          <p:nvPr/>
        </p:nvSpPr>
        <p:spPr>
          <a:xfrm>
            <a:off x="2606040" y="4617720"/>
            <a:ext cx="457200" cy="457200"/>
          </a:xfrm>
          <a:prstGeom prst="ellipse">
            <a:avLst/>
          </a:prstGeom>
          <a:solidFill>
            <a:srgbClr val="F7A400"/>
          </a:solidFill>
          <a:ln w="12700">
            <a:solidFill>
              <a:srgbClr val="F7A400"/>
            </a:solidFill>
            <a:prstDash val="solid"/>
          </a:ln>
        </p:spPr>
      </p:sp>
      <p:sp>
        <p:nvSpPr>
          <p:cNvPr id="10" name="Text 7"/>
          <p:cNvSpPr txBox="1"/>
          <p:nvPr/>
        </p:nvSpPr>
        <p:spPr>
          <a:xfrm>
            <a:off x="2606040" y="461772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11" name="Text 8"/>
          <p:cNvSpPr txBox="1"/>
          <p:nvPr/>
        </p:nvSpPr>
        <p:spPr>
          <a:xfrm>
            <a:off x="2606040" y="5166360"/>
            <a:ext cx="1828800" cy="320040"/>
          </a:xfrm>
          <a:prstGeom prst="rect">
            <a:avLst/>
          </a:prstGeom>
          <a:noFill/>
          <a:ln/>
        </p:spPr>
        <p:txBody>
          <a:bodyPr wrap="square" lIns="0" tIns="0" rIns="0" bIns="0" rtlCol="0" anchor="ctr"/>
          <a:lstStyle/>
          <a:p>
            <a:pPr indent="0" marL="0">
              <a:buNone/>
            </a:pPr>
            <a:r>
              <a:rPr lang="en-US" sz="1500" b="1" dirty="0">
                <a:solidFill>
                  <a:schemeClr val="bg1"/>
                </a:solidFill>
              </a:rPr>
              <a:t>We set it up</a:t>
            </a:r>
            <a:endParaRPr lang="en-US" sz="1500" dirty="0"/>
          </a:p>
        </p:txBody>
      </p:sp>
      <p:sp>
        <p:nvSpPr>
          <p:cNvPr id="12" name="Text 9"/>
          <p:cNvSpPr txBox="1"/>
          <p:nvPr/>
        </p:nvSpPr>
        <p:spPr>
          <a:xfrm>
            <a:off x="2606040" y="5486400"/>
            <a:ext cx="1828800" cy="457200"/>
          </a:xfrm>
          <a:prstGeom prst="rect">
            <a:avLst/>
          </a:prstGeom>
          <a:noFill/>
          <a:ln/>
        </p:spPr>
        <p:txBody>
          <a:bodyPr wrap="square" lIns="0" tIns="0" rIns="0" bIns="0" rtlCol="0" anchor="t"/>
          <a:lstStyle/>
          <a:p>
            <a:pPr indent="0" marL="0">
              <a:buNone/>
            </a:pPr>
            <a:r>
              <a:rPr lang="en-US" sz="1200" dirty="0">
                <a:solidFill>
                  <a:schemeClr val="accent5"/>
                </a:solidFill>
              </a:rPr>
              <a:t>With your Excel sheets</a:t>
            </a:r>
            <a:endParaRPr lang="en-US" sz="1200" dirty="0"/>
          </a:p>
        </p:txBody>
      </p:sp>
      <p:sp>
        <p:nvSpPr>
          <p:cNvPr id="13" name="Shape 10"/>
          <p:cNvSpPr/>
          <p:nvPr/>
        </p:nvSpPr>
        <p:spPr>
          <a:xfrm>
            <a:off x="4526280" y="4617720"/>
            <a:ext cx="457200" cy="457200"/>
          </a:xfrm>
          <a:prstGeom prst="ellipse">
            <a:avLst/>
          </a:prstGeom>
          <a:solidFill>
            <a:srgbClr val="F7A400"/>
          </a:solidFill>
          <a:ln w="12700">
            <a:solidFill>
              <a:srgbClr val="F7A400"/>
            </a:solidFill>
            <a:prstDash val="solid"/>
          </a:ln>
        </p:spPr>
      </p:sp>
      <p:sp>
        <p:nvSpPr>
          <p:cNvPr id="14" name="Text 11"/>
          <p:cNvSpPr txBox="1"/>
          <p:nvPr/>
        </p:nvSpPr>
        <p:spPr>
          <a:xfrm>
            <a:off x="4526280" y="461772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5" name="Text 12"/>
          <p:cNvSpPr txBox="1"/>
          <p:nvPr/>
        </p:nvSpPr>
        <p:spPr>
          <a:xfrm>
            <a:off x="4526280" y="5166360"/>
            <a:ext cx="1828800" cy="320040"/>
          </a:xfrm>
          <a:prstGeom prst="rect">
            <a:avLst/>
          </a:prstGeom>
          <a:noFill/>
          <a:ln/>
        </p:spPr>
        <p:txBody>
          <a:bodyPr wrap="square" lIns="0" tIns="0" rIns="0" bIns="0" rtlCol="0" anchor="ctr"/>
          <a:lstStyle/>
          <a:p>
            <a:pPr indent="0" marL="0">
              <a:buNone/>
            </a:pPr>
            <a:r>
              <a:rPr lang="en-US" sz="1500" b="1" dirty="0">
                <a:solidFill>
                  <a:schemeClr val="bg1"/>
                </a:solidFill>
              </a:rPr>
              <a:t>Go live</a:t>
            </a:r>
            <a:endParaRPr lang="en-US" sz="1500" dirty="0"/>
          </a:p>
        </p:txBody>
      </p:sp>
      <p:sp>
        <p:nvSpPr>
          <p:cNvPr id="16" name="Text 13"/>
          <p:cNvSpPr txBox="1"/>
          <p:nvPr/>
        </p:nvSpPr>
        <p:spPr>
          <a:xfrm>
            <a:off x="4526280" y="5486400"/>
            <a:ext cx="1828800" cy="457200"/>
          </a:xfrm>
          <a:prstGeom prst="rect">
            <a:avLst/>
          </a:prstGeom>
          <a:noFill/>
          <a:ln/>
        </p:spPr>
        <p:txBody>
          <a:bodyPr wrap="square" lIns="0" tIns="0" rIns="0" bIns="0" rtlCol="0" anchor="t"/>
          <a:lstStyle/>
          <a:p>
            <a:pPr indent="0" marL="0">
              <a:buNone/>
            </a:pPr>
            <a:r>
              <a:rPr lang="en-US" sz="1200" dirty="0">
                <a:solidFill>
                  <a:schemeClr val="accent5"/>
                </a:solidFill>
              </a:rPr>
              <a:t>Parents and teachers join</a:t>
            </a:r>
            <a:endParaRPr lang="en-US" sz="1200" dirty="0"/>
          </a:p>
        </p:txBody>
      </p:sp>
      <p:sp>
        <p:nvSpPr>
          <p:cNvPr id="17" name="Text 14"/>
          <p:cNvSpPr txBox="1"/>
          <p:nvPr/>
        </p:nvSpPr>
        <p:spPr>
          <a:xfrm>
            <a:off x="685800" y="6035040"/>
            <a:ext cx="5943600" cy="365760"/>
          </a:xfrm>
          <a:prstGeom prst="rect">
            <a:avLst/>
          </a:prstGeom>
          <a:noFill/>
          <a:ln/>
        </p:spPr>
        <p:txBody>
          <a:bodyPr wrap="square" lIns="0" tIns="0" rIns="0" bIns="0" rtlCol="0" anchor="ctr"/>
          <a:lstStyle/>
          <a:p>
            <a:pPr indent="0" marL="0">
              <a:buNone/>
            </a:pPr>
            <a:r>
              <a:rPr lang="en-US" sz="1500" b="1" dirty="0">
                <a:solidFill>
                  <a:srgbClr val="F7A400"/>
                </a:solidFill>
              </a:rPr>
              <a:t>Book your demo:  </a:t>
            </a:r>
            <a:pPr indent="0" marL="0">
              <a:buNone/>
            </a:pPr>
            <a:r>
              <a:rPr lang="en-US" sz="1500" dirty="0">
                <a:solidFill>
                  <a:srgbClr val="FFFFFF"/>
                </a:solidFill>
              </a:rPr>
              <a:t>manashsanskrityayan@gmail.com</a:t>
            </a:r>
            <a:endParaRPr lang="en-US" sz="1500" dirty="0"/>
          </a:p>
        </p:txBody>
      </p:sp>
      <p:sp>
        <p:nvSpPr>
          <p:cNvPr id="18" name="Parent app phone"/>
          <p:cNvSpPr/>
          <p:nvPr/>
        </p:nvSpPr>
        <p:spPr>
          <a:xfrm>
            <a:off x="6766560" y="914400"/>
            <a:ext cx="2408685" cy="5120640"/>
          </a:xfrm>
          <a:prstGeom prst="roundRect">
            <a:avLst>
              <a:gd name="adj" fmla="val 7593"/>
            </a:avLst>
          </a:prstGeom>
          <a:solidFill>
            <a:srgbClr val="0B1530"/>
          </a:solidFill>
          <a:ln w="12700">
            <a:solidFill>
              <a:srgbClr val="17234A"/>
            </a:solidFill>
            <a:prstDash val="solid"/>
          </a:ln>
          <a:effectLst>
            <a:outerShdw sx="100000" sy="100000" kx="0" ky="0" algn="bl" rotWithShape="0" blurRad="177800" dist="50800" dir="5400000">
              <a:srgbClr val="0B1530">
                <a:alpha val="20000"/>
              </a:srgbClr>
            </a:outerShdw>
          </a:effectLst>
        </p:spPr>
      </p:sp>
      <p:pic>
        <p:nvPicPr>
          <p:cNvPr id="19" name="Parent app" descr="Parent app">    </p:cNvPr>
          <p:cNvPicPr>
            <a:picLocks noChangeAspect="1"/>
          </p:cNvPicPr>
          <p:nvPr/>
        </p:nvPicPr>
        <p:blipFill>
          <a:blip r:embed="rId2"/>
          <a:stretch>
            <a:fillRect/>
          </a:stretch>
        </p:blipFill>
        <p:spPr>
          <a:xfrm>
            <a:off x="6830568" y="1005840"/>
            <a:ext cx="2280669" cy="4937760"/>
          </a:xfrm>
          <a:prstGeom prst="rect">
            <a:avLst/>
          </a:prstGeom>
        </p:spPr>
      </p:pic>
      <p:pic>
        <p:nvPicPr>
          <p:cNvPr id="20" name="ID card" descr="Student ID card">    </p:cNvPr>
          <p:cNvPicPr>
            <a:picLocks noChangeAspect="1"/>
          </p:cNvPicPr>
          <p:nvPr/>
        </p:nvPicPr>
        <p:blipFill>
          <a:blip r:embed="rId3"/>
          <a:stretch>
            <a:fillRect/>
          </a:stretch>
        </p:blipFill>
        <p:spPr>
          <a:xfrm>
            <a:off x="9464040" y="1737360"/>
            <a:ext cx="2571070" cy="4023360"/>
          </a:xfrm>
          <a:prstGeom prst="rect">
            <a:avLst/>
          </a:prstGeom>
        </p:spPr>
      </p:pic>
    </p:spTree>
  </p:cSld>
  <p:clrMapOvr>
    <a:masterClrMapping/>
  </p:clrMapOvr>
</p:sld>
</file>

<file path=ppt/theme/theme1.xml><?xml version="1.0" encoding="utf-8"?>
<a:theme xmlns:a="http://schemas.openxmlformats.org/drawingml/2006/main" name="Bastaa Sales">
  <a:themeElements>
    <a:clrScheme name="Bastaa Sales">
      <a:dk1>
        <a:srgbClr val="0B1530"/>
      </a:dk1>
      <a:lt1>
        <a:srgbClr val="FFFFFF"/>
      </a:lt1>
      <a:dk2>
        <a:srgbClr val="17234A"/>
      </a:dk2>
      <a:lt2>
        <a:srgbClr val="F4F7FC"/>
      </a:lt2>
      <a:accent1>
        <a:srgbClr val="2F6FEB"/>
      </a:accent1>
      <a:accent2>
        <a:srgbClr val="F7A400"/>
      </a:accent2>
      <a:accent3>
        <a:srgbClr val="13804B"/>
      </a:accent3>
      <a:accent4>
        <a:srgbClr val="566078"/>
      </a:accent4>
      <a:accent5>
        <a:srgbClr val="AFC6FA"/>
      </a:accent5>
      <a:accent6>
        <a:srgbClr val="D64545"/>
      </a:accent6>
      <a:hlink>
        <a:srgbClr val="2F6FEB"/>
      </a:hlink>
      <a:folHlink>
        <a:srgbClr val="566078"/>
      </a:folHlink>
    </a:clrScheme>
    <a:fontScheme name="Bastaa Sale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Bastaa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Bastaa — your whole school in one simple app</dc:title>
  <dc:subject>PptxGenJS Presentation</dc:subject>
  <dc:creator>Bastaa</dc:creator>
  <cp:lastModifiedBy>Bastaa</cp:lastModifiedBy>
  <cp:revision>1</cp:revision>
  <dcterms:created xsi:type="dcterms:W3CDTF">2026-10-23T19:22:01Z</dcterms:created>
  <dcterms:modified xsi:type="dcterms:W3CDTF">2026-10-23T19:22:01Z</dcterms:modified>
</cp:coreProperties>
</file>