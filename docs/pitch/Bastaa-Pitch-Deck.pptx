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6414cf2-bb66-da13-f333-e472f778fecd}">
          <p14:sldIdLst>
            <p14:sldId id="256"/>
          </p14:sldIdLst>
        </p14:section>
        <p14:section name="Problem" id="{a275e5a0-7b4b-5c41-4008-84bb51eaa5fd}">
          <p14:sldIdLst>
            <p14:sldId id="257"/>
            <p14:sldId id="258"/>
          </p14:sldIdLst>
        </p14:section>
        <p14:section name="Solution" id="{b1b4a1fa-6ffa-0701-ef5a-a04002653d1d}">
          <p14:sldIdLst>
            <p14:sldId id="259"/>
          </p14:sldIdLst>
        </p14:section>
        <p14:section name="Product" id="{34e0b4fa-132a-c0dc-c601-6102d99583a3}">
          <p14:sldIdLst>
            <p14:sldId id="260"/>
            <p14:sldId id="261"/>
            <p14:sldId id="262"/>
            <p14:sldId id="263"/>
            <p14:sldId id="266"/>
            <p14:sldId id="267"/>
          </p14:sldIdLst>
        </p14:section>
        <p14:section name="Student ID Cards" id="{78aa330b-26fd-5358-bd2e-ff0f9679a53c}">
          <p14:sldIdLst>
            <p14:sldId id="264"/>
            <p14:sldId id="265"/>
          </p14:sldIdLst>
        </p14:section>
        <p14:section name="Product" id="{d2e2d675-4df6-c07d-d8d6-907589f8d117}">
          <p14:sldIdLst/>
        </p14:section>
        <p14:section name="Journey" id="{c21c95b2-a769-3a08-aa48-976aa8b09126}">
          <p14:sldIdLst>
            <p14:sldId id="268"/>
            <p14:sldId id="269"/>
          </p14:sldIdLst>
        </p14:section>
        <p14:section name="Technology" id="{633e2b8d-b122-c020-859b-46463b66d9c2}">
          <p14:sldIdLst>
            <p14:sldId id="270"/>
            <p14:sldId id="271"/>
            <p14:sldId id="272"/>
            <p14:sldId id="273"/>
          </p14:sldIdLst>
        </p14:section>
        <p14:section name="Business" id="{c796feeb-08bd-012f-1a94-dd53bd615542}">
          <p14:sldIdLst>
            <p14:sldId id="274"/>
            <p14:sldId id="275"/>
            <p14:sldId id="276"/>
          </p14:sldIdLst>
        </p14:section>
        <p14:section name="Closing" id="{b7c6db67-c778-a8eb-b168-dedf712294ef}">
          <p14:sldIdLst>
            <p14:sldId id="277"/>
          </p14:sldIdLst>
        </p14:section>
        <p14:section name="Appendix: Judge Q&amp;A" id="{e06e3a3b-b9d3-5d58-d750-64c5c744e08a}">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630"/>
                </a:solidFill>
                <a:latin typeface="+mn-lt"/>
              </a:defRPr>
            </a:pPr>
            <a:r>
              <a:rPr sz="1300" b="0" i="0" u="none" strike="noStrike">
                <a:solidFill>
                  <a:srgbClr val="0E1630"/>
                </a:solidFill>
                <a:latin typeface="+mn-lt"/>
              </a:rPr>
              <a:t>Automated tests by suite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2F6FEB"/>
            </a:solidFill>
            <a:effectLst/>
          </c:spPr>
          <c:invertIfNegative val="0"/>
          <c:dLbls>
            <c:numFmt formatCode="#,##0" sourceLinked="0"/>
            <c:txPr>
              <a:bodyPr/>
              <a:lstStyle/>
              <a:p>
                <a:pPr>
                  <a:defRPr b="0" i="0" strike="noStrike" sz="1200" u="none">
                    <a:solidFill>
                      <a:srgbClr val="0E1630"/>
                    </a:solidFill>
                    <a:latin typeface="+mn-lt"/>
                  </a:defRPr>
                </a:pPr>
              </a:p>
            </c:txPr>
            <c:showLegendKey val="0"/>
            <c:showVal val="1"/>
            <c:showCatName val="0"/>
            <c:showSerName val="0"/>
            <c:showPercent val="0"/>
            <c:showBubbleSize val="0"/>
            <c:showLeaderLines val="0"/>
          </c:dLbls>
          <c:cat>
            <c:multiLvlStrRef>
              <c:f>Sheet1!$A$2:$A$4</c:f>
              <c:multiLvlStrCache>
                <c:ptCount val="3"/>
                <c:lvl>
                  <c:pt idx="0">
                    <c:v>API (integration)</c:v>
                  </c:pt>
                  <c:pt idx="1">
                    <c:v>Mobile (Flutter)</c:v>
                  </c:pt>
                  <c:pt idx="2">
                    <c:v>Browser (Playwright)</c:v>
                  </c:pt>
                </c:lvl>
              </c:multiLvlStrCache>
            </c:multiLvlStrRef>
          </c:cat>
          <c:val>
            <c:numRef>
              <c:f>Sheet1!$B$2:$B$4</c:f>
              <c:numCache>
                <c:formatCode>General</c:formatCode>
                <c:ptCount val="3"/>
                <c:pt idx="0">
                  <c:v>535</c:v>
                </c:pt>
                <c:pt idx="1">
                  <c:v>38</c:v>
                </c:pt>
                <c:pt idx="2">
                  <c:v>22</c:v>
                </c:pt>
              </c:numCache>
            </c:numRef>
          </c:val>
        </c:ser>
        <c:dLbls>
          <c:numFmt formatCode="#,##0" sourceLinked="0"/>
          <c:txPr>
            <a:bodyPr/>
            <a:lstStyle/>
            <a:p>
              <a:pPr>
                <a:defRPr b="0" i="0" strike="noStrike" sz="1200" u="none">
                  <a:solidFill>
                    <a:srgbClr val="0E16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Imagine you're a parent in Pune at 9 a.m. You don't know if your daughter reached school, whether the fee is overdue, or what the homework is, unless you scroll through three WhatsApp groups.
We built Bastaa so that a school's whole day lives in one place. The office works on the web, and parents and teachers use one simple Android app.
Everything I show today runs in our codebase. Every screenshot is the real product running on our demo school of 750 students. Where something is still waiting on an account or a decision, I'll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14.7 lakh schools, nearly 25 crore students and more than one crore teachers. That's UDISE+ 2024-25, the Ministry of Education's own census.
Every one of those schools runs the same daily loop: take attendance, collect fees, set homework, tell parents things, publish results.
In most schools we've seen, that loop still runs on paper registers, fee books, Excel files and WhatsApp groups. Nothing connects, and the parent is usually the last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isn't one person. It's five people sharing one school day with no shared system.
The office types the same student into three registers. The principal finds problems at month-end. The accountant chases fees by phone. Teachers lose class time to registers. And the parent finds out last.
Bastaa gives each of them their own view of the same data: one record, permission-checked,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Bastaa is one platform with three ways in.
The school portal is a website with its own address for each school, for example stmarys.bastaa.in. The office, principal, accountant and teachers work there.
Parents and teachers use one Android app. After sign-in, the home screen follows the person's role, and someone who is both can switch.
And we have our own console at admin.bastaa.in, where we onboard schools, manage plans and give support, but only when the school approves it.
All three talk to the same API, so the data is always the same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school admin's home page in the demo school.
It doesn't open on a wall of charts. It opens on what needs attention today: 30 registers not yet submitted, two students below 75% attendance.
Each role gets its own version of this page. A teacher sees the registers to take and today's classes. A parent sees their child's day.
Search works across students, teachers and parents, and it only shows what that person is allowed to see.
Every school's logo and colour carry through the portal, the app and every printed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Attendance is the first thing every school does each morning, so it has to be fast.
On the web the class teacher marks a section with one tap per student, or "mark all present". In the app it works with no signal at all. The register is saved on the phone and sent when the connection comes back.
Each offline submission carries an ID, so if it's sent twice the server ignores the repeat. Nothing gets double-counted.
As soon as a register is submitted, parents of absent children are told. The office can set an edit window, track staff attendance and see the monthly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Fees are where schools lose the most time and the most money.
The accountant sets up fee heads like tuition and transport, then class-wise structures with installments. Invoices come out with gap-free numbers.
Parents pay at the counter or online in the app. Online payments go straight to the school's own Razorpay account, so we never hold the money. We verify every payment's signature and webhook.
Receipts are instant and can be re-printed. There's a day close for the cash counter, concessions that need approval, late-fee rules, refunds and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Exams follow one path: set up the exam, enter marks, publish results, print report cards.
Teachers enter marks for their own subjects, on the web, on the phone, or by uploading an Excel sheet. The office can see progress per subject and section, and lock sheets once they're done.
When the principal publishes results, parents see them with a performance radar and progress across exams, like this one for Ananya.
Report cards come in three layouts the school chooses from: classic, modern or compact. They're generated for a whole section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about a student lives on one profile: admission details, class and roll number, parents, photo, blood group, plus tabs for attendance, homework, exams, fees and documents.
Because that record already exists, we can print things from it instead of typing them again. The newest example is ID cards.
On the right is a real A4 sheet the system produced for Class 5-B: nine cards per page, at the standard card size, with cut lines. The office opens it from the Students page or from one student's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one card up close. This is the actual PDF the system rendered for Ananya in the demo school, not a mock-up.
One: the header uses the school's own colour, name and address from its branding settings.
Two: the photo comes from the student's profile. If there's no photo yet, it prints the student's initials instead of a blank box.
Three: name, class, section and roll number.
Four: admission number, date of birth, blood group, and the primary parent with their phone, which is what matters in an emergency.
Five: the academic year, the principal's signature, and an "if found, please call" line with the school's number.
If a field is empty, it's left off rather than printed as a blank. Only office staff with edit rights can print, and asking for another school's student returns "not found".
Today the school prints these on any printer and laminates them, so no more sending lists to a print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and teachers live on their phones, so the app is where most people meet Bastaa.
A parent sees whether their child is in school today, the timetable, homework, results with charts, and fees. They can pay and download receipts.
A teacher takes registers, even offline, posts homework with a photo of the board, and enters marks.
Both get messages, video meetings, the school calendar, reminders and push notifications.
The app is built in Flutter. We also have a demo build that carries a sample school inside the app and needs no server. That's the version going to Google Play for internal testing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WhatsApp group.
Notices go to exactly the audience you pick, and you can see who read them. Parents message their child's class teacher or subject teachers directly, and complaints have a status, so nothing gets lost. Meetings run on Jitsi video with reminders, and the calendar carries holidays, events and exam dates.
Under all of this is one notification engine: 20 school events, each switchable per school, delivered to the in-app inbox and optionally by push, SMS or email.
Quiet hours hold night-time pushes and SMS until morning, and a daily SMS limit keeps the bill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school goes from signing up to running on Bastaa.
We create the school in our console and give it a web address. The school admin then follows a ten-step setup wizard: school details, academic year, classes, sections, subjects, teachers, students, fees and notifications.
Existing records come in from Excel. The import checks every row first and shows the problems to fix before anything is saved.
People get their logins either by SMS code or, if SMS isn't set up, by a one-time code from the school office. Go-live is blocked until the required checklist passes.
After that, the daily loop on the right just runs, all the way to promoting the whole school to the next year in 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Principals don't want to build reports. They want answers.
So the assistant takes a plain question, like "which classes are below 75% attendance this month?", and answers it only by calling eight permission-checked report tools. It can't see anything the person asking couldn't already open.
Before any table goes to the AI model, every person's name and phone becomes a placeholder like P1 or P2. Names never leave the school. The answer is turned back for the person who asked, with a link to the report it came from.
To be clear about status: it's fully built and passes a 22-case evaluation offline, including Hindi and Hinglish questions. It goes live per school only after the same evaluation passes against the live Gemini model, which needs an API key we haven't set up yet. Usage is metered per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it's built.
Three front ends: the Flutter Android app, the school portal in the browser, and our console. They all go through Cloudflare, which handles DNS, TLS and the firewall, and routes each subdomain. A shared edge secret means nobody can bypass Cloudflare and hit the servers directly.
The web app is Next.js 16. It acts as a backend-for-frontend, so session tokens live in httpOnly cookies and never touch browser JavaScript.
Everything talks to one NestJS API: 30 modules and 289 endpoints. Their request and response shapes are Zod contracts shared by the web, the app and the server, so they can't drift apart. Background work like PDFs, notifications and scheduled reports runs on queues stored in Postgres itself, so there's no Redis to run.
Data sits in PostgreSQL 17 with row-level security on 86 tenant tables. Files go to Cloud Storage behind signed links.
Hosting is Google Cloud Run in Mumbai. Every step is scripted; the first deployment is waiting on the cloud account and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school, the scariest question is: can another school see our children's data? Our answer is three independent layers.
First, the database itself. Row-level security on all 86 tenant tables means even a buggy query only returns the current school's rows.
Second, every request. The school comes from the web address, and each route checks one of 69 permission keys at a scope: the whole school, assigned classes, own children, or self. We check permissions, never role names, so schools can design their own roles safely.
Third, every build. An automated probe calls every record route with another school's IDs and must get "not found" back. If anyone breaks isolation, CI goes red.
On top of that: httpOnly cookies, rotating refresh tokens with reuse detection, sign-in lockout, an audit log, and support access that only works with the school's approval. Under the DPDP Act, the school is the data fiduciary and we're the processor. A legal review is planned before the first live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school can't afford software that breaks on result day, so we've treated quality as a feature.
The API has 289 endpoints, and every one declares who may call it. There are 95 data models and 30 modules, each with its own README.
There are 595 automated tests: 535 API integration tests against a real Postgres with row-level security on, 38 Flutter tests in the app, and 22 Playwright browser tests on the critical paths. Some of those browser tests caught real bugs before any user did.
Every pull request runs lint, type checks, all three test suites, builds the Docker images and the Android app, and checks the API spec still matches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mainstream, so it's easy to hire for and cheap to run.
Flutter for the app, Next.js and React for the web, NestJS on TypeScript for the API, Postgres for everything durable, including the job queues.
One monorepo holds all of it, with the shared contracts package between them.
Because the queues live in Postgres and Cloud Run scales to zero, our infrastructure notes put a staging environment at roughly 25 to 45 dollars a month. Production keeps one instance always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is simple: a yearly subscription per school, sized by number of students.
The product already models three plans, and their limits are enforced in code: student numbers, monthly SMS, AI questions and storage. Online payments, the report builder and the AI assistant switch on by plan.
We set prices per school in our console. The demo has working figures in it, but we'll fix launch pricing after our first pilots rather than guess now.
Going to market, we start with private schools in one city. We show the demo app on a phone, then run a pilot that turns into a yearly contract. The website already has a "book a demo"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precise about where we are.
Green is built and tested in the codebase today: every module you've seen, the new ID cards, the portal, the app, the console, the public website and the isolation layers.
Amber is built, but switched on by an account we haven't opened yet. Cloud deployment needs the Google Cloud project and the domain. The Play listing needs the developer account. Push needs a Firebase project. SMS needs DLT registration. Live AI needs a Gemini key and a passing evaluation. None of these needs more code; they need accounts.
Grey is the honest next list: iOS, online subscription billing, bank settlement reconciliation, student logins and self-hosted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school get on day one? Teachers get time back, because registers and marks move from paper to the phone. Fees come in on time with online payment and instant receipts. Parents stop finding out last. And the office stops sending lists to a print shop for ID cards and report cards.
Where does this go? The same platform can serve every board, with local-language support. iOS and student logins are next. Billing becomes fully online. The assistant already drafts worksheets, and it can grow into flagging students at risk early.
Because Bastaa is multi-school from the first line of code, a group with many branches can run them all from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back to that parent in Pune at 9 a.m. With Bastaa, her phone tells her that her daughter reached school, what the homework is, and that the fee is paid, with the receipt right there. The school didn't have to work harder to make that happen. It just stopped using paper.
Everything you saw today is built and tested. Deployment is scripted, and what's left is opening accounts.
So our ask is simple: help us find our first pilot schools, and give us your advice on the road from pilot to a hundred schools.
Thank you. I'd be glad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Keep answers short and honest. If asked about traction, say plainly that there's no live school yet: the product is complete and tested, and pilots are the next step. Offer to show the live demo on a laptop or the demo app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 AI and ID cards, be precise about what exists today and what's planned. Never promise QR codes, RFID or iOS as existing features. On pricing, explain that plan limits are enforced in code but launch prices come after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E16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7498080" cy="155448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r>
              <a:rPr lang="en-US" sz="4800" b="1" dirty="0">
                <a:solidFill>
                  <a:schemeClr val="bg1"/>
                </a:solidFill>
                <a:latin typeface="Cambria" pitchFamily="34" charset="0"/>
                <a:ea typeface="Cambria" pitchFamily="34" charset="-122"/>
                <a:cs typeface="Cambria" pitchFamily="34" charset="-120"/>
              </a:rPr>
              <a:t>Title</a:t>
            </a:r>
            <a:endParaRPr lang="en-US" sz="4800" dirty="0"/>
          </a:p>
        </p:txBody>
      </p:sp>
      <p:sp>
        <p:nvSpPr>
          <p:cNvPr id="3" name="Text 0"/>
          <p:cNvSpPr/>
          <p:nvPr>
            <p:ph idx="101" type="body" hasCustomPrompt="1"/>
          </p:nvPr>
        </p:nvSpPr>
        <p:spPr>
          <a:xfrm>
            <a:off x="731520" y="3977640"/>
            <a:ext cx="6949440" cy="82296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r>
              <a:rPr lang="en-US" sz="2000" dirty="0">
                <a:solidFill>
                  <a:schemeClr val="accent5"/>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r>
              <a:rPr lang="en-US" sz="1200" b="1" spc="200" kern="0" dirty="0">
                <a:solidFill>
                  <a:schemeClr val="accent2"/>
                </a:solidFill>
              </a:rPr>
              <a:t>SECTION</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r>
              <a:rPr lang="en-US" sz="3000" b="1" dirty="0">
                <a:solidFill>
                  <a:schemeClr val="tx1"/>
                </a:solidFill>
                <a:latin typeface="Cambria" pitchFamily="34" charset="0"/>
                <a:ea typeface="Cambria" pitchFamily="34" charset="-122"/>
                <a:cs typeface="Cambria" pitchFamily="34" charset="-120"/>
              </a:rPr>
              <a:t>Title</a:t>
            </a:r>
            <a:endParaRPr lang="en-US" sz="3000" dirty="0"/>
          </a:p>
        </p:txBody>
      </p:sp>
      <p:pic>
        <p:nvPicPr>
          <p:cNvPr id="4" name="Image 0" descr="/tmp/claude-0/-home-user-school-erp/e29ee0a4-43fe-57b9-bbca-796e49c4c9e9/scratchpad/deck/assets/mark.png">    </p:cNvPr>
          <p:cNvPicPr>
            <a:picLocks noChangeAspect="1"/>
          </p:cNvPicPr>
          <p:nvPr/>
        </p:nvPicPr>
        <p:blipFill>
          <a:blip r:embed="rId1"/>
          <a:stretch>
            <a:fillRect/>
          </a:stretch>
        </p:blipFill>
        <p:spPr>
          <a:xfrm>
            <a:off x="548640" y="6400800"/>
            <a:ext cx="219456" cy="219456"/>
          </a:xfrm>
          <a:prstGeom prst="rect">
            <a:avLst/>
          </a:prstGeom>
        </p:spPr>
      </p:pic>
      <p:sp>
        <p:nvSpPr>
          <p:cNvPr id="5" name="Text 0"/>
          <p:cNvSpPr/>
          <p:nvPr/>
        </p:nvSpPr>
        <p:spPr>
          <a:xfrm>
            <a:off x="822960" y="6382512"/>
            <a:ext cx="2743200" cy="256032"/>
          </a:xfrm>
          <a:prstGeom prst="rect">
            <a:avLst/>
          </a:prstGeom>
          <a:noFill/>
          <a:ln/>
        </p:spPr>
        <p:txBody>
          <a:bodyPr wrap="square" lIns="0" tIns="0" rIns="0" bIns="0" rtlCol="0" anchor="ctr"/>
          <a:lstStyle/>
          <a:p>
            <a:pPr indent="0" marL="0">
              <a:buNone/>
            </a:pPr>
            <a:r>
              <a:rPr lang="en-US" sz="1000" dirty="0">
                <a:solidFill>
                  <a:schemeClr val="accent4"/>
                </a:solidFill>
              </a:rPr>
              <a:t>Bastaa</a:t>
            </a:r>
            <a:endParaRPr lang="en-US" sz="10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E163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r>
              <a:rPr lang="en-US" sz="1200" b="1" spc="200" kern="0" dirty="0">
                <a:solidFill>
                  <a:schemeClr val="accent2"/>
                </a:solidFill>
              </a:rPr>
              <a:t>SECTION</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r>
              <a:rPr lang="en-US" sz="3000" b="1" dirty="0">
                <a:solidFill>
                  <a:schemeClr val="bg1"/>
                </a:solidFill>
                <a:latin typeface="Cambria" pitchFamily="34" charset="0"/>
                <a:ea typeface="Cambria" pitchFamily="34" charset="-122"/>
                <a:cs typeface="Cambria" pitchFamily="34" charset="-120"/>
              </a:rPr>
              <a:t>Title</a:t>
            </a:r>
            <a:endParaRPr lang="en-US" sz="30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jpg"/><Relationship Id="rId11" Type="http://schemas.openxmlformats.org/officeDocument/2006/relationships/slideLayout" Target="../slideLayouts/slideLayout3.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school-erp/e29ee0a4-43fe-57b9-bbca-796e49c4c9e9/scratchpad/deck/assets/bastaa-logo-white.png">    </p:cNvPr>
          <p:cNvPicPr>
            <a:picLocks noChangeAspect="1"/>
          </p:cNvPicPr>
          <p:nvPr/>
        </p:nvPicPr>
        <p:blipFill>
          <a:blip r:embed="rId1"/>
          <a:stretch>
            <a:fillRect/>
          </a:stretch>
        </p:blipFill>
        <p:spPr>
          <a:xfrm>
            <a:off x="731520" y="731520"/>
            <a:ext cx="2377440" cy="709684"/>
          </a:xfrm>
          <a:prstGeom prst="rect">
            <a:avLst/>
          </a:prstGeom>
        </p:spPr>
      </p:pic>
      <p:sp>
        <p:nvSpPr>
          <p:cNvPr id="3" name="Text 0"/>
          <p:cNvSpPr/>
          <p:nvPr>
            <p:ph idx="100" type="title" hasCustomPrompt="1"/>
          </p:nvPr>
        </p:nvSpPr>
        <p:spPr>
          <a:xfrm>
            <a:off x="731520" y="2331720"/>
            <a:ext cx="7498080" cy="155448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Your whole school, in one simple app</a:t>
            </a:r>
            <a:endParaRPr lang="en-US" sz="4800" dirty="0"/>
          </a:p>
        </p:txBody>
      </p:sp>
      <p:sp>
        <p:nvSpPr>
          <p:cNvPr id="4" name="Text 0"/>
          <p:cNvSpPr/>
          <p:nvPr>
            <p:ph idx="101" type="body" hasCustomPrompt="1"/>
          </p:nvPr>
        </p:nvSpPr>
        <p:spPr>
          <a:xfrm>
            <a:off x="731520" y="3977640"/>
            <a:ext cx="6949440" cy="822960"/>
          </a:xfrm>
          <a:prstGeom prst="rect">
            <a:avLst/>
          </a:prstGeom>
          <a:noFill/>
          <a:ln/>
        </p:spPr>
        <p:txBody>
          <a:bodyPr wrap="square" lIns="0" tIns="0" rIns="0" bIns="0" rtlCol="0" anchor="t"/>
          <a:lstStyle/>
          <a:p>
            <a:pPr algn="l" indent="0" marL="0">
              <a:buNone/>
            </a:pPr>
            <a:r>
              <a:rPr lang="en-US" sz="2000" dirty="0">
                <a:solidFill>
                  <a:schemeClr val="accent5"/>
                </a:solidFill>
              </a:rPr>
              <a:t>Attendance, fees, exams, homework, ID cards and parent messages. The office on the web; parents and teachers on their phones.</a:t>
            </a:r>
            <a:endParaRPr lang="en-US" sz="2000" dirty="0"/>
          </a:p>
        </p:txBody>
      </p:sp>
      <p:sp>
        <p:nvSpPr>
          <p:cNvPr id="5" name="Text 2"/>
          <p:cNvSpPr txBox="1"/>
          <p:nvPr/>
        </p:nvSpPr>
        <p:spPr>
          <a:xfrm>
            <a:off x="731520" y="5989320"/>
            <a:ext cx="6400800" cy="320040"/>
          </a:xfrm>
          <a:prstGeom prst="rect">
            <a:avLst/>
          </a:prstGeom>
          <a:noFill/>
          <a:ln/>
        </p:spPr>
        <p:txBody>
          <a:bodyPr wrap="square" lIns="0" tIns="0" rIns="0" bIns="0" rtlCol="0" anchor="ctr"/>
          <a:lstStyle/>
          <a:p>
            <a:pPr indent="0" marL="0">
              <a:buNone/>
            </a:pPr>
            <a:r>
              <a:rPr lang="en-US" sz="1300" dirty="0">
                <a:solidFill>
                  <a:schemeClr val="accent2"/>
                </a:solidFill>
              </a:rPr>
              <a:t>Built for Indian schools · Web + Android · Multi-school SaaS</a:t>
            </a:r>
            <a:endParaRPr lang="en-US" sz="1300" dirty="0"/>
          </a:p>
        </p:txBody>
      </p:sp>
      <p:sp>
        <p:nvSpPr>
          <p:cNvPr id="6" name="Parent app home screen frame"/>
          <p:cNvSpPr/>
          <p:nvPr/>
        </p:nvSpPr>
        <p:spPr>
          <a:xfrm>
            <a:off x="8549640" y="868680"/>
            <a:ext cx="2864358" cy="5120640"/>
          </a:xfrm>
          <a:prstGeom prst="roundRect">
            <a:avLst>
              <a:gd name="adj" fmla="val 6385"/>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7" name="Parent app home screen" descr="Parent app home screen">    </p:cNvPr>
          <p:cNvPicPr>
            <a:picLocks noChangeAspect="1"/>
          </p:cNvPicPr>
          <p:nvPr/>
        </p:nvPicPr>
        <p:blipFill>
          <a:blip r:embed="rId2"/>
          <a:stretch>
            <a:fillRect/>
          </a:stretch>
        </p:blipFill>
        <p:spPr>
          <a:xfrm>
            <a:off x="8613648" y="996696"/>
            <a:ext cx="2736342" cy="48646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THE PROBLEM</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Schools still run on registers, fee books and WhatsApp</a:t>
            </a:r>
            <a:endParaRPr lang="en-US" sz="3000" dirty="0"/>
          </a:p>
        </p:txBody>
      </p:sp>
      <p:sp>
        <p:nvSpPr>
          <p:cNvPr id="4" name="Pain 1"/>
          <p:cNvSpPr/>
          <p:nvPr/>
        </p:nvSpPr>
        <p:spPr>
          <a:xfrm>
            <a:off x="548640" y="1691640"/>
            <a:ext cx="2615184" cy="2743200"/>
          </a:xfrm>
          <a:prstGeom prst="roundRect">
            <a:avLst>
              <a:gd name="adj" fmla="val 4196"/>
            </a:avLst>
          </a:prstGeom>
          <a:solidFill>
            <a:srgbClr val="F3F6FC"/>
          </a:solidFill>
          <a:ln w="12700">
            <a:solidFill>
              <a:srgbClr val="F3F6FC"/>
            </a:solidFill>
            <a:prstDash val="solid"/>
          </a:ln>
        </p:spPr>
      </p:sp>
      <p:sp>
        <p:nvSpPr>
          <p:cNvPr id="5" name="Shape 3"/>
          <p:cNvSpPr/>
          <p:nvPr/>
        </p:nvSpPr>
        <p:spPr>
          <a:xfrm>
            <a:off x="822960" y="1965960"/>
            <a:ext cx="566928" cy="566928"/>
          </a:xfrm>
          <a:prstGeom prst="ellipse">
            <a:avLst/>
          </a:prstGeom>
          <a:solidFill>
            <a:srgbClr val="D64545"/>
          </a:solidFill>
          <a:ln w="12700">
            <a:solidFill>
              <a:srgbClr val="D64545"/>
            </a:solidFill>
            <a:prstDash val="solid"/>
          </a:ln>
        </p:spPr>
      </p:sp>
      <p:pic>
        <p:nvPicPr>
          <p:cNvPr id="6" name="Image 0" descr="preencoded.png">    </p:cNvPr>
          <p:cNvPicPr>
            <a:picLocks noChangeAspect="1"/>
          </p:cNvPicPr>
          <p:nvPr/>
        </p:nvPicPr>
        <p:blipFill>
          <a:blip r:embed="rId1"/>
          <a:stretch>
            <a:fillRect/>
          </a:stretch>
        </p:blipFill>
        <p:spPr>
          <a:xfrm>
            <a:off x="959023" y="2102023"/>
            <a:ext cx="294803" cy="294803"/>
          </a:xfrm>
          <a:prstGeom prst="rect">
            <a:avLst/>
          </a:prstGeom>
        </p:spPr>
      </p:pic>
      <p:sp>
        <p:nvSpPr>
          <p:cNvPr id="7" name="Text 4"/>
          <p:cNvSpPr txBox="1"/>
          <p:nvPr/>
        </p:nvSpPr>
        <p:spPr>
          <a:xfrm>
            <a:off x="822960"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Paper registers</a:t>
            </a:r>
            <a:endParaRPr lang="en-US" sz="1800" dirty="0"/>
          </a:p>
        </p:txBody>
      </p:sp>
      <p:sp>
        <p:nvSpPr>
          <p:cNvPr id="8" name="Text 5"/>
          <p:cNvSpPr txBox="1"/>
          <p:nvPr/>
        </p:nvSpPr>
        <p:spPr>
          <a:xfrm>
            <a:off x="822960" y="3108960"/>
            <a:ext cx="2103120" cy="1280160"/>
          </a:xfrm>
          <a:prstGeom prst="rect">
            <a:avLst/>
          </a:prstGeom>
          <a:noFill/>
          <a:ln/>
        </p:spPr>
        <p:txBody>
          <a:bodyPr wrap="square" lIns="0" tIns="0" rIns="0" bIns="0" rtlCol="0" anchor="t"/>
          <a:lstStyle/>
          <a:p>
            <a:pPr indent="0" marL="0">
              <a:buNone/>
            </a:pPr>
            <a:r>
              <a:rPr lang="en-US" sz="1400" dirty="0">
                <a:solidFill>
                  <a:schemeClr val="accent4"/>
                </a:solidFill>
              </a:rPr>
              <a:t>Attendance is written by hand, tallied at month-end, and parents only hear about absences much later.</a:t>
            </a:r>
            <a:endParaRPr lang="en-US" sz="1400" dirty="0"/>
          </a:p>
        </p:txBody>
      </p:sp>
      <p:sp>
        <p:nvSpPr>
          <p:cNvPr id="9" name="Pain 2"/>
          <p:cNvSpPr/>
          <p:nvPr/>
        </p:nvSpPr>
        <p:spPr>
          <a:xfrm>
            <a:off x="3346704" y="1691640"/>
            <a:ext cx="2615184" cy="2743200"/>
          </a:xfrm>
          <a:prstGeom prst="roundRect">
            <a:avLst>
              <a:gd name="adj" fmla="val 4196"/>
            </a:avLst>
          </a:prstGeom>
          <a:solidFill>
            <a:srgbClr val="F3F6FC"/>
          </a:solidFill>
          <a:ln w="12700">
            <a:solidFill>
              <a:srgbClr val="F3F6FC"/>
            </a:solidFill>
            <a:prstDash val="solid"/>
          </a:ln>
        </p:spPr>
      </p:sp>
      <p:sp>
        <p:nvSpPr>
          <p:cNvPr id="10" name="Shape 7"/>
          <p:cNvSpPr/>
          <p:nvPr/>
        </p:nvSpPr>
        <p:spPr>
          <a:xfrm>
            <a:off x="3621024" y="1965960"/>
            <a:ext cx="566928" cy="566928"/>
          </a:xfrm>
          <a:prstGeom prst="ellipse">
            <a:avLst/>
          </a:prstGeom>
          <a:solidFill>
            <a:srgbClr val="D64545"/>
          </a:solidFill>
          <a:ln w="12700">
            <a:solidFill>
              <a:srgbClr val="D64545"/>
            </a:solidFill>
            <a:prstDash val="solid"/>
          </a:ln>
        </p:spPr>
      </p:sp>
      <p:pic>
        <p:nvPicPr>
          <p:cNvPr id="11" name="Image 1" descr="preencoded.png">    </p:cNvPr>
          <p:cNvPicPr>
            <a:picLocks noChangeAspect="1"/>
          </p:cNvPicPr>
          <p:nvPr/>
        </p:nvPicPr>
        <p:blipFill>
          <a:blip r:embed="rId2"/>
          <a:stretch>
            <a:fillRect/>
          </a:stretch>
        </p:blipFill>
        <p:spPr>
          <a:xfrm>
            <a:off x="3757087" y="2102023"/>
            <a:ext cx="294803" cy="294803"/>
          </a:xfrm>
          <a:prstGeom prst="rect">
            <a:avLst/>
          </a:prstGeom>
        </p:spPr>
      </p:pic>
      <p:sp>
        <p:nvSpPr>
          <p:cNvPr id="12" name="Text 8"/>
          <p:cNvSpPr txBox="1"/>
          <p:nvPr/>
        </p:nvSpPr>
        <p:spPr>
          <a:xfrm>
            <a:off x="3621024"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Fee books and Excel</a:t>
            </a:r>
            <a:endParaRPr lang="en-US" sz="1800" dirty="0"/>
          </a:p>
        </p:txBody>
      </p:sp>
      <p:sp>
        <p:nvSpPr>
          <p:cNvPr id="13" name="Text 9"/>
          <p:cNvSpPr txBox="1"/>
          <p:nvPr/>
        </p:nvSpPr>
        <p:spPr>
          <a:xfrm>
            <a:off x="3621024" y="3108960"/>
            <a:ext cx="2103120" cy="1280160"/>
          </a:xfrm>
          <a:prstGeom prst="rect">
            <a:avLst/>
          </a:prstGeom>
          <a:noFill/>
          <a:ln/>
        </p:spPr>
        <p:txBody>
          <a:bodyPr wrap="square" lIns="0" tIns="0" rIns="0" bIns="0" rtlCol="0" anchor="t"/>
          <a:lstStyle/>
          <a:p>
            <a:pPr indent="0" marL="0">
              <a:buNone/>
            </a:pPr>
            <a:r>
              <a:rPr lang="en-US" sz="1400" dirty="0">
                <a:solidFill>
                  <a:schemeClr val="accent4"/>
                </a:solidFill>
              </a:rPr>
              <a:t>Installments, concessions and late fees tracked by hand. Receipts get lost and dues are hard to chase.</a:t>
            </a:r>
            <a:endParaRPr lang="en-US" sz="1400" dirty="0"/>
          </a:p>
        </p:txBody>
      </p:sp>
      <p:sp>
        <p:nvSpPr>
          <p:cNvPr id="14" name="Pain 3"/>
          <p:cNvSpPr/>
          <p:nvPr/>
        </p:nvSpPr>
        <p:spPr>
          <a:xfrm>
            <a:off x="6144768" y="1691640"/>
            <a:ext cx="2615184" cy="2743200"/>
          </a:xfrm>
          <a:prstGeom prst="roundRect">
            <a:avLst>
              <a:gd name="adj" fmla="val 4196"/>
            </a:avLst>
          </a:prstGeom>
          <a:solidFill>
            <a:srgbClr val="F3F6FC"/>
          </a:solidFill>
          <a:ln w="12700">
            <a:solidFill>
              <a:srgbClr val="F3F6FC"/>
            </a:solidFill>
            <a:prstDash val="solid"/>
          </a:ln>
        </p:spPr>
      </p:sp>
      <p:sp>
        <p:nvSpPr>
          <p:cNvPr id="15" name="Shape 11"/>
          <p:cNvSpPr/>
          <p:nvPr/>
        </p:nvSpPr>
        <p:spPr>
          <a:xfrm>
            <a:off x="6419088" y="1965960"/>
            <a:ext cx="566928" cy="566928"/>
          </a:xfrm>
          <a:prstGeom prst="ellipse">
            <a:avLst/>
          </a:prstGeom>
          <a:solidFill>
            <a:srgbClr val="D64545"/>
          </a:solidFill>
          <a:ln w="12700">
            <a:solidFill>
              <a:srgbClr val="D64545"/>
            </a:solidFill>
            <a:prstDash val="solid"/>
          </a:ln>
        </p:spPr>
      </p:sp>
      <p:pic>
        <p:nvPicPr>
          <p:cNvPr id="16" name="Image 2" descr="preencoded.png">    </p:cNvPr>
          <p:cNvPicPr>
            <a:picLocks noChangeAspect="1"/>
          </p:cNvPicPr>
          <p:nvPr/>
        </p:nvPicPr>
        <p:blipFill>
          <a:blip r:embed="rId3"/>
          <a:stretch>
            <a:fillRect/>
          </a:stretch>
        </p:blipFill>
        <p:spPr>
          <a:xfrm>
            <a:off x="6555151" y="2102023"/>
            <a:ext cx="294803" cy="294803"/>
          </a:xfrm>
          <a:prstGeom prst="rect">
            <a:avLst/>
          </a:prstGeom>
        </p:spPr>
      </p:pic>
      <p:sp>
        <p:nvSpPr>
          <p:cNvPr id="17" name="Text 12"/>
          <p:cNvSpPr txBox="1"/>
          <p:nvPr/>
        </p:nvSpPr>
        <p:spPr>
          <a:xfrm>
            <a:off x="6419088"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WhatsApp chaos</a:t>
            </a:r>
            <a:endParaRPr lang="en-US" sz="1800" dirty="0"/>
          </a:p>
        </p:txBody>
      </p:sp>
      <p:sp>
        <p:nvSpPr>
          <p:cNvPr id="18" name="Text 13"/>
          <p:cNvSpPr txBox="1"/>
          <p:nvPr/>
        </p:nvSpPr>
        <p:spPr>
          <a:xfrm>
            <a:off x="6419088" y="3108960"/>
            <a:ext cx="2103120" cy="1280160"/>
          </a:xfrm>
          <a:prstGeom prst="rect">
            <a:avLst/>
          </a:prstGeom>
          <a:noFill/>
          <a:ln/>
        </p:spPr>
        <p:txBody>
          <a:bodyPr wrap="square" lIns="0" tIns="0" rIns="0" bIns="0" rtlCol="0" anchor="t"/>
          <a:lstStyle/>
          <a:p>
            <a:pPr indent="0" marL="0">
              <a:buNone/>
            </a:pPr>
            <a:r>
              <a:rPr lang="en-US" sz="1400" dirty="0">
                <a:solidFill>
                  <a:schemeClr val="accent4"/>
                </a:solidFill>
              </a:rPr>
              <a:t>Notices, homework and complaints scattered across groups. Nobody knows who has read what.</a:t>
            </a:r>
            <a:endParaRPr lang="en-US" sz="1400" dirty="0"/>
          </a:p>
        </p:txBody>
      </p:sp>
      <p:sp>
        <p:nvSpPr>
          <p:cNvPr id="19" name="Pain 4"/>
          <p:cNvSpPr/>
          <p:nvPr/>
        </p:nvSpPr>
        <p:spPr>
          <a:xfrm>
            <a:off x="8942832" y="1691640"/>
            <a:ext cx="2615184" cy="2743200"/>
          </a:xfrm>
          <a:prstGeom prst="roundRect">
            <a:avLst>
              <a:gd name="adj" fmla="val 4196"/>
            </a:avLst>
          </a:prstGeom>
          <a:solidFill>
            <a:srgbClr val="F3F6FC"/>
          </a:solidFill>
          <a:ln w="12700">
            <a:solidFill>
              <a:srgbClr val="F3F6FC"/>
            </a:solidFill>
            <a:prstDash val="solid"/>
          </a:ln>
        </p:spPr>
      </p:sp>
      <p:sp>
        <p:nvSpPr>
          <p:cNvPr id="20" name="Shape 15"/>
          <p:cNvSpPr/>
          <p:nvPr/>
        </p:nvSpPr>
        <p:spPr>
          <a:xfrm>
            <a:off x="9217152" y="1965960"/>
            <a:ext cx="566928" cy="566928"/>
          </a:xfrm>
          <a:prstGeom prst="ellipse">
            <a:avLst/>
          </a:prstGeom>
          <a:solidFill>
            <a:srgbClr val="D64545"/>
          </a:solidFill>
          <a:ln w="12700">
            <a:solidFill>
              <a:srgbClr val="D64545"/>
            </a:solidFill>
            <a:prstDash val="solid"/>
          </a:ln>
        </p:spPr>
      </p:sp>
      <p:pic>
        <p:nvPicPr>
          <p:cNvPr id="21" name="Image 3" descr="preencoded.png">    </p:cNvPr>
          <p:cNvPicPr>
            <a:picLocks noChangeAspect="1"/>
          </p:cNvPicPr>
          <p:nvPr/>
        </p:nvPicPr>
        <p:blipFill>
          <a:blip r:embed="rId4"/>
          <a:stretch>
            <a:fillRect/>
          </a:stretch>
        </p:blipFill>
        <p:spPr>
          <a:xfrm>
            <a:off x="9353215" y="2102023"/>
            <a:ext cx="294803" cy="294803"/>
          </a:xfrm>
          <a:prstGeom prst="rect">
            <a:avLst/>
          </a:prstGeom>
        </p:spPr>
      </p:pic>
      <p:sp>
        <p:nvSpPr>
          <p:cNvPr id="22" name="Text 16"/>
          <p:cNvSpPr txBox="1"/>
          <p:nvPr/>
        </p:nvSpPr>
        <p:spPr>
          <a:xfrm>
            <a:off x="9217152"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Results by hand</a:t>
            </a:r>
            <a:endParaRPr lang="en-US" sz="1800" dirty="0"/>
          </a:p>
        </p:txBody>
      </p:sp>
      <p:sp>
        <p:nvSpPr>
          <p:cNvPr id="23" name="Text 17"/>
          <p:cNvSpPr txBox="1"/>
          <p:nvPr/>
        </p:nvSpPr>
        <p:spPr>
          <a:xfrm>
            <a:off x="9217152" y="3108960"/>
            <a:ext cx="2103120" cy="1280160"/>
          </a:xfrm>
          <a:prstGeom prst="rect">
            <a:avLst/>
          </a:prstGeom>
          <a:noFill/>
          <a:ln/>
        </p:spPr>
        <p:txBody>
          <a:bodyPr wrap="square" lIns="0" tIns="0" rIns="0" bIns="0" rtlCol="0" anchor="t"/>
          <a:lstStyle/>
          <a:p>
            <a:pPr indent="0" marL="0">
              <a:buNone/>
            </a:pPr>
            <a:r>
              <a:rPr lang="en-US" sz="1400" dirty="0">
                <a:solidFill>
                  <a:schemeClr val="accent4"/>
                </a:solidFill>
              </a:rPr>
              <a:t>Marks typed into spreadsheets, report cards formatted one by one, ID cards sent to a print shop.</a:t>
            </a:r>
            <a:endParaRPr lang="en-US" sz="1400" dirty="0"/>
          </a:p>
        </p:txBody>
      </p:sp>
      <p:sp>
        <p:nvSpPr>
          <p:cNvPr id="24" name="Text 18"/>
          <p:cNvSpPr txBox="1"/>
          <p:nvPr/>
        </p:nvSpPr>
        <p:spPr>
          <a:xfrm>
            <a:off x="548640" y="4754880"/>
            <a:ext cx="26517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14.7 lakh</a:t>
            </a:r>
            <a:endParaRPr lang="en-US" sz="3800" dirty="0"/>
          </a:p>
        </p:txBody>
      </p:sp>
      <p:sp>
        <p:nvSpPr>
          <p:cNvPr id="25" name="Text 19"/>
          <p:cNvSpPr txBox="1"/>
          <p:nvPr/>
        </p:nvSpPr>
        <p:spPr>
          <a:xfrm>
            <a:off x="548640" y="5440680"/>
            <a:ext cx="2651760" cy="320040"/>
          </a:xfrm>
          <a:prstGeom prst="rect">
            <a:avLst/>
          </a:prstGeom>
          <a:noFill/>
          <a:ln/>
        </p:spPr>
        <p:txBody>
          <a:bodyPr wrap="square" lIns="0" tIns="0" rIns="0" bIns="0" rtlCol="0" anchor="t"/>
          <a:lstStyle/>
          <a:p>
            <a:pPr indent="0" marL="0">
              <a:buNone/>
            </a:pPr>
            <a:r>
              <a:rPr lang="en-US" sz="1500" dirty="0">
                <a:solidFill>
                  <a:schemeClr val="accent4"/>
                </a:solidFill>
              </a:rPr>
              <a:t>schools in India</a:t>
            </a:r>
            <a:endParaRPr lang="en-US" sz="1500" dirty="0"/>
          </a:p>
        </p:txBody>
      </p:sp>
      <p:sp>
        <p:nvSpPr>
          <p:cNvPr id="26" name="Text 20"/>
          <p:cNvSpPr txBox="1"/>
          <p:nvPr/>
        </p:nvSpPr>
        <p:spPr>
          <a:xfrm>
            <a:off x="3346704" y="4754880"/>
            <a:ext cx="26517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24.7 crore</a:t>
            </a:r>
            <a:endParaRPr lang="en-US" sz="3800" dirty="0"/>
          </a:p>
        </p:txBody>
      </p:sp>
      <p:sp>
        <p:nvSpPr>
          <p:cNvPr id="27" name="Text 21"/>
          <p:cNvSpPr txBox="1"/>
          <p:nvPr/>
        </p:nvSpPr>
        <p:spPr>
          <a:xfrm>
            <a:off x="3346704" y="5440680"/>
            <a:ext cx="2651760" cy="320040"/>
          </a:xfrm>
          <a:prstGeom prst="rect">
            <a:avLst/>
          </a:prstGeom>
          <a:noFill/>
          <a:ln/>
        </p:spPr>
        <p:txBody>
          <a:bodyPr wrap="square" lIns="0" tIns="0" rIns="0" bIns="0" rtlCol="0" anchor="t"/>
          <a:lstStyle/>
          <a:p>
            <a:pPr indent="0" marL="0">
              <a:buNone/>
            </a:pPr>
            <a:r>
              <a:rPr lang="en-US" sz="1500" dirty="0">
                <a:solidFill>
                  <a:schemeClr val="accent4"/>
                </a:solidFill>
              </a:rPr>
              <a:t>students enrolled</a:t>
            </a:r>
            <a:endParaRPr lang="en-US" sz="1500" dirty="0"/>
          </a:p>
        </p:txBody>
      </p:sp>
      <p:sp>
        <p:nvSpPr>
          <p:cNvPr id="28" name="Text 22"/>
          <p:cNvSpPr txBox="1"/>
          <p:nvPr/>
        </p:nvSpPr>
        <p:spPr>
          <a:xfrm>
            <a:off x="6144768" y="4754880"/>
            <a:ext cx="26517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1 crore+</a:t>
            </a:r>
            <a:endParaRPr lang="en-US" sz="3800" dirty="0"/>
          </a:p>
        </p:txBody>
      </p:sp>
      <p:sp>
        <p:nvSpPr>
          <p:cNvPr id="29" name="Text 23"/>
          <p:cNvSpPr txBox="1"/>
          <p:nvPr/>
        </p:nvSpPr>
        <p:spPr>
          <a:xfrm>
            <a:off x="6144768" y="5440680"/>
            <a:ext cx="2651760" cy="320040"/>
          </a:xfrm>
          <a:prstGeom prst="rect">
            <a:avLst/>
          </a:prstGeom>
          <a:noFill/>
          <a:ln/>
        </p:spPr>
        <p:txBody>
          <a:bodyPr wrap="square" lIns="0" tIns="0" rIns="0" bIns="0" rtlCol="0" anchor="t"/>
          <a:lstStyle/>
          <a:p>
            <a:pPr indent="0" marL="0">
              <a:buNone/>
            </a:pPr>
            <a:r>
              <a:rPr lang="en-US" sz="1500" dirty="0">
                <a:solidFill>
                  <a:schemeClr val="accent4"/>
                </a:solidFill>
              </a:rPr>
              <a:t>teachers</a:t>
            </a:r>
            <a:endParaRPr lang="en-US" sz="1500" dirty="0"/>
          </a:p>
        </p:txBody>
      </p:sp>
      <p:sp>
        <p:nvSpPr>
          <p:cNvPr id="30" name="Text 24"/>
          <p:cNvSpPr txBox="1"/>
          <p:nvPr/>
        </p:nvSpPr>
        <p:spPr>
          <a:xfrm>
            <a:off x="8942832" y="4800600"/>
            <a:ext cx="2697480" cy="1005840"/>
          </a:xfrm>
          <a:prstGeom prst="rect">
            <a:avLst/>
          </a:prstGeom>
          <a:noFill/>
          <a:ln/>
        </p:spPr>
        <p:txBody>
          <a:bodyPr wrap="square" lIns="0" tIns="0" rIns="0" bIns="0" rtlCol="0" anchor="t"/>
          <a:lstStyle/>
          <a:p>
            <a:pPr indent="0" marL="0">
              <a:buNone/>
            </a:pPr>
            <a:r>
              <a:rPr lang="en-US" sz="1500" i="1" dirty="0">
                <a:solidFill>
                  <a:schemeClr val="tx1"/>
                </a:solidFill>
              </a:rPr>
              <a:t>Every one of them takes attendance, collects fees and reports results, every single day.</a:t>
            </a:r>
            <a:endParaRPr lang="en-US" sz="1500" dirty="0"/>
          </a:p>
        </p:txBody>
      </p:sp>
      <p:sp>
        <p:nvSpPr>
          <p:cNvPr id="31" name="Text 25"/>
          <p:cNvSpPr txBox="1"/>
          <p:nvPr/>
        </p:nvSpPr>
        <p:spPr>
          <a:xfrm>
            <a:off x="548640" y="594360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Source: UDISE+ 2024-25 (Ministry of Education), as summarised by educationforallinindia.com</a:t>
            </a:r>
            <a:endParaRPr lang="en-US" sz="10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WHO FEELS IT</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Five people, one school day, no shared system</a:t>
            </a:r>
            <a:endParaRPr lang="en-US" sz="3000" dirty="0"/>
          </a:p>
        </p:txBody>
      </p:sp>
      <p:sp>
        <p:nvSpPr>
          <p:cNvPr id="4" name="Text 2"/>
          <p:cNvSpPr txBox="1"/>
          <p:nvPr/>
        </p:nvSpPr>
        <p:spPr>
          <a:xfrm>
            <a:off x="3063240" y="1600200"/>
            <a:ext cx="393192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TODAY</a:t>
            </a:r>
            <a:endParaRPr lang="en-US" sz="1200" dirty="0"/>
          </a:p>
        </p:txBody>
      </p:sp>
      <p:sp>
        <p:nvSpPr>
          <p:cNvPr id="5" name="Text 3"/>
          <p:cNvSpPr txBox="1"/>
          <p:nvPr/>
        </p:nvSpPr>
        <p:spPr>
          <a:xfrm>
            <a:off x="7498080" y="1600200"/>
            <a:ext cx="41148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WITH BASTAA</a:t>
            </a:r>
            <a:endParaRPr lang="en-US" sz="1200" dirty="0"/>
          </a:p>
        </p:txBody>
      </p:sp>
      <p:sp>
        <p:nvSpPr>
          <p:cNvPr id="6" name="Persona School office"/>
          <p:cNvSpPr/>
          <p:nvPr/>
        </p:nvSpPr>
        <p:spPr>
          <a:xfrm>
            <a:off x="548640" y="1965960"/>
            <a:ext cx="11064240" cy="694944"/>
          </a:xfrm>
          <a:prstGeom prst="roundRect">
            <a:avLst>
              <a:gd name="adj" fmla="val 13158"/>
            </a:avLst>
          </a:prstGeom>
          <a:solidFill>
            <a:srgbClr val="F3F6FC"/>
          </a:solidFill>
          <a:ln w="12700">
            <a:solidFill>
              <a:srgbClr val="F3F6FC"/>
            </a:solidFill>
            <a:prstDash val="solid"/>
          </a:ln>
        </p:spPr>
      </p:sp>
      <p:sp>
        <p:nvSpPr>
          <p:cNvPr id="7" name="Shape 5"/>
          <p:cNvSpPr/>
          <p:nvPr/>
        </p:nvSpPr>
        <p:spPr>
          <a:xfrm>
            <a:off x="713232" y="2084832"/>
            <a:ext cx="457200" cy="457200"/>
          </a:xfrm>
          <a:prstGeom prst="ellipse">
            <a:avLst/>
          </a:prstGeom>
          <a:solidFill>
            <a:srgbClr val="2F6FEB"/>
          </a:solidFill>
          <a:ln w="12700">
            <a:solidFill>
              <a:srgbClr val="2F6FEB"/>
            </a:solidFill>
            <a:prstDash val="solid"/>
          </a:ln>
        </p:spPr>
      </p:sp>
      <p:pic>
        <p:nvPicPr>
          <p:cNvPr id="8" name="Image 0" descr="preencoded.png">    </p:cNvPr>
          <p:cNvPicPr>
            <a:picLocks noChangeAspect="1"/>
          </p:cNvPicPr>
          <p:nvPr/>
        </p:nvPicPr>
        <p:blipFill>
          <a:blip r:embed="rId1"/>
          <a:stretch>
            <a:fillRect/>
          </a:stretch>
        </p:blipFill>
        <p:spPr>
          <a:xfrm>
            <a:off x="822960" y="2194560"/>
            <a:ext cx="237744" cy="237744"/>
          </a:xfrm>
          <a:prstGeom prst="rect">
            <a:avLst/>
          </a:prstGeom>
        </p:spPr>
      </p:pic>
      <p:sp>
        <p:nvSpPr>
          <p:cNvPr id="9" name="Text 6"/>
          <p:cNvSpPr txBox="1"/>
          <p:nvPr/>
        </p:nvSpPr>
        <p:spPr>
          <a:xfrm>
            <a:off x="1325880" y="2148840"/>
            <a:ext cx="1645920" cy="347472"/>
          </a:xfrm>
          <a:prstGeom prst="rect">
            <a:avLst/>
          </a:prstGeom>
          <a:noFill/>
          <a:ln/>
        </p:spPr>
        <p:txBody>
          <a:bodyPr wrap="square" lIns="0" tIns="0" rIns="0" bIns="0" rtlCol="0" anchor="t"/>
          <a:lstStyle/>
          <a:p>
            <a:pPr indent="0" marL="0">
              <a:buNone/>
            </a:pPr>
            <a:r>
              <a:rPr lang="en-US" sz="1600" b="1" dirty="0">
                <a:solidFill>
                  <a:schemeClr val="tx1"/>
                </a:solidFill>
              </a:rPr>
              <a:t>School office</a:t>
            </a:r>
            <a:endParaRPr lang="en-US" sz="1600" dirty="0"/>
          </a:p>
        </p:txBody>
      </p:sp>
      <p:sp>
        <p:nvSpPr>
          <p:cNvPr id="10" name="Text 7"/>
          <p:cNvSpPr txBox="1"/>
          <p:nvPr/>
        </p:nvSpPr>
        <p:spPr>
          <a:xfrm>
            <a:off x="3063240" y="2148840"/>
            <a:ext cx="4114800" cy="347472"/>
          </a:xfrm>
          <a:prstGeom prst="rect">
            <a:avLst/>
          </a:prstGeom>
          <a:noFill/>
          <a:ln/>
        </p:spPr>
        <p:txBody>
          <a:bodyPr wrap="square" lIns="0" tIns="0" rIns="0" bIns="0" rtlCol="0" anchor="t"/>
          <a:lstStyle/>
          <a:p>
            <a:pPr indent="0" marL="0">
              <a:buNone/>
            </a:pPr>
            <a:r>
              <a:rPr lang="en-US" sz="1500" dirty="0">
                <a:solidFill>
                  <a:schemeClr val="accent4"/>
                </a:solidFill>
              </a:rPr>
              <a:t>Re-enters the same student data in three places</a:t>
            </a:r>
            <a:endParaRPr lang="en-US" sz="1500" dirty="0"/>
          </a:p>
        </p:txBody>
      </p:sp>
      <p:pic>
        <p:nvPicPr>
          <p:cNvPr id="11" name="Image 1" descr="preencoded.png">    </p:cNvPr>
          <p:cNvPicPr>
            <a:picLocks noChangeAspect="1"/>
          </p:cNvPicPr>
          <p:nvPr/>
        </p:nvPicPr>
        <p:blipFill>
          <a:blip r:embed="rId2"/>
          <a:stretch>
            <a:fillRect/>
          </a:stretch>
        </p:blipFill>
        <p:spPr>
          <a:xfrm>
            <a:off x="7086600" y="2185416"/>
            <a:ext cx="256032" cy="256032"/>
          </a:xfrm>
          <a:prstGeom prst="rect">
            <a:avLst/>
          </a:prstGeom>
        </p:spPr>
      </p:pic>
      <p:sp>
        <p:nvSpPr>
          <p:cNvPr id="12" name="Text 8"/>
          <p:cNvSpPr txBox="1"/>
          <p:nvPr/>
        </p:nvSpPr>
        <p:spPr>
          <a:xfrm>
            <a:off x="7498080" y="2148840"/>
            <a:ext cx="4023360" cy="347472"/>
          </a:xfrm>
          <a:prstGeom prst="rect">
            <a:avLst/>
          </a:prstGeom>
          <a:noFill/>
          <a:ln/>
        </p:spPr>
        <p:txBody>
          <a:bodyPr wrap="square" lIns="0" tIns="0" rIns="0" bIns="0" rtlCol="0" anchor="t"/>
          <a:lstStyle/>
          <a:p>
            <a:pPr indent="0" marL="0">
              <a:buNone/>
            </a:pPr>
            <a:r>
              <a:rPr lang="en-US" sz="1500" b="1" dirty="0">
                <a:solidFill>
                  <a:schemeClr val="tx1"/>
                </a:solidFill>
              </a:rPr>
              <a:t>One record, imported once from Excel</a:t>
            </a:r>
            <a:endParaRPr lang="en-US" sz="1500" dirty="0"/>
          </a:p>
        </p:txBody>
      </p:sp>
      <p:sp>
        <p:nvSpPr>
          <p:cNvPr id="13" name="Persona Principal"/>
          <p:cNvSpPr/>
          <p:nvPr/>
        </p:nvSpPr>
        <p:spPr>
          <a:xfrm>
            <a:off x="548640" y="2788920"/>
            <a:ext cx="11064240" cy="694944"/>
          </a:xfrm>
          <a:prstGeom prst="roundRect">
            <a:avLst>
              <a:gd name="adj" fmla="val 13158"/>
            </a:avLst>
          </a:prstGeom>
          <a:solidFill>
            <a:srgbClr val="FFFFFF"/>
          </a:solidFill>
          <a:ln w="12700">
            <a:solidFill>
              <a:srgbClr val="F3F6FC"/>
            </a:solidFill>
            <a:prstDash val="solid"/>
          </a:ln>
        </p:spPr>
      </p:sp>
      <p:sp>
        <p:nvSpPr>
          <p:cNvPr id="14" name="Shape 10"/>
          <p:cNvSpPr/>
          <p:nvPr/>
        </p:nvSpPr>
        <p:spPr>
          <a:xfrm>
            <a:off x="713232" y="2907792"/>
            <a:ext cx="457200" cy="457200"/>
          </a:xfrm>
          <a:prstGeom prst="ellipse">
            <a:avLst/>
          </a:prstGeom>
          <a:solidFill>
            <a:srgbClr val="2F6FEB"/>
          </a:solidFill>
          <a:ln w="12700">
            <a:solidFill>
              <a:srgbClr val="2F6FEB"/>
            </a:solidFill>
            <a:prstDash val="solid"/>
          </a:ln>
        </p:spPr>
      </p:sp>
      <p:pic>
        <p:nvPicPr>
          <p:cNvPr id="15" name="Image 2" descr="preencoded.png">    </p:cNvPr>
          <p:cNvPicPr>
            <a:picLocks noChangeAspect="1"/>
          </p:cNvPicPr>
          <p:nvPr/>
        </p:nvPicPr>
        <p:blipFill>
          <a:blip r:embed="rId3"/>
          <a:stretch>
            <a:fillRect/>
          </a:stretch>
        </p:blipFill>
        <p:spPr>
          <a:xfrm>
            <a:off x="822960" y="3017520"/>
            <a:ext cx="237744" cy="237744"/>
          </a:xfrm>
          <a:prstGeom prst="rect">
            <a:avLst/>
          </a:prstGeom>
        </p:spPr>
      </p:pic>
      <p:sp>
        <p:nvSpPr>
          <p:cNvPr id="16" name="Text 11"/>
          <p:cNvSpPr txBox="1"/>
          <p:nvPr/>
        </p:nvSpPr>
        <p:spPr>
          <a:xfrm>
            <a:off x="1325880" y="2971800"/>
            <a:ext cx="1645920" cy="347472"/>
          </a:xfrm>
          <a:prstGeom prst="rect">
            <a:avLst/>
          </a:prstGeom>
          <a:noFill/>
          <a:ln/>
        </p:spPr>
        <p:txBody>
          <a:bodyPr wrap="square" lIns="0" tIns="0" rIns="0" bIns="0" rtlCol="0" anchor="t"/>
          <a:lstStyle/>
          <a:p>
            <a:pPr indent="0" marL="0">
              <a:buNone/>
            </a:pPr>
            <a:r>
              <a:rPr lang="en-US" sz="1600" b="1" dirty="0">
                <a:solidFill>
                  <a:schemeClr val="tx1"/>
                </a:solidFill>
              </a:rPr>
              <a:t>Principal</a:t>
            </a:r>
            <a:endParaRPr lang="en-US" sz="1600" dirty="0"/>
          </a:p>
        </p:txBody>
      </p:sp>
      <p:sp>
        <p:nvSpPr>
          <p:cNvPr id="17" name="Text 12"/>
          <p:cNvSpPr txBox="1"/>
          <p:nvPr/>
        </p:nvSpPr>
        <p:spPr>
          <a:xfrm>
            <a:off x="3063240" y="2971800"/>
            <a:ext cx="4114800" cy="347472"/>
          </a:xfrm>
          <a:prstGeom prst="rect">
            <a:avLst/>
          </a:prstGeom>
          <a:noFill/>
          <a:ln/>
        </p:spPr>
        <p:txBody>
          <a:bodyPr wrap="square" lIns="0" tIns="0" rIns="0" bIns="0" rtlCol="0" anchor="t"/>
          <a:lstStyle/>
          <a:p>
            <a:pPr indent="0" marL="0">
              <a:buNone/>
            </a:pPr>
            <a:r>
              <a:rPr lang="en-US" sz="1500" dirty="0">
                <a:solidFill>
                  <a:schemeClr val="accent4"/>
                </a:solidFill>
              </a:rPr>
              <a:t>Sees problems only at month-end</a:t>
            </a:r>
            <a:endParaRPr lang="en-US" sz="1500" dirty="0"/>
          </a:p>
        </p:txBody>
      </p:sp>
      <p:pic>
        <p:nvPicPr>
          <p:cNvPr id="18" name="Image 3" descr="preencoded.png">    </p:cNvPr>
          <p:cNvPicPr>
            <a:picLocks noChangeAspect="1"/>
          </p:cNvPicPr>
          <p:nvPr/>
        </p:nvPicPr>
        <p:blipFill>
          <a:blip r:embed="rId4"/>
          <a:stretch>
            <a:fillRect/>
          </a:stretch>
        </p:blipFill>
        <p:spPr>
          <a:xfrm>
            <a:off x="7086600" y="3008376"/>
            <a:ext cx="256032" cy="256032"/>
          </a:xfrm>
          <a:prstGeom prst="rect">
            <a:avLst/>
          </a:prstGeom>
        </p:spPr>
      </p:pic>
      <p:sp>
        <p:nvSpPr>
          <p:cNvPr id="19" name="Text 13"/>
          <p:cNvSpPr txBox="1"/>
          <p:nvPr/>
        </p:nvSpPr>
        <p:spPr>
          <a:xfrm>
            <a:off x="7498080" y="2971800"/>
            <a:ext cx="4023360" cy="347472"/>
          </a:xfrm>
          <a:prstGeom prst="rect">
            <a:avLst/>
          </a:prstGeom>
          <a:noFill/>
          <a:ln/>
        </p:spPr>
        <p:txBody>
          <a:bodyPr wrap="square" lIns="0" tIns="0" rIns="0" bIns="0" rtlCol="0" anchor="t"/>
          <a:lstStyle/>
          <a:p>
            <a:pPr indent="0" marL="0">
              <a:buNone/>
            </a:pPr>
            <a:r>
              <a:rPr lang="en-US" sz="1500" b="1" dirty="0">
                <a:solidFill>
                  <a:schemeClr val="tx1"/>
                </a:solidFill>
              </a:rPr>
              <a:t>A live dashboard of what needs attention today</a:t>
            </a:r>
            <a:endParaRPr lang="en-US" sz="1500" dirty="0"/>
          </a:p>
        </p:txBody>
      </p:sp>
      <p:sp>
        <p:nvSpPr>
          <p:cNvPr id="20" name="Persona Accountant"/>
          <p:cNvSpPr/>
          <p:nvPr/>
        </p:nvSpPr>
        <p:spPr>
          <a:xfrm>
            <a:off x="548640" y="3611880"/>
            <a:ext cx="11064240" cy="694944"/>
          </a:xfrm>
          <a:prstGeom prst="roundRect">
            <a:avLst>
              <a:gd name="adj" fmla="val 13158"/>
            </a:avLst>
          </a:prstGeom>
          <a:solidFill>
            <a:srgbClr val="F3F6FC"/>
          </a:solidFill>
          <a:ln w="12700">
            <a:solidFill>
              <a:srgbClr val="F3F6FC"/>
            </a:solidFill>
            <a:prstDash val="solid"/>
          </a:ln>
        </p:spPr>
      </p:sp>
      <p:sp>
        <p:nvSpPr>
          <p:cNvPr id="21" name="Shape 15"/>
          <p:cNvSpPr/>
          <p:nvPr/>
        </p:nvSpPr>
        <p:spPr>
          <a:xfrm>
            <a:off x="713232" y="3730752"/>
            <a:ext cx="457200" cy="457200"/>
          </a:xfrm>
          <a:prstGeom prst="ellipse">
            <a:avLst/>
          </a:prstGeom>
          <a:solidFill>
            <a:srgbClr val="2F6FEB"/>
          </a:solidFill>
          <a:ln w="12700">
            <a:solidFill>
              <a:srgbClr val="2F6FEB"/>
            </a:solidFill>
            <a:prstDash val="solid"/>
          </a:ln>
        </p:spPr>
      </p:sp>
      <p:pic>
        <p:nvPicPr>
          <p:cNvPr id="22" name="Image 4" descr="preencoded.png">    </p:cNvPr>
          <p:cNvPicPr>
            <a:picLocks noChangeAspect="1"/>
          </p:cNvPicPr>
          <p:nvPr/>
        </p:nvPicPr>
        <p:blipFill>
          <a:blip r:embed="rId5"/>
          <a:stretch>
            <a:fillRect/>
          </a:stretch>
        </p:blipFill>
        <p:spPr>
          <a:xfrm>
            <a:off x="822960" y="3840480"/>
            <a:ext cx="237744" cy="237744"/>
          </a:xfrm>
          <a:prstGeom prst="rect">
            <a:avLst/>
          </a:prstGeom>
        </p:spPr>
      </p:pic>
      <p:sp>
        <p:nvSpPr>
          <p:cNvPr id="23" name="Text 16"/>
          <p:cNvSpPr txBox="1"/>
          <p:nvPr/>
        </p:nvSpPr>
        <p:spPr>
          <a:xfrm>
            <a:off x="1325880" y="3794760"/>
            <a:ext cx="1645920" cy="347472"/>
          </a:xfrm>
          <a:prstGeom prst="rect">
            <a:avLst/>
          </a:prstGeom>
          <a:noFill/>
          <a:ln/>
        </p:spPr>
        <p:txBody>
          <a:bodyPr wrap="square" lIns="0" tIns="0" rIns="0" bIns="0" rtlCol="0" anchor="t"/>
          <a:lstStyle/>
          <a:p>
            <a:pPr indent="0" marL="0">
              <a:buNone/>
            </a:pPr>
            <a:r>
              <a:rPr lang="en-US" sz="1600" b="1" dirty="0">
                <a:solidFill>
                  <a:schemeClr val="tx1"/>
                </a:solidFill>
              </a:rPr>
              <a:t>Accountant</a:t>
            </a:r>
            <a:endParaRPr lang="en-US" sz="1600" dirty="0"/>
          </a:p>
        </p:txBody>
      </p:sp>
      <p:sp>
        <p:nvSpPr>
          <p:cNvPr id="24" name="Text 17"/>
          <p:cNvSpPr txBox="1"/>
          <p:nvPr/>
        </p:nvSpPr>
        <p:spPr>
          <a:xfrm>
            <a:off x="3063240" y="3794760"/>
            <a:ext cx="4114800" cy="347472"/>
          </a:xfrm>
          <a:prstGeom prst="rect">
            <a:avLst/>
          </a:prstGeom>
          <a:noFill/>
          <a:ln/>
        </p:spPr>
        <p:txBody>
          <a:bodyPr wrap="square" lIns="0" tIns="0" rIns="0" bIns="0" rtlCol="0" anchor="t"/>
          <a:lstStyle/>
          <a:p>
            <a:pPr indent="0" marL="0">
              <a:buNone/>
            </a:pPr>
            <a:r>
              <a:rPr lang="en-US" sz="1500" dirty="0">
                <a:solidFill>
                  <a:schemeClr val="accent4"/>
                </a:solidFill>
              </a:rPr>
              <a:t>Chases dues with a register and a phone</a:t>
            </a:r>
            <a:endParaRPr lang="en-US" sz="1500" dirty="0"/>
          </a:p>
        </p:txBody>
      </p:sp>
      <p:pic>
        <p:nvPicPr>
          <p:cNvPr id="25" name="Image 5" descr="preencoded.png">    </p:cNvPr>
          <p:cNvPicPr>
            <a:picLocks noChangeAspect="1"/>
          </p:cNvPicPr>
          <p:nvPr/>
        </p:nvPicPr>
        <p:blipFill>
          <a:blip r:embed="rId6"/>
          <a:stretch>
            <a:fillRect/>
          </a:stretch>
        </p:blipFill>
        <p:spPr>
          <a:xfrm>
            <a:off x="7086600" y="3831336"/>
            <a:ext cx="256032" cy="256032"/>
          </a:xfrm>
          <a:prstGeom prst="rect">
            <a:avLst/>
          </a:prstGeom>
        </p:spPr>
      </p:pic>
      <p:sp>
        <p:nvSpPr>
          <p:cNvPr id="26" name="Text 18"/>
          <p:cNvSpPr txBox="1"/>
          <p:nvPr/>
        </p:nvSpPr>
        <p:spPr>
          <a:xfrm>
            <a:off x="7498080" y="3794760"/>
            <a:ext cx="4023360" cy="347472"/>
          </a:xfrm>
          <a:prstGeom prst="rect">
            <a:avLst/>
          </a:prstGeom>
          <a:noFill/>
          <a:ln/>
        </p:spPr>
        <p:txBody>
          <a:bodyPr wrap="square" lIns="0" tIns="0" rIns="0" bIns="0" rtlCol="0" anchor="t"/>
          <a:lstStyle/>
          <a:p>
            <a:pPr indent="0" marL="0">
              <a:buNone/>
            </a:pPr>
            <a:r>
              <a:rPr lang="en-US" sz="1500" b="1" dirty="0">
                <a:solidFill>
                  <a:schemeClr val="tx1"/>
                </a:solidFill>
              </a:rPr>
              <a:t>Invoices, online payments and day close</a:t>
            </a:r>
            <a:endParaRPr lang="en-US" sz="1500" dirty="0"/>
          </a:p>
        </p:txBody>
      </p:sp>
      <p:sp>
        <p:nvSpPr>
          <p:cNvPr id="27" name="Persona Teacher"/>
          <p:cNvSpPr/>
          <p:nvPr/>
        </p:nvSpPr>
        <p:spPr>
          <a:xfrm>
            <a:off x="548640" y="4434840"/>
            <a:ext cx="11064240" cy="694944"/>
          </a:xfrm>
          <a:prstGeom prst="roundRect">
            <a:avLst>
              <a:gd name="adj" fmla="val 13158"/>
            </a:avLst>
          </a:prstGeom>
          <a:solidFill>
            <a:srgbClr val="FFFFFF"/>
          </a:solidFill>
          <a:ln w="12700">
            <a:solidFill>
              <a:srgbClr val="F3F6FC"/>
            </a:solidFill>
            <a:prstDash val="solid"/>
          </a:ln>
        </p:spPr>
      </p:sp>
      <p:sp>
        <p:nvSpPr>
          <p:cNvPr id="28" name="Shape 20"/>
          <p:cNvSpPr/>
          <p:nvPr/>
        </p:nvSpPr>
        <p:spPr>
          <a:xfrm>
            <a:off x="713232" y="4553712"/>
            <a:ext cx="457200" cy="457200"/>
          </a:xfrm>
          <a:prstGeom prst="ellipse">
            <a:avLst/>
          </a:prstGeom>
          <a:solidFill>
            <a:srgbClr val="2F6FEB"/>
          </a:solidFill>
          <a:ln w="12700">
            <a:solidFill>
              <a:srgbClr val="2F6FEB"/>
            </a:solidFill>
            <a:prstDash val="solid"/>
          </a:ln>
        </p:spPr>
      </p:sp>
      <p:pic>
        <p:nvPicPr>
          <p:cNvPr id="29" name="Image 6" descr="preencoded.png">    </p:cNvPr>
          <p:cNvPicPr>
            <a:picLocks noChangeAspect="1"/>
          </p:cNvPicPr>
          <p:nvPr/>
        </p:nvPicPr>
        <p:blipFill>
          <a:blip r:embed="rId7"/>
          <a:stretch>
            <a:fillRect/>
          </a:stretch>
        </p:blipFill>
        <p:spPr>
          <a:xfrm>
            <a:off x="822960" y="4663440"/>
            <a:ext cx="237744" cy="237744"/>
          </a:xfrm>
          <a:prstGeom prst="rect">
            <a:avLst/>
          </a:prstGeom>
        </p:spPr>
      </p:pic>
      <p:sp>
        <p:nvSpPr>
          <p:cNvPr id="30" name="Text 21"/>
          <p:cNvSpPr txBox="1"/>
          <p:nvPr/>
        </p:nvSpPr>
        <p:spPr>
          <a:xfrm>
            <a:off x="1325880" y="4617720"/>
            <a:ext cx="1645920" cy="347472"/>
          </a:xfrm>
          <a:prstGeom prst="rect">
            <a:avLst/>
          </a:prstGeom>
          <a:noFill/>
          <a:ln/>
        </p:spPr>
        <p:txBody>
          <a:bodyPr wrap="square" lIns="0" tIns="0" rIns="0" bIns="0" rtlCol="0" anchor="t"/>
          <a:lstStyle/>
          <a:p>
            <a:pPr indent="0" marL="0">
              <a:buNone/>
            </a:pPr>
            <a:r>
              <a:rPr lang="en-US" sz="1600" b="1" dirty="0">
                <a:solidFill>
                  <a:schemeClr val="tx1"/>
                </a:solidFill>
              </a:rPr>
              <a:t>Teacher</a:t>
            </a:r>
            <a:endParaRPr lang="en-US" sz="1600" dirty="0"/>
          </a:p>
        </p:txBody>
      </p:sp>
      <p:sp>
        <p:nvSpPr>
          <p:cNvPr id="31" name="Text 22"/>
          <p:cNvSpPr txBox="1"/>
          <p:nvPr/>
        </p:nvSpPr>
        <p:spPr>
          <a:xfrm>
            <a:off x="3063240" y="4617720"/>
            <a:ext cx="4114800" cy="347472"/>
          </a:xfrm>
          <a:prstGeom prst="rect">
            <a:avLst/>
          </a:prstGeom>
          <a:noFill/>
          <a:ln/>
        </p:spPr>
        <p:txBody>
          <a:bodyPr wrap="square" lIns="0" tIns="0" rIns="0" bIns="0" rtlCol="0" anchor="t"/>
          <a:lstStyle/>
          <a:p>
            <a:pPr indent="0" marL="0">
              <a:buNone/>
            </a:pPr>
            <a:r>
              <a:rPr lang="en-US" sz="1500" dirty="0">
                <a:solidFill>
                  <a:schemeClr val="accent4"/>
                </a:solidFill>
              </a:rPr>
              <a:t>Spends class time on registers and marks sheets</a:t>
            </a:r>
            <a:endParaRPr lang="en-US" sz="1500" dirty="0"/>
          </a:p>
        </p:txBody>
      </p:sp>
      <p:pic>
        <p:nvPicPr>
          <p:cNvPr id="32" name="Image 7" descr="preencoded.png">    </p:cNvPr>
          <p:cNvPicPr>
            <a:picLocks noChangeAspect="1"/>
          </p:cNvPicPr>
          <p:nvPr/>
        </p:nvPicPr>
        <p:blipFill>
          <a:blip r:embed="rId8"/>
          <a:stretch>
            <a:fillRect/>
          </a:stretch>
        </p:blipFill>
        <p:spPr>
          <a:xfrm>
            <a:off x="7086600" y="4654296"/>
            <a:ext cx="256032" cy="256032"/>
          </a:xfrm>
          <a:prstGeom prst="rect">
            <a:avLst/>
          </a:prstGeom>
        </p:spPr>
      </p:pic>
      <p:sp>
        <p:nvSpPr>
          <p:cNvPr id="33" name="Text 23"/>
          <p:cNvSpPr txBox="1"/>
          <p:nvPr/>
        </p:nvSpPr>
        <p:spPr>
          <a:xfrm>
            <a:off x="7498080" y="4617720"/>
            <a:ext cx="4023360" cy="347472"/>
          </a:xfrm>
          <a:prstGeom prst="rect">
            <a:avLst/>
          </a:prstGeom>
          <a:noFill/>
          <a:ln/>
        </p:spPr>
        <p:txBody>
          <a:bodyPr wrap="square" lIns="0" tIns="0" rIns="0" bIns="0" rtlCol="0" anchor="t"/>
          <a:lstStyle/>
          <a:p>
            <a:pPr indent="0" marL="0">
              <a:buNone/>
            </a:pPr>
            <a:r>
              <a:rPr lang="en-US" sz="1500" b="1" dirty="0">
                <a:solidFill>
                  <a:schemeClr val="tx1"/>
                </a:solidFill>
              </a:rPr>
              <a:t>Mark attendance in seconds, even offline</a:t>
            </a:r>
            <a:endParaRPr lang="en-US" sz="1500" dirty="0"/>
          </a:p>
        </p:txBody>
      </p:sp>
      <p:sp>
        <p:nvSpPr>
          <p:cNvPr id="34" name="Persona Parent"/>
          <p:cNvSpPr/>
          <p:nvPr/>
        </p:nvSpPr>
        <p:spPr>
          <a:xfrm>
            <a:off x="548640" y="5257800"/>
            <a:ext cx="11064240" cy="694944"/>
          </a:xfrm>
          <a:prstGeom prst="roundRect">
            <a:avLst>
              <a:gd name="adj" fmla="val 13158"/>
            </a:avLst>
          </a:prstGeom>
          <a:solidFill>
            <a:srgbClr val="F3F6FC"/>
          </a:solidFill>
          <a:ln w="12700">
            <a:solidFill>
              <a:srgbClr val="F3F6FC"/>
            </a:solidFill>
            <a:prstDash val="solid"/>
          </a:ln>
        </p:spPr>
      </p:sp>
      <p:sp>
        <p:nvSpPr>
          <p:cNvPr id="35" name="Shape 25"/>
          <p:cNvSpPr/>
          <p:nvPr/>
        </p:nvSpPr>
        <p:spPr>
          <a:xfrm>
            <a:off x="713232" y="5376672"/>
            <a:ext cx="457200" cy="457200"/>
          </a:xfrm>
          <a:prstGeom prst="ellipse">
            <a:avLst/>
          </a:prstGeom>
          <a:solidFill>
            <a:srgbClr val="2F6FEB"/>
          </a:solidFill>
          <a:ln w="12700">
            <a:solidFill>
              <a:srgbClr val="2F6FEB"/>
            </a:solidFill>
            <a:prstDash val="solid"/>
          </a:ln>
        </p:spPr>
      </p:sp>
      <p:pic>
        <p:nvPicPr>
          <p:cNvPr id="36" name="Image 8" descr="preencoded.png">    </p:cNvPr>
          <p:cNvPicPr>
            <a:picLocks noChangeAspect="1"/>
          </p:cNvPicPr>
          <p:nvPr/>
        </p:nvPicPr>
        <p:blipFill>
          <a:blip r:embed="rId9"/>
          <a:stretch>
            <a:fillRect/>
          </a:stretch>
        </p:blipFill>
        <p:spPr>
          <a:xfrm>
            <a:off x="822960" y="5486400"/>
            <a:ext cx="237744" cy="237744"/>
          </a:xfrm>
          <a:prstGeom prst="rect">
            <a:avLst/>
          </a:prstGeom>
        </p:spPr>
      </p:pic>
      <p:sp>
        <p:nvSpPr>
          <p:cNvPr id="37" name="Text 26"/>
          <p:cNvSpPr txBox="1"/>
          <p:nvPr/>
        </p:nvSpPr>
        <p:spPr>
          <a:xfrm>
            <a:off x="1325880" y="5440680"/>
            <a:ext cx="1645920" cy="347472"/>
          </a:xfrm>
          <a:prstGeom prst="rect">
            <a:avLst/>
          </a:prstGeom>
          <a:noFill/>
          <a:ln/>
        </p:spPr>
        <p:txBody>
          <a:bodyPr wrap="square" lIns="0" tIns="0" rIns="0" bIns="0" rtlCol="0" anchor="t"/>
          <a:lstStyle/>
          <a:p>
            <a:pPr indent="0" marL="0">
              <a:buNone/>
            </a:pPr>
            <a:r>
              <a:rPr lang="en-US" sz="1600" b="1" dirty="0">
                <a:solidFill>
                  <a:schemeClr val="tx1"/>
                </a:solidFill>
              </a:rPr>
              <a:t>Parent</a:t>
            </a:r>
            <a:endParaRPr lang="en-US" sz="1600" dirty="0"/>
          </a:p>
        </p:txBody>
      </p:sp>
      <p:sp>
        <p:nvSpPr>
          <p:cNvPr id="38" name="Text 27"/>
          <p:cNvSpPr txBox="1"/>
          <p:nvPr/>
        </p:nvSpPr>
        <p:spPr>
          <a:xfrm>
            <a:off x="3063240" y="5440680"/>
            <a:ext cx="4114800" cy="347472"/>
          </a:xfrm>
          <a:prstGeom prst="rect">
            <a:avLst/>
          </a:prstGeom>
          <a:noFill/>
          <a:ln/>
        </p:spPr>
        <p:txBody>
          <a:bodyPr wrap="square" lIns="0" tIns="0" rIns="0" bIns="0" rtlCol="0" anchor="t"/>
          <a:lstStyle/>
          <a:p>
            <a:pPr indent="0" marL="0">
              <a:buNone/>
            </a:pPr>
            <a:r>
              <a:rPr lang="en-US" sz="1500" dirty="0">
                <a:solidFill>
                  <a:schemeClr val="accent4"/>
                </a:solidFill>
              </a:rPr>
              <a:t>Finds out late, from a WhatsApp group</a:t>
            </a:r>
            <a:endParaRPr lang="en-US" sz="1500" dirty="0"/>
          </a:p>
        </p:txBody>
      </p:sp>
      <p:pic>
        <p:nvPicPr>
          <p:cNvPr id="39" name="Image 9" descr="preencoded.png">    </p:cNvPr>
          <p:cNvPicPr>
            <a:picLocks noChangeAspect="1"/>
          </p:cNvPicPr>
          <p:nvPr/>
        </p:nvPicPr>
        <p:blipFill>
          <a:blip r:embed="rId10"/>
          <a:stretch>
            <a:fillRect/>
          </a:stretch>
        </p:blipFill>
        <p:spPr>
          <a:xfrm>
            <a:off x="7086600" y="5477256"/>
            <a:ext cx="256032" cy="256032"/>
          </a:xfrm>
          <a:prstGeom prst="rect">
            <a:avLst/>
          </a:prstGeom>
        </p:spPr>
      </p:pic>
      <p:sp>
        <p:nvSpPr>
          <p:cNvPr id="40" name="Text 28"/>
          <p:cNvSpPr txBox="1"/>
          <p:nvPr/>
        </p:nvSpPr>
        <p:spPr>
          <a:xfrm>
            <a:off x="7498080" y="5440680"/>
            <a:ext cx="4023360" cy="347472"/>
          </a:xfrm>
          <a:prstGeom prst="rect">
            <a:avLst/>
          </a:prstGeom>
          <a:noFill/>
          <a:ln/>
        </p:spPr>
        <p:txBody>
          <a:bodyPr wrap="square" lIns="0" tIns="0" rIns="0" bIns="0" rtlCol="0" anchor="t"/>
          <a:lstStyle/>
          <a:p>
            <a:pPr indent="0" marL="0">
              <a:buNone/>
            </a:pPr>
            <a:r>
              <a:rPr lang="en-US" sz="1500" b="1" dirty="0">
                <a:solidFill>
                  <a:schemeClr val="tx1"/>
                </a:solidFill>
              </a:rPr>
              <a:t>Their child's day, fees and results in one app</a:t>
            </a:r>
            <a:endParaRPr lang="en-US" sz="15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THE SOLUTION</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One school, one system, three ways in</a:t>
            </a:r>
            <a:endParaRPr lang="en-US" sz="3000" dirty="0"/>
          </a:p>
        </p:txBody>
      </p:sp>
      <p:sp>
        <p:nvSpPr>
          <p:cNvPr id="4" name="School office dashboard frame"/>
          <p:cNvSpPr/>
          <p:nvPr/>
        </p:nvSpPr>
        <p:spPr>
          <a:xfrm>
            <a:off x="548640" y="1645920"/>
            <a:ext cx="5760720" cy="3838194"/>
          </a:xfrm>
          <a:prstGeom prst="roundRect">
            <a:avLst>
              <a:gd name="adj" fmla="val 1906"/>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5" name="Shape 3"/>
          <p:cNvSpPr/>
          <p:nvPr/>
        </p:nvSpPr>
        <p:spPr>
          <a:xfrm>
            <a:off x="676656" y="1723644"/>
            <a:ext cx="82296" cy="82296"/>
          </a:xfrm>
          <a:prstGeom prst="ellipse">
            <a:avLst/>
          </a:prstGeom>
          <a:solidFill>
            <a:srgbClr val="E2554F"/>
          </a:solidFill>
          <a:ln w="12700">
            <a:solidFill>
              <a:srgbClr val="E2554F"/>
            </a:solidFill>
            <a:prstDash val="solid"/>
          </a:ln>
        </p:spPr>
      </p:sp>
      <p:sp>
        <p:nvSpPr>
          <p:cNvPr id="6" name="Shape 4"/>
          <p:cNvSpPr/>
          <p:nvPr/>
        </p:nvSpPr>
        <p:spPr>
          <a:xfrm>
            <a:off x="822960" y="1723644"/>
            <a:ext cx="82296" cy="82296"/>
          </a:xfrm>
          <a:prstGeom prst="ellipse">
            <a:avLst/>
          </a:prstGeom>
          <a:solidFill>
            <a:srgbClr val="F7A400"/>
          </a:solidFill>
          <a:ln w="12700">
            <a:solidFill>
              <a:srgbClr val="F7A400"/>
            </a:solidFill>
            <a:prstDash val="solid"/>
          </a:ln>
        </p:spPr>
      </p:sp>
      <p:sp>
        <p:nvSpPr>
          <p:cNvPr id="7" name="Shape 5"/>
          <p:cNvSpPr/>
          <p:nvPr/>
        </p:nvSpPr>
        <p:spPr>
          <a:xfrm>
            <a:off x="969264" y="1723644"/>
            <a:ext cx="82296" cy="82296"/>
          </a:xfrm>
          <a:prstGeom prst="ellipse">
            <a:avLst/>
          </a:prstGeom>
          <a:solidFill>
            <a:srgbClr val="2EB872"/>
          </a:solidFill>
          <a:ln w="12700">
            <a:solidFill>
              <a:srgbClr val="2EB872"/>
            </a:solidFill>
            <a:prstDash val="solid"/>
          </a:ln>
        </p:spPr>
      </p:sp>
      <p:pic>
        <p:nvPicPr>
          <p:cNvPr id="8" name="School office dashboard" descr="School office dashboard">    </p:cNvPr>
          <p:cNvPicPr>
            <a:picLocks noChangeAspect="1"/>
          </p:cNvPicPr>
          <p:nvPr/>
        </p:nvPicPr>
        <p:blipFill>
          <a:blip r:embed="rId1"/>
          <a:stretch>
            <a:fillRect/>
          </a:stretch>
        </p:blipFill>
        <p:spPr>
          <a:xfrm>
            <a:off x="585216" y="1883664"/>
            <a:ext cx="5687568" cy="3554730"/>
          </a:xfrm>
          <a:prstGeom prst="rect">
            <a:avLst/>
          </a:prstGeom>
        </p:spPr>
      </p:pic>
      <p:sp>
        <p:nvSpPr>
          <p:cNvPr id="9" name="Parent app frame"/>
          <p:cNvSpPr/>
          <p:nvPr/>
        </p:nvSpPr>
        <p:spPr>
          <a:xfrm>
            <a:off x="7040880" y="1600200"/>
            <a:ext cx="2067115" cy="3703320"/>
          </a:xfrm>
          <a:prstGeom prst="roundRect">
            <a:avLst>
              <a:gd name="adj" fmla="val 8847"/>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10" name="Parent app" descr="Parent app">    </p:cNvPr>
          <p:cNvPicPr>
            <a:picLocks noChangeAspect="1"/>
          </p:cNvPicPr>
          <p:nvPr/>
        </p:nvPicPr>
        <p:blipFill>
          <a:blip r:embed="rId2"/>
          <a:stretch>
            <a:fillRect/>
          </a:stretch>
        </p:blipFill>
        <p:spPr>
          <a:xfrm>
            <a:off x="7104888" y="1728216"/>
            <a:ext cx="1939099" cy="3447288"/>
          </a:xfrm>
          <a:prstGeom prst="rect">
            <a:avLst/>
          </a:prstGeom>
        </p:spPr>
      </p:pic>
      <p:sp>
        <p:nvSpPr>
          <p:cNvPr id="11" name="Teacher app register frame"/>
          <p:cNvSpPr/>
          <p:nvPr/>
        </p:nvSpPr>
        <p:spPr>
          <a:xfrm>
            <a:off x="9464040" y="1965960"/>
            <a:ext cx="1861376" cy="3337560"/>
          </a:xfrm>
          <a:prstGeom prst="roundRect">
            <a:avLst>
              <a:gd name="adj" fmla="val 9825"/>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12" name="Teacher app register" descr="Teacher app register">    </p:cNvPr>
          <p:cNvPicPr>
            <a:picLocks noChangeAspect="1"/>
          </p:cNvPicPr>
          <p:nvPr/>
        </p:nvPicPr>
        <p:blipFill>
          <a:blip r:embed="rId3"/>
          <a:stretch>
            <a:fillRect/>
          </a:stretch>
        </p:blipFill>
        <p:spPr>
          <a:xfrm>
            <a:off x="9528048" y="2093976"/>
            <a:ext cx="1733360" cy="3081528"/>
          </a:xfrm>
          <a:prstGeom prst="rect">
            <a:avLst/>
          </a:prstGeom>
        </p:spPr>
      </p:pic>
      <p:sp>
        <p:nvSpPr>
          <p:cNvPr id="13" name="Shape 8"/>
          <p:cNvSpPr/>
          <p:nvPr/>
        </p:nvSpPr>
        <p:spPr>
          <a:xfrm>
            <a:off x="548640" y="5650992"/>
            <a:ext cx="128016" cy="128016"/>
          </a:xfrm>
          <a:prstGeom prst="ellipse">
            <a:avLst/>
          </a:prstGeom>
          <a:solidFill>
            <a:srgbClr val="F7A400"/>
          </a:solidFill>
          <a:ln w="12700">
            <a:solidFill>
              <a:srgbClr val="F7A400"/>
            </a:solidFill>
            <a:prstDash val="solid"/>
          </a:ln>
        </p:spPr>
      </p:sp>
      <p:sp>
        <p:nvSpPr>
          <p:cNvPr id="14" name="Text 9"/>
          <p:cNvSpPr txBox="1"/>
          <p:nvPr/>
        </p:nvSpPr>
        <p:spPr>
          <a:xfrm>
            <a:off x="777240" y="5532120"/>
            <a:ext cx="3383280" cy="320040"/>
          </a:xfrm>
          <a:prstGeom prst="rect">
            <a:avLst/>
          </a:prstGeom>
          <a:noFill/>
          <a:ln/>
        </p:spPr>
        <p:txBody>
          <a:bodyPr wrap="square" lIns="0" tIns="0" rIns="0" bIns="0" rtlCol="0" anchor="t"/>
          <a:lstStyle/>
          <a:p>
            <a:pPr indent="0" marL="0">
              <a:buNone/>
            </a:pPr>
            <a:r>
              <a:rPr lang="en-US" sz="1500" b="1" dirty="0">
                <a:solidFill>
                  <a:schemeClr val="tx1"/>
                </a:solidFill>
              </a:rPr>
              <a:t>School portal (web)</a:t>
            </a:r>
            <a:endParaRPr lang="en-US" sz="1500" dirty="0"/>
          </a:p>
        </p:txBody>
      </p:sp>
      <p:sp>
        <p:nvSpPr>
          <p:cNvPr id="15" name="Text 10"/>
          <p:cNvSpPr txBox="1"/>
          <p:nvPr/>
        </p:nvSpPr>
        <p:spPr>
          <a:xfrm>
            <a:off x="777240" y="5833872"/>
            <a:ext cx="3383280" cy="457200"/>
          </a:xfrm>
          <a:prstGeom prst="rect">
            <a:avLst/>
          </a:prstGeom>
          <a:noFill/>
          <a:ln/>
        </p:spPr>
        <p:txBody>
          <a:bodyPr wrap="square" lIns="0" tIns="0" rIns="0" bIns="0" rtlCol="0" anchor="t"/>
          <a:lstStyle/>
          <a:p>
            <a:pPr indent="0" marL="0">
              <a:buNone/>
            </a:pPr>
            <a:r>
              <a:rPr lang="en-US" sz="1200" dirty="0">
                <a:solidFill>
                  <a:schemeClr val="accent4"/>
                </a:solidFill>
              </a:rPr>
              <a:t>stmarys.bastaa.in: office, principal, accountant, teachers</a:t>
            </a:r>
            <a:endParaRPr lang="en-US" sz="1200" dirty="0"/>
          </a:p>
        </p:txBody>
      </p:sp>
      <p:sp>
        <p:nvSpPr>
          <p:cNvPr id="16" name="Shape 11"/>
          <p:cNvSpPr/>
          <p:nvPr/>
        </p:nvSpPr>
        <p:spPr>
          <a:xfrm>
            <a:off x="4297680" y="5650992"/>
            <a:ext cx="128016" cy="128016"/>
          </a:xfrm>
          <a:prstGeom prst="ellipse">
            <a:avLst/>
          </a:prstGeom>
          <a:solidFill>
            <a:srgbClr val="F7A400"/>
          </a:solidFill>
          <a:ln w="12700">
            <a:solidFill>
              <a:srgbClr val="F7A400"/>
            </a:solidFill>
            <a:prstDash val="solid"/>
          </a:ln>
        </p:spPr>
      </p:sp>
      <p:sp>
        <p:nvSpPr>
          <p:cNvPr id="17" name="Text 12"/>
          <p:cNvSpPr txBox="1"/>
          <p:nvPr/>
        </p:nvSpPr>
        <p:spPr>
          <a:xfrm>
            <a:off x="4526280" y="5532120"/>
            <a:ext cx="3383280" cy="320040"/>
          </a:xfrm>
          <a:prstGeom prst="rect">
            <a:avLst/>
          </a:prstGeom>
          <a:noFill/>
          <a:ln/>
        </p:spPr>
        <p:txBody>
          <a:bodyPr wrap="square" lIns="0" tIns="0" rIns="0" bIns="0" rtlCol="0" anchor="t"/>
          <a:lstStyle/>
          <a:p>
            <a:pPr indent="0" marL="0">
              <a:buNone/>
            </a:pPr>
            <a:r>
              <a:rPr lang="en-US" sz="1500" b="1" dirty="0">
                <a:solidFill>
                  <a:schemeClr val="tx1"/>
                </a:solidFill>
              </a:rPr>
              <a:t>Parent &amp; teacher app</a:t>
            </a:r>
            <a:endParaRPr lang="en-US" sz="1500" dirty="0"/>
          </a:p>
        </p:txBody>
      </p:sp>
      <p:sp>
        <p:nvSpPr>
          <p:cNvPr id="18" name="Text 13"/>
          <p:cNvSpPr txBox="1"/>
          <p:nvPr/>
        </p:nvSpPr>
        <p:spPr>
          <a:xfrm>
            <a:off x="4526280" y="5833872"/>
            <a:ext cx="3383280" cy="457200"/>
          </a:xfrm>
          <a:prstGeom prst="rect">
            <a:avLst/>
          </a:prstGeom>
          <a:noFill/>
          <a:ln/>
        </p:spPr>
        <p:txBody>
          <a:bodyPr wrap="square" lIns="0" tIns="0" rIns="0" bIns="0" rtlCol="0" anchor="t"/>
          <a:lstStyle/>
          <a:p>
            <a:pPr indent="0" marL="0">
              <a:buNone/>
            </a:pPr>
            <a:r>
              <a:rPr lang="en-US" sz="1200" dirty="0">
                <a:solidFill>
                  <a:schemeClr val="accent4"/>
                </a:solidFill>
              </a:rPr>
              <a:t>One Android app; the home screen follows the role</a:t>
            </a:r>
            <a:endParaRPr lang="en-US" sz="1200" dirty="0"/>
          </a:p>
        </p:txBody>
      </p:sp>
      <p:sp>
        <p:nvSpPr>
          <p:cNvPr id="19" name="Shape 14"/>
          <p:cNvSpPr/>
          <p:nvPr/>
        </p:nvSpPr>
        <p:spPr>
          <a:xfrm>
            <a:off x="8046720" y="5650992"/>
            <a:ext cx="128016" cy="128016"/>
          </a:xfrm>
          <a:prstGeom prst="ellipse">
            <a:avLst/>
          </a:prstGeom>
          <a:solidFill>
            <a:srgbClr val="F7A400"/>
          </a:solidFill>
          <a:ln w="12700">
            <a:solidFill>
              <a:srgbClr val="F7A400"/>
            </a:solidFill>
            <a:prstDash val="solid"/>
          </a:ln>
        </p:spPr>
      </p:sp>
      <p:sp>
        <p:nvSpPr>
          <p:cNvPr id="20" name="Text 15"/>
          <p:cNvSpPr txBox="1"/>
          <p:nvPr/>
        </p:nvSpPr>
        <p:spPr>
          <a:xfrm>
            <a:off x="8275320" y="5532120"/>
            <a:ext cx="3383280" cy="320040"/>
          </a:xfrm>
          <a:prstGeom prst="rect">
            <a:avLst/>
          </a:prstGeom>
          <a:noFill/>
          <a:ln/>
        </p:spPr>
        <p:txBody>
          <a:bodyPr wrap="square" lIns="0" tIns="0" rIns="0" bIns="0" rtlCol="0" anchor="t"/>
          <a:lstStyle/>
          <a:p>
            <a:pPr indent="0" marL="0">
              <a:buNone/>
            </a:pPr>
            <a:r>
              <a:rPr lang="en-US" sz="1500" b="1" dirty="0">
                <a:solidFill>
                  <a:schemeClr val="tx1"/>
                </a:solidFill>
              </a:rPr>
              <a:t>Bastaa console</a:t>
            </a:r>
            <a:endParaRPr lang="en-US" sz="1500" dirty="0"/>
          </a:p>
        </p:txBody>
      </p:sp>
      <p:sp>
        <p:nvSpPr>
          <p:cNvPr id="21" name="Text 16"/>
          <p:cNvSpPr txBox="1"/>
          <p:nvPr/>
        </p:nvSpPr>
        <p:spPr>
          <a:xfrm>
            <a:off x="8275320" y="5833872"/>
            <a:ext cx="3383280" cy="457200"/>
          </a:xfrm>
          <a:prstGeom prst="rect">
            <a:avLst/>
          </a:prstGeom>
          <a:noFill/>
          <a:ln/>
        </p:spPr>
        <p:txBody>
          <a:bodyPr wrap="square" lIns="0" tIns="0" rIns="0" bIns="0" rtlCol="0" anchor="t"/>
          <a:lstStyle/>
          <a:p>
            <a:pPr indent="0" marL="0">
              <a:buNone/>
            </a:pPr>
            <a:r>
              <a:rPr lang="en-US" sz="1200" dirty="0">
                <a:solidFill>
                  <a:schemeClr val="accent4"/>
                </a:solidFill>
              </a:rPr>
              <a:t>admin.bastaa.in: onboard schools, plans, support</a:t>
            </a:r>
            <a:endParaRPr lang="en-US" sz="12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PRODUCT TOUR</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office starts every day on one screen</a:t>
            </a:r>
            <a:endParaRPr lang="en-US" sz="3000" dirty="0"/>
          </a:p>
        </p:txBody>
      </p:sp>
      <p:sp>
        <p:nvSpPr>
          <p:cNvPr id="4" name="Admin dashboard frame"/>
          <p:cNvSpPr/>
          <p:nvPr/>
        </p:nvSpPr>
        <p:spPr>
          <a:xfrm>
            <a:off x="548640" y="1600200"/>
            <a:ext cx="7040880" cy="4638294"/>
          </a:xfrm>
          <a:prstGeom prst="roundRect">
            <a:avLst>
              <a:gd name="adj" fmla="val 1577"/>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5" name="Shape 3"/>
          <p:cNvSpPr/>
          <p:nvPr/>
        </p:nvSpPr>
        <p:spPr>
          <a:xfrm>
            <a:off x="676656" y="1677924"/>
            <a:ext cx="82296" cy="82296"/>
          </a:xfrm>
          <a:prstGeom prst="ellipse">
            <a:avLst/>
          </a:prstGeom>
          <a:solidFill>
            <a:srgbClr val="E2554F"/>
          </a:solidFill>
          <a:ln w="12700">
            <a:solidFill>
              <a:srgbClr val="E2554F"/>
            </a:solidFill>
            <a:prstDash val="solid"/>
          </a:ln>
        </p:spPr>
      </p:sp>
      <p:sp>
        <p:nvSpPr>
          <p:cNvPr id="6" name="Shape 4"/>
          <p:cNvSpPr/>
          <p:nvPr/>
        </p:nvSpPr>
        <p:spPr>
          <a:xfrm>
            <a:off x="822960" y="1677924"/>
            <a:ext cx="82296" cy="82296"/>
          </a:xfrm>
          <a:prstGeom prst="ellipse">
            <a:avLst/>
          </a:prstGeom>
          <a:solidFill>
            <a:srgbClr val="F7A400"/>
          </a:solidFill>
          <a:ln w="12700">
            <a:solidFill>
              <a:srgbClr val="F7A400"/>
            </a:solidFill>
            <a:prstDash val="solid"/>
          </a:ln>
        </p:spPr>
      </p:sp>
      <p:sp>
        <p:nvSpPr>
          <p:cNvPr id="7" name="Shape 5"/>
          <p:cNvSpPr/>
          <p:nvPr/>
        </p:nvSpPr>
        <p:spPr>
          <a:xfrm>
            <a:off x="969264" y="1677924"/>
            <a:ext cx="82296" cy="82296"/>
          </a:xfrm>
          <a:prstGeom prst="ellipse">
            <a:avLst/>
          </a:prstGeom>
          <a:solidFill>
            <a:srgbClr val="2EB872"/>
          </a:solidFill>
          <a:ln w="12700">
            <a:solidFill>
              <a:srgbClr val="2EB872"/>
            </a:solidFill>
            <a:prstDash val="solid"/>
          </a:ln>
        </p:spPr>
      </p:sp>
      <p:pic>
        <p:nvPicPr>
          <p:cNvPr id="8" name="Admin dashboard" descr="Admin dashboard">    </p:cNvPr>
          <p:cNvPicPr>
            <a:picLocks noChangeAspect="1"/>
          </p:cNvPicPr>
          <p:nvPr/>
        </p:nvPicPr>
        <p:blipFill>
          <a:blip r:embed="rId1"/>
          <a:stretch>
            <a:fillRect/>
          </a:stretch>
        </p:blipFill>
        <p:spPr>
          <a:xfrm>
            <a:off x="585216" y="1837944"/>
            <a:ext cx="6967728" cy="4354830"/>
          </a:xfrm>
          <a:prstGeom prst="rect">
            <a:avLst/>
          </a:prstGeom>
        </p:spPr>
      </p:pic>
      <p:sp>
        <p:nvSpPr>
          <p:cNvPr id="9" name="Shape 6"/>
          <p:cNvSpPr/>
          <p:nvPr/>
        </p:nvSpPr>
        <p:spPr>
          <a:xfrm>
            <a:off x="8001000" y="1691640"/>
            <a:ext cx="457200" cy="457200"/>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8110728" y="1801368"/>
            <a:ext cx="237744" cy="237744"/>
          </a:xfrm>
          <a:prstGeom prst="rect">
            <a:avLst/>
          </a:prstGeom>
        </p:spPr>
      </p:pic>
      <p:sp>
        <p:nvSpPr>
          <p:cNvPr id="11" name="Text 7"/>
          <p:cNvSpPr txBox="1"/>
          <p:nvPr/>
        </p:nvSpPr>
        <p:spPr>
          <a:xfrm>
            <a:off x="8641080" y="1673352"/>
            <a:ext cx="3017520" cy="320040"/>
          </a:xfrm>
          <a:prstGeom prst="rect">
            <a:avLst/>
          </a:prstGeom>
          <a:noFill/>
          <a:ln/>
        </p:spPr>
        <p:txBody>
          <a:bodyPr wrap="square" lIns="0" tIns="0" rIns="0" bIns="0" rtlCol="0" anchor="t"/>
          <a:lstStyle/>
          <a:p>
            <a:pPr indent="0" marL="0">
              <a:buNone/>
            </a:pPr>
            <a:r>
              <a:rPr lang="en-US" sz="1600" b="1" dirty="0">
                <a:solidFill>
                  <a:schemeClr val="tx1"/>
                </a:solidFill>
              </a:rPr>
              <a:t>Role-aware home</a:t>
            </a:r>
            <a:endParaRPr lang="en-US" sz="1600" dirty="0"/>
          </a:p>
        </p:txBody>
      </p:sp>
      <p:sp>
        <p:nvSpPr>
          <p:cNvPr id="12" name="Text 8"/>
          <p:cNvSpPr txBox="1"/>
          <p:nvPr/>
        </p:nvSpPr>
        <p:spPr>
          <a:xfrm>
            <a:off x="8641080" y="2002536"/>
            <a:ext cx="3017520" cy="731520"/>
          </a:xfrm>
          <a:prstGeom prst="rect">
            <a:avLst/>
          </a:prstGeom>
          <a:noFill/>
          <a:ln/>
        </p:spPr>
        <p:txBody>
          <a:bodyPr wrap="square" lIns="0" tIns="0" rIns="0" bIns="0" rtlCol="0" anchor="t"/>
          <a:lstStyle/>
          <a:p>
            <a:pPr indent="0" marL="0">
              <a:buNone/>
            </a:pPr>
            <a:r>
              <a:rPr lang="en-US" sz="1300" dirty="0">
                <a:solidFill>
                  <a:schemeClr val="accent4"/>
                </a:solidFill>
              </a:rPr>
              <a:t>Numbers and "needs attention" items are different for an admin, teacher or parent.</a:t>
            </a:r>
            <a:endParaRPr lang="en-US" sz="1300" dirty="0"/>
          </a:p>
        </p:txBody>
      </p:sp>
      <p:sp>
        <p:nvSpPr>
          <p:cNvPr id="13" name="Shape 9"/>
          <p:cNvSpPr/>
          <p:nvPr/>
        </p:nvSpPr>
        <p:spPr>
          <a:xfrm>
            <a:off x="8001000" y="2770632"/>
            <a:ext cx="457200" cy="457200"/>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8110728" y="2880360"/>
            <a:ext cx="237744" cy="237744"/>
          </a:xfrm>
          <a:prstGeom prst="rect">
            <a:avLst/>
          </a:prstGeom>
        </p:spPr>
      </p:pic>
      <p:sp>
        <p:nvSpPr>
          <p:cNvPr id="15" name="Text 10"/>
          <p:cNvSpPr txBox="1"/>
          <p:nvPr/>
        </p:nvSpPr>
        <p:spPr>
          <a:xfrm>
            <a:off x="8641080" y="2752344"/>
            <a:ext cx="3017520" cy="320040"/>
          </a:xfrm>
          <a:prstGeom prst="rect">
            <a:avLst/>
          </a:prstGeom>
          <a:noFill/>
          <a:ln/>
        </p:spPr>
        <p:txBody>
          <a:bodyPr wrap="square" lIns="0" tIns="0" rIns="0" bIns="0" rtlCol="0" anchor="t"/>
          <a:lstStyle/>
          <a:p>
            <a:pPr indent="0" marL="0">
              <a:buNone/>
            </a:pPr>
            <a:r>
              <a:rPr lang="en-US" sz="1600" b="1" dirty="0">
                <a:solidFill>
                  <a:schemeClr val="tx1"/>
                </a:solidFill>
              </a:rPr>
              <a:t>Problems, not reports</a:t>
            </a:r>
            <a:endParaRPr lang="en-US" sz="1600" dirty="0"/>
          </a:p>
        </p:txBody>
      </p:sp>
      <p:sp>
        <p:nvSpPr>
          <p:cNvPr id="16" name="Text 11"/>
          <p:cNvSpPr txBox="1"/>
          <p:nvPr/>
        </p:nvSpPr>
        <p:spPr>
          <a:xfrm>
            <a:off x="8641080" y="3081528"/>
            <a:ext cx="3017520" cy="731520"/>
          </a:xfrm>
          <a:prstGeom prst="rect">
            <a:avLst/>
          </a:prstGeom>
          <a:noFill/>
          <a:ln/>
        </p:spPr>
        <p:txBody>
          <a:bodyPr wrap="square" lIns="0" tIns="0" rIns="0" bIns="0" rtlCol="0" anchor="t"/>
          <a:lstStyle/>
          <a:p>
            <a:pPr indent="0" marL="0">
              <a:buNone/>
            </a:pPr>
            <a:r>
              <a:rPr lang="en-US" sz="1300" dirty="0">
                <a:solidFill>
                  <a:schemeClr val="accent4"/>
                </a:solidFill>
              </a:rPr>
              <a:t>Registers not submitted, students below 75% attendance, overdue fees: surfaced before month-end.</a:t>
            </a:r>
            <a:endParaRPr lang="en-US" sz="1300" dirty="0"/>
          </a:p>
        </p:txBody>
      </p:sp>
      <p:sp>
        <p:nvSpPr>
          <p:cNvPr id="17" name="Shape 12"/>
          <p:cNvSpPr/>
          <p:nvPr/>
        </p:nvSpPr>
        <p:spPr>
          <a:xfrm>
            <a:off x="8001000" y="3849624"/>
            <a:ext cx="457200" cy="457200"/>
          </a:xfrm>
          <a:prstGeom prst="ellipse">
            <a:avLst/>
          </a:prstGeom>
          <a:solidFill>
            <a:srgbClr val="2F6FEB"/>
          </a:solidFill>
          <a:ln w="12700">
            <a:solidFill>
              <a:srgbClr val="2F6FEB"/>
            </a:solidFill>
            <a:prstDash val="solid"/>
          </a:ln>
        </p:spPr>
      </p:sp>
      <p:pic>
        <p:nvPicPr>
          <p:cNvPr id="18" name="Image 3" descr="preencoded.png">    </p:cNvPr>
          <p:cNvPicPr>
            <a:picLocks noChangeAspect="1"/>
          </p:cNvPicPr>
          <p:nvPr/>
        </p:nvPicPr>
        <p:blipFill>
          <a:blip r:embed="rId4"/>
          <a:stretch>
            <a:fillRect/>
          </a:stretch>
        </p:blipFill>
        <p:spPr>
          <a:xfrm>
            <a:off x="8110728" y="3959352"/>
            <a:ext cx="237744" cy="237744"/>
          </a:xfrm>
          <a:prstGeom prst="rect">
            <a:avLst/>
          </a:prstGeom>
        </p:spPr>
      </p:pic>
      <p:sp>
        <p:nvSpPr>
          <p:cNvPr id="19" name="Text 13"/>
          <p:cNvSpPr txBox="1"/>
          <p:nvPr/>
        </p:nvSpPr>
        <p:spPr>
          <a:xfrm>
            <a:off x="8641080" y="3831336"/>
            <a:ext cx="3017520" cy="320040"/>
          </a:xfrm>
          <a:prstGeom prst="rect">
            <a:avLst/>
          </a:prstGeom>
          <a:noFill/>
          <a:ln/>
        </p:spPr>
        <p:txBody>
          <a:bodyPr wrap="square" lIns="0" tIns="0" rIns="0" bIns="0" rtlCol="0" anchor="t"/>
          <a:lstStyle/>
          <a:p>
            <a:pPr indent="0" marL="0">
              <a:buNone/>
            </a:pPr>
            <a:r>
              <a:rPr lang="en-US" sz="1600" b="1" dirty="0">
                <a:solidFill>
                  <a:schemeClr val="tx1"/>
                </a:solidFill>
              </a:rPr>
              <a:t>Find anything</a:t>
            </a:r>
            <a:endParaRPr lang="en-US" sz="1600" dirty="0"/>
          </a:p>
        </p:txBody>
      </p:sp>
      <p:sp>
        <p:nvSpPr>
          <p:cNvPr id="20" name="Text 14"/>
          <p:cNvSpPr txBox="1"/>
          <p:nvPr/>
        </p:nvSpPr>
        <p:spPr>
          <a:xfrm>
            <a:off x="8641080" y="4160520"/>
            <a:ext cx="3017520" cy="731520"/>
          </a:xfrm>
          <a:prstGeom prst="rect">
            <a:avLst/>
          </a:prstGeom>
          <a:noFill/>
          <a:ln/>
        </p:spPr>
        <p:txBody>
          <a:bodyPr wrap="square" lIns="0" tIns="0" rIns="0" bIns="0" rtlCol="0" anchor="t"/>
          <a:lstStyle/>
          <a:p>
            <a:pPr indent="0" marL="0">
              <a:buNone/>
            </a:pPr>
            <a:r>
              <a:rPr lang="en-US" sz="1300" dirty="0">
                <a:solidFill>
                  <a:schemeClr val="accent4"/>
                </a:solidFill>
              </a:rPr>
              <a:t>One search (Ctrl + K) across students, teachers and parents, limited to what you may see.</a:t>
            </a:r>
            <a:endParaRPr lang="en-US" sz="1300" dirty="0"/>
          </a:p>
        </p:txBody>
      </p:sp>
      <p:sp>
        <p:nvSpPr>
          <p:cNvPr id="21" name="Shape 15"/>
          <p:cNvSpPr/>
          <p:nvPr/>
        </p:nvSpPr>
        <p:spPr>
          <a:xfrm>
            <a:off x="8001000" y="4928616"/>
            <a:ext cx="457200" cy="457200"/>
          </a:xfrm>
          <a:prstGeom prst="ellipse">
            <a:avLst/>
          </a:prstGeom>
          <a:solidFill>
            <a:srgbClr val="2F6FEB"/>
          </a:solidFill>
          <a:ln w="12700">
            <a:solidFill>
              <a:srgbClr val="2F6FEB"/>
            </a:solidFill>
            <a:prstDash val="solid"/>
          </a:ln>
        </p:spPr>
      </p:sp>
      <p:pic>
        <p:nvPicPr>
          <p:cNvPr id="22" name="Image 4" descr="preencoded.png">    </p:cNvPr>
          <p:cNvPicPr>
            <a:picLocks noChangeAspect="1"/>
          </p:cNvPicPr>
          <p:nvPr/>
        </p:nvPicPr>
        <p:blipFill>
          <a:blip r:embed="rId5"/>
          <a:stretch>
            <a:fillRect/>
          </a:stretch>
        </p:blipFill>
        <p:spPr>
          <a:xfrm>
            <a:off x="8110728" y="5038344"/>
            <a:ext cx="237744" cy="237744"/>
          </a:xfrm>
          <a:prstGeom prst="rect">
            <a:avLst/>
          </a:prstGeom>
        </p:spPr>
      </p:pic>
      <p:sp>
        <p:nvSpPr>
          <p:cNvPr id="23" name="Text 16"/>
          <p:cNvSpPr txBox="1"/>
          <p:nvPr/>
        </p:nvSpPr>
        <p:spPr>
          <a:xfrm>
            <a:off x="8641080" y="4910328"/>
            <a:ext cx="3017520" cy="320040"/>
          </a:xfrm>
          <a:prstGeom prst="rect">
            <a:avLst/>
          </a:prstGeom>
          <a:noFill/>
          <a:ln/>
        </p:spPr>
        <p:txBody>
          <a:bodyPr wrap="square" lIns="0" tIns="0" rIns="0" bIns="0" rtlCol="0" anchor="t"/>
          <a:lstStyle/>
          <a:p>
            <a:pPr indent="0" marL="0">
              <a:buNone/>
            </a:pPr>
            <a:r>
              <a:rPr lang="en-US" sz="1600" b="1" dirty="0">
                <a:solidFill>
                  <a:schemeClr val="tx1"/>
                </a:solidFill>
              </a:rPr>
              <a:t>Your school's brand</a:t>
            </a:r>
            <a:endParaRPr lang="en-US" sz="1600" dirty="0"/>
          </a:p>
        </p:txBody>
      </p:sp>
      <p:sp>
        <p:nvSpPr>
          <p:cNvPr id="24" name="Text 17"/>
          <p:cNvSpPr txBox="1"/>
          <p:nvPr/>
        </p:nvSpPr>
        <p:spPr>
          <a:xfrm>
            <a:off x="8641080" y="5239512"/>
            <a:ext cx="3017520" cy="731520"/>
          </a:xfrm>
          <a:prstGeom prst="rect">
            <a:avLst/>
          </a:prstGeom>
          <a:noFill/>
          <a:ln/>
        </p:spPr>
        <p:txBody>
          <a:bodyPr wrap="square" lIns="0" tIns="0" rIns="0" bIns="0" rtlCol="0" anchor="t"/>
          <a:lstStyle/>
          <a:p>
            <a:pPr indent="0" marL="0">
              <a:buNone/>
            </a:pPr>
            <a:r>
              <a:rPr lang="en-US" sz="1300" dirty="0">
                <a:solidFill>
                  <a:schemeClr val="accent4"/>
                </a:solidFill>
              </a:rPr>
              <a:t>Logo and colour on the portal, the app, receipts, report cards and ID cards.</a:t>
            </a:r>
            <a:endParaRPr lang="en-US" sz="13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DAILY OPERATIONS · ATTENDANCE</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register in seconds, even with no signal</a:t>
            </a:r>
            <a:endParaRPr lang="en-US" sz="3000" dirty="0"/>
          </a:p>
        </p:txBody>
      </p:sp>
      <p:sp>
        <p:nvSpPr>
          <p:cNvPr id="4" name="Web register for 5-B frame"/>
          <p:cNvSpPr/>
          <p:nvPr/>
        </p:nvSpPr>
        <p:spPr>
          <a:xfrm>
            <a:off x="548640" y="1600200"/>
            <a:ext cx="6035040" cy="4009644"/>
          </a:xfrm>
          <a:prstGeom prst="roundRect">
            <a:avLst>
              <a:gd name="adj" fmla="val 1824"/>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5" name="Shape 3"/>
          <p:cNvSpPr/>
          <p:nvPr/>
        </p:nvSpPr>
        <p:spPr>
          <a:xfrm>
            <a:off x="676656" y="1677924"/>
            <a:ext cx="82296" cy="82296"/>
          </a:xfrm>
          <a:prstGeom prst="ellipse">
            <a:avLst/>
          </a:prstGeom>
          <a:solidFill>
            <a:srgbClr val="E2554F"/>
          </a:solidFill>
          <a:ln w="12700">
            <a:solidFill>
              <a:srgbClr val="E2554F"/>
            </a:solidFill>
            <a:prstDash val="solid"/>
          </a:ln>
        </p:spPr>
      </p:sp>
      <p:sp>
        <p:nvSpPr>
          <p:cNvPr id="6" name="Shape 4"/>
          <p:cNvSpPr/>
          <p:nvPr/>
        </p:nvSpPr>
        <p:spPr>
          <a:xfrm>
            <a:off x="822960" y="1677924"/>
            <a:ext cx="82296" cy="82296"/>
          </a:xfrm>
          <a:prstGeom prst="ellipse">
            <a:avLst/>
          </a:prstGeom>
          <a:solidFill>
            <a:srgbClr val="F7A400"/>
          </a:solidFill>
          <a:ln w="12700">
            <a:solidFill>
              <a:srgbClr val="F7A400"/>
            </a:solidFill>
            <a:prstDash val="solid"/>
          </a:ln>
        </p:spPr>
      </p:sp>
      <p:sp>
        <p:nvSpPr>
          <p:cNvPr id="7" name="Shape 5"/>
          <p:cNvSpPr/>
          <p:nvPr/>
        </p:nvSpPr>
        <p:spPr>
          <a:xfrm>
            <a:off x="969264" y="1677924"/>
            <a:ext cx="82296" cy="82296"/>
          </a:xfrm>
          <a:prstGeom prst="ellipse">
            <a:avLst/>
          </a:prstGeom>
          <a:solidFill>
            <a:srgbClr val="2EB872"/>
          </a:solidFill>
          <a:ln w="12700">
            <a:solidFill>
              <a:srgbClr val="2EB872"/>
            </a:solidFill>
            <a:prstDash val="solid"/>
          </a:ln>
        </p:spPr>
      </p:sp>
      <p:pic>
        <p:nvPicPr>
          <p:cNvPr id="8" name="Web register for 5-B" descr="Web register for 5-B">    </p:cNvPr>
          <p:cNvPicPr>
            <a:picLocks noChangeAspect="1"/>
          </p:cNvPicPr>
          <p:nvPr/>
        </p:nvPicPr>
        <p:blipFill>
          <a:blip r:embed="rId1"/>
          <a:stretch>
            <a:fillRect/>
          </a:stretch>
        </p:blipFill>
        <p:spPr>
          <a:xfrm>
            <a:off x="585216" y="1837944"/>
            <a:ext cx="5961888" cy="3726180"/>
          </a:xfrm>
          <a:prstGeom prst="rect">
            <a:avLst/>
          </a:prstGeom>
        </p:spPr>
      </p:pic>
      <p:sp>
        <p:nvSpPr>
          <p:cNvPr id="9" name="Teacher app register frame"/>
          <p:cNvSpPr/>
          <p:nvPr/>
        </p:nvSpPr>
        <p:spPr>
          <a:xfrm>
            <a:off x="6858000" y="1600200"/>
            <a:ext cx="2504313" cy="4480560"/>
          </a:xfrm>
          <a:prstGeom prst="roundRect">
            <a:avLst>
              <a:gd name="adj" fmla="val 7303"/>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10" name="Teacher app register" descr="Teacher app register">    </p:cNvPr>
          <p:cNvPicPr>
            <a:picLocks noChangeAspect="1"/>
          </p:cNvPicPr>
          <p:nvPr/>
        </p:nvPicPr>
        <p:blipFill>
          <a:blip r:embed="rId2"/>
          <a:stretch>
            <a:fillRect/>
          </a:stretch>
        </p:blipFill>
        <p:spPr>
          <a:xfrm>
            <a:off x="6922008" y="1728216"/>
            <a:ext cx="2376297" cy="4224528"/>
          </a:xfrm>
          <a:prstGeom prst="rect">
            <a:avLst/>
          </a:prstGeom>
        </p:spPr>
      </p:pic>
      <p:sp>
        <p:nvSpPr>
          <p:cNvPr id="11" name="Text 7"/>
          <p:cNvSpPr txBox="1"/>
          <p:nvPr/>
        </p:nvSpPr>
        <p:spPr>
          <a:xfrm>
            <a:off x="9646920" y="1691640"/>
            <a:ext cx="2011680" cy="43891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One-tap marks: present, absent, late, half day, leave</a:t>
            </a:r>
            <a:endParaRPr lang="en-US" sz="1400" dirty="0"/>
          </a:p>
          <a:p>
            <a:pPr marL="203200" indent="-203200">
              <a:spcAft>
                <a:spcPts val="600"/>
              </a:spcAft>
              <a:buSzPct val="100000"/>
              <a:buChar char="●"/>
            </a:pPr>
            <a:r>
              <a:rPr lang="en-US" sz="1400" dirty="0">
                <a:solidFill>
                  <a:schemeClr val="tx1"/>
                </a:solidFill>
              </a:rPr>
              <a:t>Offline in the app: queued on the phone, sent when back online, never counted twice</a:t>
            </a:r>
            <a:endParaRPr lang="en-US" sz="1400" dirty="0"/>
          </a:p>
          <a:p>
            <a:pPr marL="203200" indent="-203200">
              <a:spcAft>
                <a:spcPts val="600"/>
              </a:spcAft>
              <a:buSzPct val="100000"/>
              <a:buChar char="●"/>
            </a:pPr>
            <a:r>
              <a:rPr lang="en-US" sz="1400" dirty="0">
                <a:solidFill>
                  <a:schemeClr val="tx1"/>
                </a:solidFill>
              </a:rPr>
              <a:t>Parents get an alert when their child is absent, or arrives</a:t>
            </a:r>
            <a:endParaRPr lang="en-US" sz="1400" dirty="0"/>
          </a:p>
          <a:p>
            <a:pPr marL="203200" indent="-203200">
              <a:spcAft>
                <a:spcPts val="600"/>
              </a:spcAft>
              <a:buSzPct val="100000"/>
              <a:buChar char="●"/>
            </a:pPr>
            <a:r>
              <a:rPr lang="en-US" sz="1400" dirty="0">
                <a:solidFill>
                  <a:schemeClr val="tx1"/>
                </a:solidFill>
              </a:rPr>
              <a:t>Edit window, staff attendance and monthly grids</a:t>
            </a:r>
            <a:endParaRPr lang="en-US" sz="14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DAILY OPERATIONS · FEES</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From fee structure to receipt, without a fee book</a:t>
            </a:r>
            <a:endParaRPr lang="en-US" sz="3000" dirty="0"/>
          </a:p>
        </p:txBody>
      </p:sp>
      <p:sp>
        <p:nvSpPr>
          <p:cNvPr id="4" name="Fees invoices frame"/>
          <p:cNvSpPr/>
          <p:nvPr/>
        </p:nvSpPr>
        <p:spPr>
          <a:xfrm>
            <a:off x="548640" y="1600200"/>
            <a:ext cx="6766560" cy="4466844"/>
          </a:xfrm>
          <a:prstGeom prst="roundRect">
            <a:avLst>
              <a:gd name="adj" fmla="val 1638"/>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5" name="Shape 3"/>
          <p:cNvSpPr/>
          <p:nvPr/>
        </p:nvSpPr>
        <p:spPr>
          <a:xfrm>
            <a:off x="676656" y="1677924"/>
            <a:ext cx="82296" cy="82296"/>
          </a:xfrm>
          <a:prstGeom prst="ellipse">
            <a:avLst/>
          </a:prstGeom>
          <a:solidFill>
            <a:srgbClr val="E2554F"/>
          </a:solidFill>
          <a:ln w="12700">
            <a:solidFill>
              <a:srgbClr val="E2554F"/>
            </a:solidFill>
            <a:prstDash val="solid"/>
          </a:ln>
        </p:spPr>
      </p:sp>
      <p:sp>
        <p:nvSpPr>
          <p:cNvPr id="6" name="Shape 4"/>
          <p:cNvSpPr/>
          <p:nvPr/>
        </p:nvSpPr>
        <p:spPr>
          <a:xfrm>
            <a:off x="822960" y="1677924"/>
            <a:ext cx="82296" cy="82296"/>
          </a:xfrm>
          <a:prstGeom prst="ellipse">
            <a:avLst/>
          </a:prstGeom>
          <a:solidFill>
            <a:srgbClr val="F7A400"/>
          </a:solidFill>
          <a:ln w="12700">
            <a:solidFill>
              <a:srgbClr val="F7A400"/>
            </a:solidFill>
            <a:prstDash val="solid"/>
          </a:ln>
        </p:spPr>
      </p:sp>
      <p:sp>
        <p:nvSpPr>
          <p:cNvPr id="7" name="Shape 5"/>
          <p:cNvSpPr/>
          <p:nvPr/>
        </p:nvSpPr>
        <p:spPr>
          <a:xfrm>
            <a:off x="969264" y="1677924"/>
            <a:ext cx="82296" cy="82296"/>
          </a:xfrm>
          <a:prstGeom prst="ellipse">
            <a:avLst/>
          </a:prstGeom>
          <a:solidFill>
            <a:srgbClr val="2EB872"/>
          </a:solidFill>
          <a:ln w="12700">
            <a:solidFill>
              <a:srgbClr val="2EB872"/>
            </a:solidFill>
            <a:prstDash val="solid"/>
          </a:ln>
        </p:spPr>
      </p:sp>
      <p:pic>
        <p:nvPicPr>
          <p:cNvPr id="8" name="Fees invoices" descr="Fees invoices">    </p:cNvPr>
          <p:cNvPicPr>
            <a:picLocks noChangeAspect="1"/>
          </p:cNvPicPr>
          <p:nvPr/>
        </p:nvPicPr>
        <p:blipFill>
          <a:blip r:embed="rId1"/>
          <a:stretch>
            <a:fillRect/>
          </a:stretch>
        </p:blipFill>
        <p:spPr>
          <a:xfrm>
            <a:off x="585216" y="1837944"/>
            <a:ext cx="6693408" cy="4183380"/>
          </a:xfrm>
          <a:prstGeom prst="rect">
            <a:avLst/>
          </a:prstGeom>
        </p:spPr>
      </p:pic>
      <p:sp>
        <p:nvSpPr>
          <p:cNvPr id="9" name="Shape 6"/>
          <p:cNvSpPr/>
          <p:nvPr/>
        </p:nvSpPr>
        <p:spPr>
          <a:xfrm>
            <a:off x="7726680" y="1691640"/>
            <a:ext cx="457200" cy="457200"/>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7836408" y="1801368"/>
            <a:ext cx="237744" cy="237744"/>
          </a:xfrm>
          <a:prstGeom prst="rect">
            <a:avLst/>
          </a:prstGeom>
        </p:spPr>
      </p:pic>
      <p:sp>
        <p:nvSpPr>
          <p:cNvPr id="11" name="Text 7"/>
          <p:cNvSpPr txBox="1"/>
          <p:nvPr/>
        </p:nvSpPr>
        <p:spPr>
          <a:xfrm>
            <a:off x="8366760" y="1673352"/>
            <a:ext cx="3291840" cy="320040"/>
          </a:xfrm>
          <a:prstGeom prst="rect">
            <a:avLst/>
          </a:prstGeom>
          <a:noFill/>
          <a:ln/>
        </p:spPr>
        <p:txBody>
          <a:bodyPr wrap="square" lIns="0" tIns="0" rIns="0" bIns="0" rtlCol="0" anchor="t"/>
          <a:lstStyle/>
          <a:p>
            <a:pPr indent="0" marL="0">
              <a:buNone/>
            </a:pPr>
            <a:r>
              <a:rPr lang="en-US" sz="1600" b="1" dirty="0">
                <a:solidFill>
                  <a:schemeClr val="tx1"/>
                </a:solidFill>
              </a:rPr>
              <a:t>Structure</a:t>
            </a:r>
            <a:endParaRPr lang="en-US" sz="1600" dirty="0"/>
          </a:p>
        </p:txBody>
      </p:sp>
      <p:sp>
        <p:nvSpPr>
          <p:cNvPr id="12" name="Text 8"/>
          <p:cNvSpPr txBox="1"/>
          <p:nvPr/>
        </p:nvSpPr>
        <p:spPr>
          <a:xfrm>
            <a:off x="8366760" y="1993392"/>
            <a:ext cx="3291840" cy="365760"/>
          </a:xfrm>
          <a:prstGeom prst="rect">
            <a:avLst/>
          </a:prstGeom>
          <a:noFill/>
          <a:ln/>
        </p:spPr>
        <p:txBody>
          <a:bodyPr wrap="square" lIns="0" tIns="0" rIns="0" bIns="0" rtlCol="0" anchor="t"/>
          <a:lstStyle/>
          <a:p>
            <a:pPr indent="0" marL="0">
              <a:buNone/>
            </a:pPr>
            <a:r>
              <a:rPr lang="en-US" sz="1300" dirty="0">
                <a:solidFill>
                  <a:schemeClr val="accent4"/>
                </a:solidFill>
              </a:rPr>
              <a:t>Fee heads, class-wise amounts, installments</a:t>
            </a:r>
            <a:endParaRPr lang="en-US" sz="1300" dirty="0"/>
          </a:p>
        </p:txBody>
      </p:sp>
      <p:sp>
        <p:nvSpPr>
          <p:cNvPr id="13" name="Shape 9"/>
          <p:cNvSpPr/>
          <p:nvPr/>
        </p:nvSpPr>
        <p:spPr>
          <a:xfrm>
            <a:off x="7726680" y="2606040"/>
            <a:ext cx="457200" cy="457200"/>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7836408" y="2715768"/>
            <a:ext cx="237744" cy="237744"/>
          </a:xfrm>
          <a:prstGeom prst="rect">
            <a:avLst/>
          </a:prstGeom>
        </p:spPr>
      </p:pic>
      <p:sp>
        <p:nvSpPr>
          <p:cNvPr id="15" name="Text 10"/>
          <p:cNvSpPr txBox="1"/>
          <p:nvPr/>
        </p:nvSpPr>
        <p:spPr>
          <a:xfrm>
            <a:off x="8366760" y="2587752"/>
            <a:ext cx="3291840" cy="320040"/>
          </a:xfrm>
          <a:prstGeom prst="rect">
            <a:avLst/>
          </a:prstGeom>
          <a:noFill/>
          <a:ln/>
        </p:spPr>
        <p:txBody>
          <a:bodyPr wrap="square" lIns="0" tIns="0" rIns="0" bIns="0" rtlCol="0" anchor="t"/>
          <a:lstStyle/>
          <a:p>
            <a:pPr indent="0" marL="0">
              <a:buNone/>
            </a:pPr>
            <a:r>
              <a:rPr lang="en-US" sz="1600" b="1" dirty="0">
                <a:solidFill>
                  <a:schemeClr val="tx1"/>
                </a:solidFill>
              </a:rPr>
              <a:t>Invoice</a:t>
            </a:r>
            <a:endParaRPr lang="en-US" sz="1600" dirty="0"/>
          </a:p>
        </p:txBody>
      </p:sp>
      <p:sp>
        <p:nvSpPr>
          <p:cNvPr id="16" name="Text 11"/>
          <p:cNvSpPr txBox="1"/>
          <p:nvPr/>
        </p:nvSpPr>
        <p:spPr>
          <a:xfrm>
            <a:off x="8366760" y="2907792"/>
            <a:ext cx="3291840" cy="365760"/>
          </a:xfrm>
          <a:prstGeom prst="rect">
            <a:avLst/>
          </a:prstGeom>
          <a:noFill/>
          <a:ln/>
        </p:spPr>
        <p:txBody>
          <a:bodyPr wrap="square" lIns="0" tIns="0" rIns="0" bIns="0" rtlCol="0" anchor="t"/>
          <a:lstStyle/>
          <a:p>
            <a:pPr indent="0" marL="0">
              <a:buNone/>
            </a:pPr>
            <a:r>
              <a:rPr lang="en-US" sz="1300" dirty="0">
                <a:solidFill>
                  <a:schemeClr val="accent4"/>
                </a:solidFill>
              </a:rPr>
              <a:t>Gap-free numbers for every student</a:t>
            </a:r>
            <a:endParaRPr lang="en-US" sz="1300" dirty="0"/>
          </a:p>
        </p:txBody>
      </p:sp>
      <p:sp>
        <p:nvSpPr>
          <p:cNvPr id="17" name="Shape 12"/>
          <p:cNvSpPr/>
          <p:nvPr/>
        </p:nvSpPr>
        <p:spPr>
          <a:xfrm>
            <a:off x="7726680" y="3520440"/>
            <a:ext cx="457200" cy="457200"/>
          </a:xfrm>
          <a:prstGeom prst="ellipse">
            <a:avLst/>
          </a:prstGeom>
          <a:solidFill>
            <a:srgbClr val="F7A400"/>
          </a:solidFill>
          <a:ln w="12700">
            <a:solidFill>
              <a:srgbClr val="F7A400"/>
            </a:solidFill>
            <a:prstDash val="solid"/>
          </a:ln>
        </p:spPr>
      </p:sp>
      <p:pic>
        <p:nvPicPr>
          <p:cNvPr id="18" name="Image 3" descr="preencoded.png">    </p:cNvPr>
          <p:cNvPicPr>
            <a:picLocks noChangeAspect="1"/>
          </p:cNvPicPr>
          <p:nvPr/>
        </p:nvPicPr>
        <p:blipFill>
          <a:blip r:embed="rId4"/>
          <a:stretch>
            <a:fillRect/>
          </a:stretch>
        </p:blipFill>
        <p:spPr>
          <a:xfrm>
            <a:off x="7836408" y="3630168"/>
            <a:ext cx="237744" cy="237744"/>
          </a:xfrm>
          <a:prstGeom prst="rect">
            <a:avLst/>
          </a:prstGeom>
        </p:spPr>
      </p:pic>
      <p:sp>
        <p:nvSpPr>
          <p:cNvPr id="19" name="Text 13"/>
          <p:cNvSpPr txBox="1"/>
          <p:nvPr/>
        </p:nvSpPr>
        <p:spPr>
          <a:xfrm>
            <a:off x="8366760" y="3502152"/>
            <a:ext cx="3291840" cy="320040"/>
          </a:xfrm>
          <a:prstGeom prst="rect">
            <a:avLst/>
          </a:prstGeom>
          <a:noFill/>
          <a:ln/>
        </p:spPr>
        <p:txBody>
          <a:bodyPr wrap="square" lIns="0" tIns="0" rIns="0" bIns="0" rtlCol="0" anchor="t"/>
          <a:lstStyle/>
          <a:p>
            <a:pPr indent="0" marL="0">
              <a:buNone/>
            </a:pPr>
            <a:r>
              <a:rPr lang="en-US" sz="1600" b="1" dirty="0">
                <a:solidFill>
                  <a:schemeClr val="tx1"/>
                </a:solidFill>
              </a:rPr>
              <a:t>Pay</a:t>
            </a:r>
            <a:endParaRPr lang="en-US" sz="1600" dirty="0"/>
          </a:p>
        </p:txBody>
      </p:sp>
      <p:sp>
        <p:nvSpPr>
          <p:cNvPr id="20" name="Text 14"/>
          <p:cNvSpPr txBox="1"/>
          <p:nvPr/>
        </p:nvSpPr>
        <p:spPr>
          <a:xfrm>
            <a:off x="8366760" y="3822192"/>
            <a:ext cx="3291840" cy="365760"/>
          </a:xfrm>
          <a:prstGeom prst="rect">
            <a:avLst/>
          </a:prstGeom>
          <a:noFill/>
          <a:ln/>
        </p:spPr>
        <p:txBody>
          <a:bodyPr wrap="square" lIns="0" tIns="0" rIns="0" bIns="0" rtlCol="0" anchor="t"/>
          <a:lstStyle/>
          <a:p>
            <a:pPr indent="0" marL="0">
              <a:buNone/>
            </a:pPr>
            <a:r>
              <a:rPr lang="en-US" sz="1300" dirty="0">
                <a:solidFill>
                  <a:schemeClr val="accent4"/>
                </a:solidFill>
              </a:rPr>
              <a:t>Counter, or online from the parent app</a:t>
            </a:r>
            <a:endParaRPr lang="en-US" sz="1300" dirty="0"/>
          </a:p>
        </p:txBody>
      </p:sp>
      <p:sp>
        <p:nvSpPr>
          <p:cNvPr id="21" name="Shape 15"/>
          <p:cNvSpPr/>
          <p:nvPr/>
        </p:nvSpPr>
        <p:spPr>
          <a:xfrm>
            <a:off x="7726680" y="4434840"/>
            <a:ext cx="457200" cy="457200"/>
          </a:xfrm>
          <a:prstGeom prst="ellipse">
            <a:avLst/>
          </a:prstGeom>
          <a:solidFill>
            <a:srgbClr val="2F6FEB"/>
          </a:solidFill>
          <a:ln w="12700">
            <a:solidFill>
              <a:srgbClr val="2F6FEB"/>
            </a:solidFill>
            <a:prstDash val="solid"/>
          </a:ln>
        </p:spPr>
      </p:sp>
      <p:pic>
        <p:nvPicPr>
          <p:cNvPr id="22" name="Image 4" descr="preencoded.png">    </p:cNvPr>
          <p:cNvPicPr>
            <a:picLocks noChangeAspect="1"/>
          </p:cNvPicPr>
          <p:nvPr/>
        </p:nvPicPr>
        <p:blipFill>
          <a:blip r:embed="rId5"/>
          <a:stretch>
            <a:fillRect/>
          </a:stretch>
        </p:blipFill>
        <p:spPr>
          <a:xfrm>
            <a:off x="7836408" y="4544568"/>
            <a:ext cx="237744" cy="237744"/>
          </a:xfrm>
          <a:prstGeom prst="rect">
            <a:avLst/>
          </a:prstGeom>
        </p:spPr>
      </p:pic>
      <p:sp>
        <p:nvSpPr>
          <p:cNvPr id="23" name="Text 16"/>
          <p:cNvSpPr txBox="1"/>
          <p:nvPr/>
        </p:nvSpPr>
        <p:spPr>
          <a:xfrm>
            <a:off x="8366760" y="4416552"/>
            <a:ext cx="3291840" cy="320040"/>
          </a:xfrm>
          <a:prstGeom prst="rect">
            <a:avLst/>
          </a:prstGeom>
          <a:noFill/>
          <a:ln/>
        </p:spPr>
        <p:txBody>
          <a:bodyPr wrap="square" lIns="0" tIns="0" rIns="0" bIns="0" rtlCol="0" anchor="t"/>
          <a:lstStyle/>
          <a:p>
            <a:pPr indent="0" marL="0">
              <a:buNone/>
            </a:pPr>
            <a:r>
              <a:rPr lang="en-US" sz="1600" b="1" dirty="0">
                <a:solidFill>
                  <a:schemeClr val="tx1"/>
                </a:solidFill>
              </a:rPr>
              <a:t>Receipt</a:t>
            </a:r>
            <a:endParaRPr lang="en-US" sz="1600" dirty="0"/>
          </a:p>
        </p:txBody>
      </p:sp>
      <p:sp>
        <p:nvSpPr>
          <p:cNvPr id="24" name="Text 17"/>
          <p:cNvSpPr txBox="1"/>
          <p:nvPr/>
        </p:nvSpPr>
        <p:spPr>
          <a:xfrm>
            <a:off x="8366760" y="4736592"/>
            <a:ext cx="3291840" cy="365760"/>
          </a:xfrm>
          <a:prstGeom prst="rect">
            <a:avLst/>
          </a:prstGeom>
          <a:noFill/>
          <a:ln/>
        </p:spPr>
        <p:txBody>
          <a:bodyPr wrap="square" lIns="0" tIns="0" rIns="0" bIns="0" rtlCol="0" anchor="t"/>
          <a:lstStyle/>
          <a:p>
            <a:pPr indent="0" marL="0">
              <a:buNone/>
            </a:pPr>
            <a:r>
              <a:rPr lang="en-US" sz="1300" dirty="0">
                <a:solidFill>
                  <a:schemeClr val="accent4"/>
                </a:solidFill>
              </a:rPr>
              <a:t>Instant, re-printable, day close</a:t>
            </a:r>
            <a:endParaRPr lang="en-US" sz="1300" dirty="0"/>
          </a:p>
        </p:txBody>
      </p:sp>
      <p:sp>
        <p:nvSpPr>
          <p:cNvPr id="25" name="Text 18"/>
          <p:cNvSpPr txBox="1"/>
          <p:nvPr/>
        </p:nvSpPr>
        <p:spPr>
          <a:xfrm>
            <a:off x="7726680" y="5440680"/>
            <a:ext cx="3931920" cy="822960"/>
          </a:xfrm>
          <a:prstGeom prst="rect">
            <a:avLst/>
          </a:prstGeom>
          <a:noFill/>
          <a:ln/>
        </p:spPr>
        <p:txBody>
          <a:bodyPr wrap="square" lIns="0" tIns="0" rIns="0" bIns="0" rtlCol="0" anchor="t"/>
          <a:lstStyle/>
          <a:p>
            <a:pPr indent="0" marL="0">
              <a:buNone/>
            </a:pPr>
            <a:r>
              <a:rPr lang="en-US" sz="1300" dirty="0">
                <a:solidFill>
                  <a:schemeClr val="tx1"/>
                </a:solidFill>
              </a:rPr>
              <a:t>Concessions with approval, late-fee rules, refunds and reminders. Online payments go to each school's own Razorpay account; Bastaa never holds the money.</a:t>
            </a:r>
            <a:endParaRPr lang="en-US" sz="13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ACADEMICS · EXAMS AND RESULTS</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Marks in, report cards out</a:t>
            </a:r>
            <a:endParaRPr lang="en-US" sz="3000" dirty="0"/>
          </a:p>
        </p:txBody>
      </p:sp>
      <p:sp>
        <p:nvSpPr>
          <p:cNvPr id="4" name="Exam marks entry progress frame"/>
          <p:cNvSpPr/>
          <p:nvPr/>
        </p:nvSpPr>
        <p:spPr>
          <a:xfrm>
            <a:off x="548640" y="1600200"/>
            <a:ext cx="5669280" cy="3781044"/>
          </a:xfrm>
          <a:prstGeom prst="roundRect">
            <a:avLst>
              <a:gd name="adj" fmla="val 1935"/>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5" name="Shape 3"/>
          <p:cNvSpPr/>
          <p:nvPr/>
        </p:nvSpPr>
        <p:spPr>
          <a:xfrm>
            <a:off x="676656" y="1677924"/>
            <a:ext cx="82296" cy="82296"/>
          </a:xfrm>
          <a:prstGeom prst="ellipse">
            <a:avLst/>
          </a:prstGeom>
          <a:solidFill>
            <a:srgbClr val="E2554F"/>
          </a:solidFill>
          <a:ln w="12700">
            <a:solidFill>
              <a:srgbClr val="E2554F"/>
            </a:solidFill>
            <a:prstDash val="solid"/>
          </a:ln>
        </p:spPr>
      </p:sp>
      <p:sp>
        <p:nvSpPr>
          <p:cNvPr id="6" name="Shape 4"/>
          <p:cNvSpPr/>
          <p:nvPr/>
        </p:nvSpPr>
        <p:spPr>
          <a:xfrm>
            <a:off x="822960" y="1677924"/>
            <a:ext cx="82296" cy="82296"/>
          </a:xfrm>
          <a:prstGeom prst="ellipse">
            <a:avLst/>
          </a:prstGeom>
          <a:solidFill>
            <a:srgbClr val="F7A400"/>
          </a:solidFill>
          <a:ln w="12700">
            <a:solidFill>
              <a:srgbClr val="F7A400"/>
            </a:solidFill>
            <a:prstDash val="solid"/>
          </a:ln>
        </p:spPr>
      </p:sp>
      <p:sp>
        <p:nvSpPr>
          <p:cNvPr id="7" name="Shape 5"/>
          <p:cNvSpPr/>
          <p:nvPr/>
        </p:nvSpPr>
        <p:spPr>
          <a:xfrm>
            <a:off x="969264" y="1677924"/>
            <a:ext cx="82296" cy="82296"/>
          </a:xfrm>
          <a:prstGeom prst="ellipse">
            <a:avLst/>
          </a:prstGeom>
          <a:solidFill>
            <a:srgbClr val="2EB872"/>
          </a:solidFill>
          <a:ln w="12700">
            <a:solidFill>
              <a:srgbClr val="2EB872"/>
            </a:solidFill>
            <a:prstDash val="solid"/>
          </a:ln>
        </p:spPr>
      </p:sp>
      <p:pic>
        <p:nvPicPr>
          <p:cNvPr id="8" name="Exam marks entry progress" descr="Exam marks entry progress">    </p:cNvPr>
          <p:cNvPicPr>
            <a:picLocks noChangeAspect="1"/>
          </p:cNvPicPr>
          <p:nvPr/>
        </p:nvPicPr>
        <p:blipFill>
          <a:blip r:embed="rId1"/>
          <a:stretch>
            <a:fillRect/>
          </a:stretch>
        </p:blipFill>
        <p:spPr>
          <a:xfrm>
            <a:off x="585216" y="1837944"/>
            <a:ext cx="5596128" cy="3497580"/>
          </a:xfrm>
          <a:prstGeom prst="rect">
            <a:avLst/>
          </a:prstGeom>
        </p:spPr>
      </p:pic>
      <p:sp>
        <p:nvSpPr>
          <p:cNvPr id="9" name="Parent results with performance chart frame"/>
          <p:cNvSpPr/>
          <p:nvPr/>
        </p:nvSpPr>
        <p:spPr>
          <a:xfrm>
            <a:off x="6537960" y="3108960"/>
            <a:ext cx="4572000" cy="3095244"/>
          </a:xfrm>
          <a:prstGeom prst="roundRect">
            <a:avLst>
              <a:gd name="adj" fmla="val 2363"/>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10" name="Shape 7"/>
          <p:cNvSpPr/>
          <p:nvPr/>
        </p:nvSpPr>
        <p:spPr>
          <a:xfrm>
            <a:off x="6665976" y="3186684"/>
            <a:ext cx="82296" cy="82296"/>
          </a:xfrm>
          <a:prstGeom prst="ellipse">
            <a:avLst/>
          </a:prstGeom>
          <a:solidFill>
            <a:srgbClr val="E2554F"/>
          </a:solidFill>
          <a:ln w="12700">
            <a:solidFill>
              <a:srgbClr val="E2554F"/>
            </a:solidFill>
            <a:prstDash val="solid"/>
          </a:ln>
        </p:spPr>
      </p:sp>
      <p:sp>
        <p:nvSpPr>
          <p:cNvPr id="11" name="Shape 8"/>
          <p:cNvSpPr/>
          <p:nvPr/>
        </p:nvSpPr>
        <p:spPr>
          <a:xfrm>
            <a:off x="6812280" y="3186684"/>
            <a:ext cx="82296" cy="82296"/>
          </a:xfrm>
          <a:prstGeom prst="ellipse">
            <a:avLst/>
          </a:prstGeom>
          <a:solidFill>
            <a:srgbClr val="F7A400"/>
          </a:solidFill>
          <a:ln w="12700">
            <a:solidFill>
              <a:srgbClr val="F7A400"/>
            </a:solidFill>
            <a:prstDash val="solid"/>
          </a:ln>
        </p:spPr>
      </p:sp>
      <p:sp>
        <p:nvSpPr>
          <p:cNvPr id="12" name="Shape 9"/>
          <p:cNvSpPr/>
          <p:nvPr/>
        </p:nvSpPr>
        <p:spPr>
          <a:xfrm>
            <a:off x="6958584" y="3186684"/>
            <a:ext cx="82296" cy="82296"/>
          </a:xfrm>
          <a:prstGeom prst="ellipse">
            <a:avLst/>
          </a:prstGeom>
          <a:solidFill>
            <a:srgbClr val="2EB872"/>
          </a:solidFill>
          <a:ln w="12700">
            <a:solidFill>
              <a:srgbClr val="2EB872"/>
            </a:solidFill>
            <a:prstDash val="solid"/>
          </a:ln>
        </p:spPr>
      </p:sp>
      <p:pic>
        <p:nvPicPr>
          <p:cNvPr id="13" name="Parent results with performance chart" descr="Parent results with performance chart">    </p:cNvPr>
          <p:cNvPicPr>
            <a:picLocks noChangeAspect="1"/>
          </p:cNvPicPr>
          <p:nvPr/>
        </p:nvPicPr>
        <p:blipFill>
          <a:blip r:embed="rId2"/>
          <a:stretch>
            <a:fillRect/>
          </a:stretch>
        </p:blipFill>
        <p:spPr>
          <a:xfrm>
            <a:off x="6574536" y="3346704"/>
            <a:ext cx="4498848" cy="2811780"/>
          </a:xfrm>
          <a:prstGeom prst="rect">
            <a:avLst/>
          </a:prstGeom>
        </p:spPr>
      </p:pic>
      <p:sp>
        <p:nvSpPr>
          <p:cNvPr id="14" name="Text 10"/>
          <p:cNvSpPr txBox="1"/>
          <p:nvPr/>
        </p:nvSpPr>
        <p:spPr>
          <a:xfrm>
            <a:off x="6537960" y="1600200"/>
            <a:ext cx="5120640" cy="137160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Exams, date sheets and grading scales (CBSE 9-point and custom)</a:t>
            </a:r>
            <a:endParaRPr lang="en-US" sz="1400" dirty="0"/>
          </a:p>
          <a:p>
            <a:pPr marL="203200" indent="-203200">
              <a:spcAft>
                <a:spcPts val="300"/>
              </a:spcAft>
              <a:buSzPct val="100000"/>
              <a:buChar char="●"/>
            </a:pPr>
            <a:r>
              <a:rPr lang="en-US" sz="1400" dirty="0">
                <a:solidFill>
                  <a:schemeClr val="tx1"/>
                </a:solidFill>
              </a:rPr>
              <a:t>Marks entry by subject, or Excel import; lock when done</a:t>
            </a:r>
            <a:endParaRPr lang="en-US" sz="1400" dirty="0"/>
          </a:p>
          <a:p>
            <a:pPr marL="203200" indent="-203200">
              <a:spcAft>
                <a:spcPts val="300"/>
              </a:spcAft>
              <a:buSzPct val="100000"/>
              <a:buChar char="●"/>
            </a:pPr>
            <a:r>
              <a:rPr lang="en-US" sz="1400" dirty="0">
                <a:solidFill>
                  <a:schemeClr val="tx1"/>
                </a:solidFill>
              </a:rPr>
              <a:t>Results, ranks, co-scholastic grades, term results</a:t>
            </a:r>
            <a:endParaRPr lang="en-US" sz="1400" dirty="0"/>
          </a:p>
          <a:p>
            <a:pPr marL="203200" indent="-203200">
              <a:spcAft>
                <a:spcPts val="300"/>
              </a:spcAft>
              <a:buSzPct val="100000"/>
              <a:buChar char="●"/>
            </a:pPr>
            <a:r>
              <a:rPr lang="en-US" sz="1400" dirty="0">
                <a:solidFill>
                  <a:schemeClr val="tx1"/>
                </a:solidFill>
              </a:rPr>
              <a:t>Report cards in three layouts, generated for a whole section</a:t>
            </a:r>
            <a:endParaRPr lang="en-US" sz="14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SCHOOL MANAGEMENT · STUDENT RECORDS</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Every student, one record, and an ID card from it</a:t>
            </a:r>
            <a:endParaRPr lang="en-US" sz="3000" dirty="0"/>
          </a:p>
        </p:txBody>
      </p:sp>
      <p:sp>
        <p:nvSpPr>
          <p:cNvPr id="4" name="Student profile with ID card button frame"/>
          <p:cNvSpPr/>
          <p:nvPr/>
        </p:nvSpPr>
        <p:spPr>
          <a:xfrm>
            <a:off x="548640" y="1600200"/>
            <a:ext cx="6583680" cy="4352544"/>
          </a:xfrm>
          <a:prstGeom prst="roundRect">
            <a:avLst>
              <a:gd name="adj" fmla="val 1681"/>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5" name="Shape 3"/>
          <p:cNvSpPr/>
          <p:nvPr/>
        </p:nvSpPr>
        <p:spPr>
          <a:xfrm>
            <a:off x="676656" y="1677924"/>
            <a:ext cx="82296" cy="82296"/>
          </a:xfrm>
          <a:prstGeom prst="ellipse">
            <a:avLst/>
          </a:prstGeom>
          <a:solidFill>
            <a:srgbClr val="E2554F"/>
          </a:solidFill>
          <a:ln w="12700">
            <a:solidFill>
              <a:srgbClr val="E2554F"/>
            </a:solidFill>
            <a:prstDash val="solid"/>
          </a:ln>
        </p:spPr>
      </p:sp>
      <p:sp>
        <p:nvSpPr>
          <p:cNvPr id="6" name="Shape 4"/>
          <p:cNvSpPr/>
          <p:nvPr/>
        </p:nvSpPr>
        <p:spPr>
          <a:xfrm>
            <a:off x="822960" y="1677924"/>
            <a:ext cx="82296" cy="82296"/>
          </a:xfrm>
          <a:prstGeom prst="ellipse">
            <a:avLst/>
          </a:prstGeom>
          <a:solidFill>
            <a:srgbClr val="F7A400"/>
          </a:solidFill>
          <a:ln w="12700">
            <a:solidFill>
              <a:srgbClr val="F7A400"/>
            </a:solidFill>
            <a:prstDash val="solid"/>
          </a:ln>
        </p:spPr>
      </p:sp>
      <p:sp>
        <p:nvSpPr>
          <p:cNvPr id="7" name="Shape 5"/>
          <p:cNvSpPr/>
          <p:nvPr/>
        </p:nvSpPr>
        <p:spPr>
          <a:xfrm>
            <a:off x="969264" y="1677924"/>
            <a:ext cx="82296" cy="82296"/>
          </a:xfrm>
          <a:prstGeom prst="ellipse">
            <a:avLst/>
          </a:prstGeom>
          <a:solidFill>
            <a:srgbClr val="2EB872"/>
          </a:solidFill>
          <a:ln w="12700">
            <a:solidFill>
              <a:srgbClr val="2EB872"/>
            </a:solidFill>
            <a:prstDash val="solid"/>
          </a:ln>
        </p:spPr>
      </p:sp>
      <p:pic>
        <p:nvPicPr>
          <p:cNvPr id="8" name="Student profile with ID card button" descr="Student profile with ID card button">    </p:cNvPr>
          <p:cNvPicPr>
            <a:picLocks noChangeAspect="1"/>
          </p:cNvPicPr>
          <p:nvPr/>
        </p:nvPicPr>
        <p:blipFill>
          <a:blip r:embed="rId1"/>
          <a:stretch>
            <a:fillRect/>
          </a:stretch>
        </p:blipFill>
        <p:spPr>
          <a:xfrm>
            <a:off x="585216" y="1837944"/>
            <a:ext cx="6510528" cy="4069080"/>
          </a:xfrm>
          <a:prstGeom prst="rect">
            <a:avLst/>
          </a:prstGeom>
        </p:spPr>
      </p:pic>
      <p:pic>
        <p:nvPicPr>
          <p:cNvPr id="9" name="ID card A4 sheet for Class 5-B" descr="A4 sheet of nine ID cards">    </p:cNvPr>
          <p:cNvPicPr>
            <a:picLocks noChangeAspect="1"/>
          </p:cNvPicPr>
          <p:nvPr/>
        </p:nvPicPr>
        <p:blipFill>
          <a:blip r:embed="rId2"/>
          <a:stretch>
            <a:fillRect/>
          </a:stretch>
        </p:blipFill>
        <p:spPr>
          <a:xfrm>
            <a:off x="7863840" y="1600200"/>
            <a:ext cx="3108960" cy="4399188"/>
          </a:xfrm>
          <a:prstGeom prst="rect">
            <a:avLst/>
          </a:prstGeom>
        </p:spPr>
      </p:pic>
      <p:sp>
        <p:nvSpPr>
          <p:cNvPr id="10" name="Shape 6"/>
          <p:cNvSpPr/>
          <p:nvPr/>
        </p:nvSpPr>
        <p:spPr>
          <a:xfrm>
            <a:off x="7863840" y="1600200"/>
            <a:ext cx="3108960" cy="4399188"/>
          </a:xfrm>
          <a:prstGeom prst="rect">
            <a:avLst/>
          </a:prstGeom>
          <a:ln w="9525">
            <a:solidFill>
              <a:srgbClr val="DCE3EF"/>
            </a:solidFill>
            <a:prstDash val="solid"/>
          </a:ln>
        </p:spPr>
      </p:sp>
      <p:sp>
        <p:nvSpPr>
          <p:cNvPr id="11" name="Text 7"/>
          <p:cNvSpPr txBox="1"/>
          <p:nvPr/>
        </p:nvSpPr>
        <p:spPr>
          <a:xfrm>
            <a:off x="7863840" y="6053328"/>
            <a:ext cx="3749040" cy="274320"/>
          </a:xfrm>
          <a:prstGeom prst="rect">
            <a:avLst/>
          </a:prstGeom>
          <a:noFill/>
          <a:ln/>
        </p:spPr>
        <p:txBody>
          <a:bodyPr wrap="square" lIns="0" tIns="0" rIns="0" bIns="0" rtlCol="0" anchor="t"/>
          <a:lstStyle/>
          <a:p>
            <a:pPr indent="0" marL="0">
              <a:buNone/>
            </a:pPr>
            <a:r>
              <a:rPr lang="en-US" sz="1100" dirty="0">
                <a:solidFill>
                  <a:schemeClr val="accent4"/>
                </a:solidFill>
              </a:rPr>
              <a:t>A4 sheet for 5-B, straight from the system</a:t>
            </a:r>
            <a:endParaRPr lang="en-US" sz="1100" dirty="0"/>
          </a:p>
        </p:txBody>
      </p:sp>
      <p:sp>
        <p:nvSpPr>
          <p:cNvPr id="12" name="Text 8"/>
          <p:cNvSpPr txBox="1"/>
          <p:nvPr/>
        </p:nvSpPr>
        <p:spPr>
          <a:xfrm>
            <a:off x="548640" y="6035040"/>
            <a:ext cx="6949440" cy="292608"/>
          </a:xfrm>
          <a:prstGeom prst="rect">
            <a:avLst/>
          </a:prstGeom>
          <a:noFill/>
          <a:ln/>
        </p:spPr>
        <p:txBody>
          <a:bodyPr wrap="square" lIns="0" tIns="0" rIns="0" bIns="0" rtlCol="0" anchor="t"/>
          <a:lstStyle/>
          <a:p>
            <a:pPr indent="0" marL="0">
              <a:buNone/>
            </a:pPr>
            <a:r>
              <a:rPr lang="en-US" sz="1400" i="1" dirty="0">
                <a:solidFill>
                  <a:schemeClr val="tx1"/>
                </a:solidFill>
              </a:rPr>
              <a:t>One record feeds attendance, fees, results and the ID card. Nothing is typed twice.</a:t>
            </a:r>
            <a:endParaRPr lang="en-US" sz="14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SCHOOL MANAGEMENT · STUDENT ID CARD</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Print-ready ID cards in one click</a:t>
            </a:r>
            <a:endParaRPr lang="en-US" sz="3000" dirty="0"/>
          </a:p>
        </p:txBody>
      </p:sp>
      <p:sp>
        <p:nvSpPr>
          <p:cNvPr id="4" name="Card backdrop"/>
          <p:cNvSpPr/>
          <p:nvPr/>
        </p:nvSpPr>
        <p:spPr>
          <a:xfrm>
            <a:off x="548640" y="1554480"/>
            <a:ext cx="4846320" cy="4617720"/>
          </a:xfrm>
          <a:prstGeom prst="roundRect">
            <a:avLst>
              <a:gd name="adj" fmla="val 2970"/>
            </a:avLst>
          </a:prstGeom>
          <a:solidFill>
            <a:srgbClr val="F3F6FC"/>
          </a:solidFill>
          <a:ln w="12700">
            <a:solidFill>
              <a:srgbClr val="F3F6FC"/>
            </a:solidFill>
            <a:prstDash val="solid"/>
          </a:ln>
        </p:spPr>
      </p:sp>
      <p:pic>
        <p:nvPicPr>
          <p:cNvPr id="5" name="Student ID card sample" descr="Student ID card for Ananya Kumar, Class 5-B">    </p:cNvPr>
          <p:cNvPicPr>
            <a:picLocks noChangeAspect="1"/>
          </p:cNvPicPr>
          <p:nvPr/>
        </p:nvPicPr>
        <p:blipFill>
          <a:blip r:embed="rId1"/>
          <a:stretch>
            <a:fillRect/>
          </a:stretch>
        </p:blipFill>
        <p:spPr>
          <a:xfrm>
            <a:off x="1627832" y="1755648"/>
            <a:ext cx="2687936" cy="4206240"/>
          </a:xfrm>
          <a:prstGeom prst="rect">
            <a:avLst/>
          </a:prstGeom>
        </p:spPr>
      </p:pic>
      <p:sp>
        <p:nvSpPr>
          <p:cNvPr id="6" name="Shape 3"/>
          <p:cNvSpPr/>
          <p:nvPr/>
        </p:nvSpPr>
        <p:spPr>
          <a:xfrm>
            <a:off x="4361488" y="2428646"/>
            <a:ext cx="1508960" cy="0"/>
          </a:xfrm>
          <a:prstGeom prst="line">
            <a:avLst/>
          </a:prstGeom>
          <a:noFill/>
          <a:ln w="12700">
            <a:solidFill>
              <a:srgbClr val="F7A400"/>
            </a:solidFill>
            <a:prstDash val="dash"/>
          </a:ln>
        </p:spPr>
      </p:sp>
      <p:sp>
        <p:nvSpPr>
          <p:cNvPr id="7" name="Shape 4"/>
          <p:cNvSpPr/>
          <p:nvPr/>
        </p:nvSpPr>
        <p:spPr>
          <a:xfrm>
            <a:off x="5870448" y="2282342"/>
            <a:ext cx="292608" cy="292608"/>
          </a:xfrm>
          <a:prstGeom prst="ellipse">
            <a:avLst/>
          </a:prstGeom>
          <a:solidFill>
            <a:srgbClr val="F7A400"/>
          </a:solidFill>
          <a:ln w="12700">
            <a:solidFill>
              <a:srgbClr val="F7A400"/>
            </a:solidFill>
            <a:prstDash val="solid"/>
          </a:ln>
        </p:spPr>
      </p:sp>
      <p:sp>
        <p:nvSpPr>
          <p:cNvPr id="8" name="Text 5"/>
          <p:cNvSpPr txBox="1"/>
          <p:nvPr/>
        </p:nvSpPr>
        <p:spPr>
          <a:xfrm>
            <a:off x="5870448" y="2282342"/>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9" name="Text 6"/>
          <p:cNvSpPr txBox="1"/>
          <p:nvPr/>
        </p:nvSpPr>
        <p:spPr>
          <a:xfrm>
            <a:off x="6309360" y="2264054"/>
            <a:ext cx="5349240" cy="329184"/>
          </a:xfrm>
          <a:prstGeom prst="rect">
            <a:avLst/>
          </a:prstGeom>
          <a:noFill/>
          <a:ln/>
        </p:spPr>
        <p:txBody>
          <a:bodyPr wrap="square" lIns="0" tIns="0" rIns="0" bIns="0" rtlCol="0" anchor="t"/>
          <a:lstStyle/>
          <a:p>
            <a:pPr indent="0" marL="0">
              <a:buNone/>
            </a:pPr>
            <a:r>
              <a:rPr lang="en-US" sz="1400" dirty="0">
                <a:solidFill>
                  <a:schemeClr val="tx1"/>
                </a:solidFill>
              </a:rPr>
              <a:t>School colour, name and address from Branding</a:t>
            </a:r>
            <a:endParaRPr lang="en-US" sz="1400" dirty="0"/>
          </a:p>
        </p:txBody>
      </p:sp>
      <p:sp>
        <p:nvSpPr>
          <p:cNvPr id="10" name="Shape 7"/>
          <p:cNvSpPr/>
          <p:nvPr/>
        </p:nvSpPr>
        <p:spPr>
          <a:xfrm>
            <a:off x="4361488" y="3354019"/>
            <a:ext cx="1508960" cy="0"/>
          </a:xfrm>
          <a:prstGeom prst="line">
            <a:avLst/>
          </a:prstGeom>
          <a:noFill/>
          <a:ln w="12700">
            <a:solidFill>
              <a:srgbClr val="F7A400"/>
            </a:solidFill>
            <a:prstDash val="dash"/>
          </a:ln>
        </p:spPr>
      </p:sp>
      <p:sp>
        <p:nvSpPr>
          <p:cNvPr id="11" name="Shape 8"/>
          <p:cNvSpPr/>
          <p:nvPr/>
        </p:nvSpPr>
        <p:spPr>
          <a:xfrm>
            <a:off x="5870448" y="3207715"/>
            <a:ext cx="292608" cy="292608"/>
          </a:xfrm>
          <a:prstGeom prst="ellipse">
            <a:avLst/>
          </a:prstGeom>
          <a:solidFill>
            <a:srgbClr val="F7A400"/>
          </a:solidFill>
          <a:ln w="12700">
            <a:solidFill>
              <a:srgbClr val="F7A400"/>
            </a:solidFill>
            <a:prstDash val="solid"/>
          </a:ln>
        </p:spPr>
      </p:sp>
      <p:sp>
        <p:nvSpPr>
          <p:cNvPr id="12" name="Text 9"/>
          <p:cNvSpPr txBox="1"/>
          <p:nvPr/>
        </p:nvSpPr>
        <p:spPr>
          <a:xfrm>
            <a:off x="5870448" y="3207715"/>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3" name="Text 10"/>
          <p:cNvSpPr txBox="1"/>
          <p:nvPr/>
        </p:nvSpPr>
        <p:spPr>
          <a:xfrm>
            <a:off x="6309360" y="3189427"/>
            <a:ext cx="5349240" cy="329184"/>
          </a:xfrm>
          <a:prstGeom prst="rect">
            <a:avLst/>
          </a:prstGeom>
          <a:noFill/>
          <a:ln/>
        </p:spPr>
        <p:txBody>
          <a:bodyPr wrap="square" lIns="0" tIns="0" rIns="0" bIns="0" rtlCol="0" anchor="t"/>
          <a:lstStyle/>
          <a:p>
            <a:pPr indent="0" marL="0">
              <a:buNone/>
            </a:pPr>
            <a:r>
              <a:rPr lang="en-US" sz="1400" dirty="0">
                <a:solidFill>
                  <a:schemeClr val="tx1"/>
                </a:solidFill>
              </a:rPr>
              <a:t>Student photo from the profile (initials if none)</a:t>
            </a:r>
            <a:endParaRPr lang="en-US" sz="1400" dirty="0"/>
          </a:p>
        </p:txBody>
      </p:sp>
      <p:sp>
        <p:nvSpPr>
          <p:cNvPr id="14" name="Shape 11"/>
          <p:cNvSpPr/>
          <p:nvPr/>
        </p:nvSpPr>
        <p:spPr>
          <a:xfrm>
            <a:off x="4361488" y="4195267"/>
            <a:ext cx="1508960" cy="0"/>
          </a:xfrm>
          <a:prstGeom prst="line">
            <a:avLst/>
          </a:prstGeom>
          <a:noFill/>
          <a:ln w="12700">
            <a:solidFill>
              <a:srgbClr val="F7A400"/>
            </a:solidFill>
            <a:prstDash val="dash"/>
          </a:ln>
        </p:spPr>
      </p:sp>
      <p:sp>
        <p:nvSpPr>
          <p:cNvPr id="15" name="Shape 12"/>
          <p:cNvSpPr/>
          <p:nvPr/>
        </p:nvSpPr>
        <p:spPr>
          <a:xfrm>
            <a:off x="5870448" y="4048963"/>
            <a:ext cx="292608" cy="292608"/>
          </a:xfrm>
          <a:prstGeom prst="ellipse">
            <a:avLst/>
          </a:prstGeom>
          <a:solidFill>
            <a:srgbClr val="F7A400"/>
          </a:solidFill>
          <a:ln w="12700">
            <a:solidFill>
              <a:srgbClr val="F7A400"/>
            </a:solidFill>
            <a:prstDash val="solid"/>
          </a:ln>
        </p:spPr>
      </p:sp>
      <p:sp>
        <p:nvSpPr>
          <p:cNvPr id="16" name="Text 13"/>
          <p:cNvSpPr txBox="1"/>
          <p:nvPr/>
        </p:nvSpPr>
        <p:spPr>
          <a:xfrm>
            <a:off x="5870448" y="4048963"/>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7" name="Text 14"/>
          <p:cNvSpPr txBox="1"/>
          <p:nvPr/>
        </p:nvSpPr>
        <p:spPr>
          <a:xfrm>
            <a:off x="6309360" y="4030675"/>
            <a:ext cx="5349240" cy="329184"/>
          </a:xfrm>
          <a:prstGeom prst="rect">
            <a:avLst/>
          </a:prstGeom>
          <a:noFill/>
          <a:ln/>
        </p:spPr>
        <p:txBody>
          <a:bodyPr wrap="square" lIns="0" tIns="0" rIns="0" bIns="0" rtlCol="0" anchor="t"/>
          <a:lstStyle/>
          <a:p>
            <a:pPr indent="0" marL="0">
              <a:buNone/>
            </a:pPr>
            <a:r>
              <a:rPr lang="en-US" sz="1400" dirty="0">
                <a:solidFill>
                  <a:schemeClr val="tx1"/>
                </a:solidFill>
              </a:rPr>
              <a:t>Name, class, section and roll number</a:t>
            </a:r>
            <a:endParaRPr lang="en-US" sz="1400" dirty="0"/>
          </a:p>
        </p:txBody>
      </p:sp>
      <p:sp>
        <p:nvSpPr>
          <p:cNvPr id="18" name="Shape 15"/>
          <p:cNvSpPr/>
          <p:nvPr/>
        </p:nvSpPr>
        <p:spPr>
          <a:xfrm>
            <a:off x="4361488" y="4868266"/>
            <a:ext cx="1508960" cy="0"/>
          </a:xfrm>
          <a:prstGeom prst="line">
            <a:avLst/>
          </a:prstGeom>
          <a:noFill/>
          <a:ln w="12700">
            <a:solidFill>
              <a:srgbClr val="F7A400"/>
            </a:solidFill>
            <a:prstDash val="dash"/>
          </a:ln>
        </p:spPr>
      </p:sp>
      <p:sp>
        <p:nvSpPr>
          <p:cNvPr id="19" name="Shape 16"/>
          <p:cNvSpPr/>
          <p:nvPr/>
        </p:nvSpPr>
        <p:spPr>
          <a:xfrm>
            <a:off x="5870448" y="4721962"/>
            <a:ext cx="292608" cy="292608"/>
          </a:xfrm>
          <a:prstGeom prst="ellipse">
            <a:avLst/>
          </a:prstGeom>
          <a:solidFill>
            <a:srgbClr val="F7A400"/>
          </a:solidFill>
          <a:ln w="12700">
            <a:solidFill>
              <a:srgbClr val="F7A400"/>
            </a:solidFill>
            <a:prstDash val="solid"/>
          </a:ln>
        </p:spPr>
      </p:sp>
      <p:sp>
        <p:nvSpPr>
          <p:cNvPr id="20" name="Text 17"/>
          <p:cNvSpPr txBox="1"/>
          <p:nvPr/>
        </p:nvSpPr>
        <p:spPr>
          <a:xfrm>
            <a:off x="5870448" y="4721962"/>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1" name="Text 18"/>
          <p:cNvSpPr txBox="1"/>
          <p:nvPr/>
        </p:nvSpPr>
        <p:spPr>
          <a:xfrm>
            <a:off x="6309360" y="4703674"/>
            <a:ext cx="5349240" cy="329184"/>
          </a:xfrm>
          <a:prstGeom prst="rect">
            <a:avLst/>
          </a:prstGeom>
          <a:noFill/>
          <a:ln/>
        </p:spPr>
        <p:txBody>
          <a:bodyPr wrap="square" lIns="0" tIns="0" rIns="0" bIns="0" rtlCol="0" anchor="t"/>
          <a:lstStyle/>
          <a:p>
            <a:pPr indent="0" marL="0">
              <a:buNone/>
            </a:pPr>
            <a:r>
              <a:rPr lang="en-US" sz="1400" dirty="0">
                <a:solidFill>
                  <a:schemeClr val="tx1"/>
                </a:solidFill>
              </a:rPr>
              <a:t>Admission no, date of birth, blood group, parent and phone</a:t>
            </a:r>
            <a:endParaRPr lang="en-US" sz="1400" dirty="0"/>
          </a:p>
        </p:txBody>
      </p:sp>
      <p:sp>
        <p:nvSpPr>
          <p:cNvPr id="22" name="Shape 19"/>
          <p:cNvSpPr/>
          <p:nvPr/>
        </p:nvSpPr>
        <p:spPr>
          <a:xfrm>
            <a:off x="4361488" y="5667451"/>
            <a:ext cx="1508960" cy="0"/>
          </a:xfrm>
          <a:prstGeom prst="line">
            <a:avLst/>
          </a:prstGeom>
          <a:noFill/>
          <a:ln w="12700">
            <a:solidFill>
              <a:srgbClr val="F7A400"/>
            </a:solidFill>
            <a:prstDash val="dash"/>
          </a:ln>
        </p:spPr>
      </p:sp>
      <p:sp>
        <p:nvSpPr>
          <p:cNvPr id="23" name="Shape 20"/>
          <p:cNvSpPr/>
          <p:nvPr/>
        </p:nvSpPr>
        <p:spPr>
          <a:xfrm>
            <a:off x="5870448" y="5521147"/>
            <a:ext cx="292608" cy="292608"/>
          </a:xfrm>
          <a:prstGeom prst="ellipse">
            <a:avLst/>
          </a:prstGeom>
          <a:solidFill>
            <a:srgbClr val="F7A400"/>
          </a:solidFill>
          <a:ln w="12700">
            <a:solidFill>
              <a:srgbClr val="F7A400"/>
            </a:solidFill>
            <a:prstDash val="solid"/>
          </a:ln>
        </p:spPr>
      </p:sp>
      <p:sp>
        <p:nvSpPr>
          <p:cNvPr id="24" name="Text 21"/>
          <p:cNvSpPr txBox="1"/>
          <p:nvPr/>
        </p:nvSpPr>
        <p:spPr>
          <a:xfrm>
            <a:off x="5870448" y="5521147"/>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5" name="Text 22"/>
          <p:cNvSpPr txBox="1"/>
          <p:nvPr/>
        </p:nvSpPr>
        <p:spPr>
          <a:xfrm>
            <a:off x="6309360" y="5502859"/>
            <a:ext cx="5349240" cy="329184"/>
          </a:xfrm>
          <a:prstGeom prst="rect">
            <a:avLst/>
          </a:prstGeom>
          <a:noFill/>
          <a:ln/>
        </p:spPr>
        <p:txBody>
          <a:bodyPr wrap="square" lIns="0" tIns="0" rIns="0" bIns="0" rtlCol="0" anchor="t"/>
          <a:lstStyle/>
          <a:p>
            <a:pPr indent="0" marL="0">
              <a:buNone/>
            </a:pPr>
            <a:r>
              <a:rPr lang="en-US" sz="1400" dirty="0">
                <a:solidFill>
                  <a:schemeClr val="tx1"/>
                </a:solidFill>
              </a:rPr>
              <a:t>Academic year, principal's signature, "if found" phone</a:t>
            </a:r>
            <a:endParaRPr lang="en-US" sz="1400" dirty="0"/>
          </a:p>
        </p:txBody>
      </p:sp>
      <p:sp>
        <p:nvSpPr>
          <p:cNvPr id="26" name="Text 23"/>
          <p:cNvSpPr txBox="1"/>
          <p:nvPr/>
        </p:nvSpPr>
        <p:spPr>
          <a:xfrm>
            <a:off x="5870448" y="1572768"/>
            <a:ext cx="187452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54 × 85.6 mm</a:t>
            </a:r>
            <a:endParaRPr lang="en-US" sz="2000" dirty="0"/>
          </a:p>
        </p:txBody>
      </p:sp>
      <p:sp>
        <p:nvSpPr>
          <p:cNvPr id="27" name="Text 24"/>
          <p:cNvSpPr txBox="1"/>
          <p:nvPr/>
        </p:nvSpPr>
        <p:spPr>
          <a:xfrm>
            <a:off x="5870448" y="1938528"/>
            <a:ext cx="1874520" cy="256032"/>
          </a:xfrm>
          <a:prstGeom prst="rect">
            <a:avLst/>
          </a:prstGeom>
          <a:noFill/>
          <a:ln/>
        </p:spPr>
        <p:txBody>
          <a:bodyPr wrap="square" lIns="0" tIns="0" rIns="0" bIns="0" rtlCol="0" anchor="t"/>
          <a:lstStyle/>
          <a:p>
            <a:pPr indent="0" marL="0">
              <a:buNone/>
            </a:pPr>
            <a:r>
              <a:rPr lang="en-US" sz="1200" dirty="0">
                <a:solidFill>
                  <a:schemeClr val="accent4"/>
                </a:solidFill>
              </a:rPr>
              <a:t>standard card size</a:t>
            </a:r>
            <a:endParaRPr lang="en-US" sz="1200" dirty="0"/>
          </a:p>
        </p:txBody>
      </p:sp>
      <p:sp>
        <p:nvSpPr>
          <p:cNvPr id="28" name="Text 25"/>
          <p:cNvSpPr txBox="1"/>
          <p:nvPr/>
        </p:nvSpPr>
        <p:spPr>
          <a:xfrm>
            <a:off x="7818120" y="1572768"/>
            <a:ext cx="187452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9 per A4</a:t>
            </a:r>
            <a:endParaRPr lang="en-US" sz="2000" dirty="0"/>
          </a:p>
        </p:txBody>
      </p:sp>
      <p:sp>
        <p:nvSpPr>
          <p:cNvPr id="29" name="Text 26"/>
          <p:cNvSpPr txBox="1"/>
          <p:nvPr/>
        </p:nvSpPr>
        <p:spPr>
          <a:xfrm>
            <a:off x="7818120" y="1938528"/>
            <a:ext cx="1874520" cy="256032"/>
          </a:xfrm>
          <a:prstGeom prst="rect">
            <a:avLst/>
          </a:prstGeom>
          <a:noFill/>
          <a:ln/>
        </p:spPr>
        <p:txBody>
          <a:bodyPr wrap="square" lIns="0" tIns="0" rIns="0" bIns="0" rtlCol="0" anchor="t"/>
          <a:lstStyle/>
          <a:p>
            <a:pPr indent="0" marL="0">
              <a:buNone/>
            </a:pPr>
            <a:r>
              <a:rPr lang="en-US" sz="1200" dirty="0">
                <a:solidFill>
                  <a:schemeClr val="accent4"/>
                </a:solidFill>
              </a:rPr>
              <a:t>with cut lines</a:t>
            </a:r>
            <a:endParaRPr lang="en-US" sz="1200" dirty="0"/>
          </a:p>
        </p:txBody>
      </p:sp>
      <p:sp>
        <p:nvSpPr>
          <p:cNvPr id="30" name="Text 27"/>
          <p:cNvSpPr txBox="1"/>
          <p:nvPr/>
        </p:nvSpPr>
        <p:spPr>
          <a:xfrm>
            <a:off x="9765792" y="1572768"/>
            <a:ext cx="187452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 click</a:t>
            </a:r>
            <a:endParaRPr lang="en-US" sz="2000" dirty="0"/>
          </a:p>
        </p:txBody>
      </p:sp>
      <p:sp>
        <p:nvSpPr>
          <p:cNvPr id="31" name="Text 28"/>
          <p:cNvSpPr txBox="1"/>
          <p:nvPr/>
        </p:nvSpPr>
        <p:spPr>
          <a:xfrm>
            <a:off x="9765792" y="1938528"/>
            <a:ext cx="1874520" cy="256032"/>
          </a:xfrm>
          <a:prstGeom prst="rect">
            <a:avLst/>
          </a:prstGeom>
          <a:noFill/>
          <a:ln/>
        </p:spPr>
        <p:txBody>
          <a:bodyPr wrap="square" lIns="0" tIns="0" rIns="0" bIns="0" rtlCol="0" anchor="t"/>
          <a:lstStyle/>
          <a:p>
            <a:pPr indent="0" marL="0">
              <a:buNone/>
            </a:pPr>
            <a:r>
              <a:rPr lang="en-US" sz="1200" dirty="0">
                <a:solidFill>
                  <a:schemeClr val="accent4"/>
                </a:solidFill>
              </a:rPr>
              <a:t>per section or student</a:t>
            </a:r>
            <a:endParaRPr lang="en-US" sz="12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MOBILE APP</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One app for parents and teachers</a:t>
            </a:r>
            <a:endParaRPr lang="en-US" sz="3000" dirty="0"/>
          </a:p>
        </p:txBody>
      </p:sp>
      <p:sp>
        <p:nvSpPr>
          <p:cNvPr id="4" name="Parent · Home frame"/>
          <p:cNvSpPr/>
          <p:nvPr/>
        </p:nvSpPr>
        <p:spPr>
          <a:xfrm>
            <a:off x="685800" y="1600200"/>
            <a:ext cx="2247138" cy="4023360"/>
          </a:xfrm>
          <a:prstGeom prst="roundRect">
            <a:avLst>
              <a:gd name="adj" fmla="val 8138"/>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5" name="Parent · Home" descr="Parent · Home">    </p:cNvPr>
          <p:cNvPicPr>
            <a:picLocks noChangeAspect="1"/>
          </p:cNvPicPr>
          <p:nvPr/>
        </p:nvPicPr>
        <p:blipFill>
          <a:blip r:embed="rId1"/>
          <a:stretch>
            <a:fillRect/>
          </a:stretch>
        </p:blipFill>
        <p:spPr>
          <a:xfrm>
            <a:off x="749808" y="1728216"/>
            <a:ext cx="2119122" cy="3767328"/>
          </a:xfrm>
          <a:prstGeom prst="rect">
            <a:avLst/>
          </a:prstGeom>
        </p:spPr>
      </p:pic>
      <p:sp>
        <p:nvSpPr>
          <p:cNvPr id="6" name="Text 3"/>
          <p:cNvSpPr txBox="1"/>
          <p:nvPr/>
        </p:nvSpPr>
        <p:spPr>
          <a:xfrm>
            <a:off x="685800" y="5715000"/>
            <a:ext cx="2011680" cy="274320"/>
          </a:xfrm>
          <a:prstGeom prst="rect">
            <a:avLst/>
          </a:prstGeom>
          <a:noFill/>
          <a:ln/>
        </p:spPr>
        <p:txBody>
          <a:bodyPr wrap="square" lIns="0" tIns="0" rIns="0" bIns="0" rtlCol="0" anchor="ctr"/>
          <a:lstStyle/>
          <a:p>
            <a:pPr algn="ctr" indent="0" marL="0">
              <a:buNone/>
            </a:pPr>
            <a:r>
              <a:rPr lang="en-US" sz="1300" b="1" dirty="0">
                <a:solidFill>
                  <a:schemeClr val="bg1"/>
                </a:solidFill>
              </a:rPr>
              <a:t>Parent · Home</a:t>
            </a:r>
            <a:endParaRPr lang="en-US" sz="1300" dirty="0"/>
          </a:p>
        </p:txBody>
      </p:sp>
      <p:sp>
        <p:nvSpPr>
          <p:cNvPr id="7" name="Parent · Fees frame"/>
          <p:cNvSpPr/>
          <p:nvPr/>
        </p:nvSpPr>
        <p:spPr>
          <a:xfrm>
            <a:off x="3017520" y="1600200"/>
            <a:ext cx="2247138" cy="4023360"/>
          </a:xfrm>
          <a:prstGeom prst="roundRect">
            <a:avLst>
              <a:gd name="adj" fmla="val 8138"/>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8" name="Parent · Fees" descr="Parent · Fees">    </p:cNvPr>
          <p:cNvPicPr>
            <a:picLocks noChangeAspect="1"/>
          </p:cNvPicPr>
          <p:nvPr/>
        </p:nvPicPr>
        <p:blipFill>
          <a:blip r:embed="rId2"/>
          <a:stretch>
            <a:fillRect/>
          </a:stretch>
        </p:blipFill>
        <p:spPr>
          <a:xfrm>
            <a:off x="3081528" y="1728216"/>
            <a:ext cx="2119122" cy="3767328"/>
          </a:xfrm>
          <a:prstGeom prst="rect">
            <a:avLst/>
          </a:prstGeom>
        </p:spPr>
      </p:pic>
      <p:sp>
        <p:nvSpPr>
          <p:cNvPr id="9" name="Text 5"/>
          <p:cNvSpPr txBox="1"/>
          <p:nvPr/>
        </p:nvSpPr>
        <p:spPr>
          <a:xfrm>
            <a:off x="3017520" y="5715000"/>
            <a:ext cx="2011680" cy="274320"/>
          </a:xfrm>
          <a:prstGeom prst="rect">
            <a:avLst/>
          </a:prstGeom>
          <a:noFill/>
          <a:ln/>
        </p:spPr>
        <p:txBody>
          <a:bodyPr wrap="square" lIns="0" tIns="0" rIns="0" bIns="0" rtlCol="0" anchor="ctr"/>
          <a:lstStyle/>
          <a:p>
            <a:pPr algn="ctr" indent="0" marL="0">
              <a:buNone/>
            </a:pPr>
            <a:r>
              <a:rPr lang="en-US" sz="1300" b="1" dirty="0">
                <a:solidFill>
                  <a:schemeClr val="bg1"/>
                </a:solidFill>
              </a:rPr>
              <a:t>Parent · Fees</a:t>
            </a:r>
            <a:endParaRPr lang="en-US" sz="1300" dirty="0"/>
          </a:p>
        </p:txBody>
      </p:sp>
      <p:sp>
        <p:nvSpPr>
          <p:cNvPr id="10" name="Parent · Academics frame"/>
          <p:cNvSpPr/>
          <p:nvPr/>
        </p:nvSpPr>
        <p:spPr>
          <a:xfrm>
            <a:off x="5349240" y="1600200"/>
            <a:ext cx="2247138" cy="4023360"/>
          </a:xfrm>
          <a:prstGeom prst="roundRect">
            <a:avLst>
              <a:gd name="adj" fmla="val 8138"/>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11" name="Parent · Academics" descr="Parent · Academics">    </p:cNvPr>
          <p:cNvPicPr>
            <a:picLocks noChangeAspect="1"/>
          </p:cNvPicPr>
          <p:nvPr/>
        </p:nvPicPr>
        <p:blipFill>
          <a:blip r:embed="rId3"/>
          <a:stretch>
            <a:fillRect/>
          </a:stretch>
        </p:blipFill>
        <p:spPr>
          <a:xfrm>
            <a:off x="5413248" y="1728216"/>
            <a:ext cx="2119122" cy="3767328"/>
          </a:xfrm>
          <a:prstGeom prst="rect">
            <a:avLst/>
          </a:prstGeom>
        </p:spPr>
      </p:pic>
      <p:sp>
        <p:nvSpPr>
          <p:cNvPr id="12" name="Text 7"/>
          <p:cNvSpPr txBox="1"/>
          <p:nvPr/>
        </p:nvSpPr>
        <p:spPr>
          <a:xfrm>
            <a:off x="5349240" y="5715000"/>
            <a:ext cx="2011680" cy="274320"/>
          </a:xfrm>
          <a:prstGeom prst="rect">
            <a:avLst/>
          </a:prstGeom>
          <a:noFill/>
          <a:ln/>
        </p:spPr>
        <p:txBody>
          <a:bodyPr wrap="square" lIns="0" tIns="0" rIns="0" bIns="0" rtlCol="0" anchor="ctr"/>
          <a:lstStyle/>
          <a:p>
            <a:pPr algn="ctr" indent="0" marL="0">
              <a:buNone/>
            </a:pPr>
            <a:r>
              <a:rPr lang="en-US" sz="1300" b="1" dirty="0">
                <a:solidFill>
                  <a:schemeClr val="bg1"/>
                </a:solidFill>
              </a:rPr>
              <a:t>Parent · Academics</a:t>
            </a:r>
            <a:endParaRPr lang="en-US" sz="1300" dirty="0"/>
          </a:p>
        </p:txBody>
      </p:sp>
      <p:sp>
        <p:nvSpPr>
          <p:cNvPr id="13" name="Teacher · Home frame"/>
          <p:cNvSpPr/>
          <p:nvPr/>
        </p:nvSpPr>
        <p:spPr>
          <a:xfrm>
            <a:off x="7680960" y="1600200"/>
            <a:ext cx="2247138" cy="4023360"/>
          </a:xfrm>
          <a:prstGeom prst="roundRect">
            <a:avLst>
              <a:gd name="adj" fmla="val 8138"/>
            </a:avLst>
          </a:prstGeom>
          <a:solidFill>
            <a:srgbClr val="0E1630"/>
          </a:solidFill>
          <a:ln w="12700">
            <a:solidFill>
              <a:srgbClr val="1C2747"/>
            </a:solidFill>
            <a:prstDash val="solid"/>
          </a:ln>
          <a:effectLst>
            <a:outerShdw sx="100000" sy="100000" kx="0" ky="0" algn="bl" rotWithShape="0" blurRad="152400" dist="38100" dir="5400000">
              <a:srgbClr val="0E1630">
                <a:alpha val="18000"/>
              </a:srgbClr>
            </a:outerShdw>
          </a:effectLst>
        </p:spPr>
      </p:sp>
      <p:pic>
        <p:nvPicPr>
          <p:cNvPr id="14" name="Teacher · Home" descr="Teacher · Home">    </p:cNvPr>
          <p:cNvPicPr>
            <a:picLocks noChangeAspect="1"/>
          </p:cNvPicPr>
          <p:nvPr/>
        </p:nvPicPr>
        <p:blipFill>
          <a:blip r:embed="rId4"/>
          <a:stretch>
            <a:fillRect/>
          </a:stretch>
        </p:blipFill>
        <p:spPr>
          <a:xfrm>
            <a:off x="7744968" y="1728216"/>
            <a:ext cx="2119122" cy="3767328"/>
          </a:xfrm>
          <a:prstGeom prst="rect">
            <a:avLst/>
          </a:prstGeom>
        </p:spPr>
      </p:pic>
      <p:sp>
        <p:nvSpPr>
          <p:cNvPr id="15" name="Text 9"/>
          <p:cNvSpPr txBox="1"/>
          <p:nvPr/>
        </p:nvSpPr>
        <p:spPr>
          <a:xfrm>
            <a:off x="7680960" y="5715000"/>
            <a:ext cx="2011680" cy="274320"/>
          </a:xfrm>
          <a:prstGeom prst="rect">
            <a:avLst/>
          </a:prstGeom>
          <a:noFill/>
          <a:ln/>
        </p:spPr>
        <p:txBody>
          <a:bodyPr wrap="square" lIns="0" tIns="0" rIns="0" bIns="0" rtlCol="0" anchor="ctr"/>
          <a:lstStyle/>
          <a:p>
            <a:pPr algn="ctr" indent="0" marL="0">
              <a:buNone/>
            </a:pPr>
            <a:r>
              <a:rPr lang="en-US" sz="1300" b="1" dirty="0">
                <a:solidFill>
                  <a:schemeClr val="bg1"/>
                </a:solidFill>
              </a:rPr>
              <a:t>Teacher · Home</a:t>
            </a:r>
            <a:endParaRPr lang="en-US" sz="1300" dirty="0"/>
          </a:p>
        </p:txBody>
      </p:sp>
      <p:sp>
        <p:nvSpPr>
          <p:cNvPr id="16" name="Text 10"/>
          <p:cNvSpPr txBox="1"/>
          <p:nvPr/>
        </p:nvSpPr>
        <p:spPr>
          <a:xfrm>
            <a:off x="10012680" y="1645920"/>
            <a:ext cx="1737360" cy="42062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bg1"/>
                </a:solidFill>
              </a:rPr>
              <a:t>Parents: today, attendance, homework, timetable, results, fees and receipts</a:t>
            </a:r>
            <a:endParaRPr lang="en-US" sz="1300" dirty="0"/>
          </a:p>
          <a:p>
            <a:pPr marL="203200" indent="-203200">
              <a:spcAft>
                <a:spcPts val="800"/>
              </a:spcAft>
              <a:buSzPct val="100000"/>
              <a:buChar char="●"/>
            </a:pPr>
            <a:r>
              <a:rPr lang="en-US" sz="1300" dirty="0">
                <a:solidFill>
                  <a:schemeClr val="bg1"/>
                </a:solidFill>
              </a:rPr>
              <a:t>Teachers: registers (offline), homework with camera photos, marks</a:t>
            </a:r>
            <a:endParaRPr lang="en-US" sz="1300" dirty="0"/>
          </a:p>
          <a:p>
            <a:pPr marL="203200" indent="-203200">
              <a:spcAft>
                <a:spcPts val="800"/>
              </a:spcAft>
              <a:buSzPct val="100000"/>
              <a:buChar char="●"/>
            </a:pPr>
            <a:r>
              <a:rPr lang="en-US" sz="1300" dirty="0">
                <a:solidFill>
                  <a:schemeClr val="bg1"/>
                </a:solidFill>
              </a:rPr>
              <a:t>Both: messages, video meetings, calendar, reminders, push alerts</a:t>
            </a:r>
            <a:endParaRPr lang="en-US" sz="1300" dirty="0"/>
          </a:p>
          <a:p>
            <a:pPr marL="203200" indent="-203200">
              <a:spcAft>
                <a:spcPts val="800"/>
              </a:spcAft>
              <a:buSzPct val="100000"/>
              <a:buChar char="●"/>
            </a:pPr>
            <a:r>
              <a:rPr lang="en-US" sz="1300" dirty="0">
                <a:solidFill>
                  <a:schemeClr val="bg1"/>
                </a:solidFill>
              </a:rPr>
              <a:t>Demo build runs with no server, ready for Google Play testing</a:t>
            </a:r>
            <a:endParaRPr lang="en-US" sz="13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COMMUNICATION</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Every message reaches the right parent, at the right time</a:t>
            </a:r>
            <a:endParaRPr lang="en-US" sz="3000" dirty="0"/>
          </a:p>
        </p:txBody>
      </p:sp>
      <p:sp>
        <p:nvSpPr>
          <p:cNvPr id="4" name="Notices"/>
          <p:cNvSpPr/>
          <p:nvPr/>
        </p:nvSpPr>
        <p:spPr>
          <a:xfrm>
            <a:off x="548640" y="1645920"/>
            <a:ext cx="3063240" cy="1965960"/>
          </a:xfrm>
          <a:prstGeom prst="roundRect">
            <a:avLst>
              <a:gd name="adj" fmla="val 5581"/>
            </a:avLst>
          </a:prstGeom>
          <a:solidFill>
            <a:srgbClr val="F3F6FC"/>
          </a:solidFill>
          <a:ln w="12700">
            <a:solidFill>
              <a:srgbClr val="F3F6FC"/>
            </a:solidFill>
            <a:prstDash val="solid"/>
          </a:ln>
        </p:spPr>
      </p:sp>
      <p:sp>
        <p:nvSpPr>
          <p:cNvPr id="5" name="Shape 3"/>
          <p:cNvSpPr/>
          <p:nvPr/>
        </p:nvSpPr>
        <p:spPr>
          <a:xfrm>
            <a:off x="804672" y="1901952"/>
            <a:ext cx="475488" cy="475488"/>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918789" y="2016069"/>
            <a:ext cx="247254" cy="247254"/>
          </a:xfrm>
          <a:prstGeom prst="rect">
            <a:avLst/>
          </a:prstGeom>
        </p:spPr>
      </p:pic>
      <p:sp>
        <p:nvSpPr>
          <p:cNvPr id="7" name="Text 4"/>
          <p:cNvSpPr txBox="1"/>
          <p:nvPr/>
        </p:nvSpPr>
        <p:spPr>
          <a:xfrm>
            <a:off x="804672" y="2514600"/>
            <a:ext cx="2606040" cy="320040"/>
          </a:xfrm>
          <a:prstGeom prst="rect">
            <a:avLst/>
          </a:prstGeom>
          <a:noFill/>
          <a:ln/>
        </p:spPr>
        <p:txBody>
          <a:bodyPr wrap="square" lIns="0" tIns="0" rIns="0" bIns="0" rtlCol="0" anchor="t"/>
          <a:lstStyle/>
          <a:p>
            <a:pPr indent="0" marL="0">
              <a:buNone/>
            </a:pPr>
            <a:r>
              <a:rPr lang="en-US" sz="1600" b="1" dirty="0">
                <a:solidFill>
                  <a:schemeClr val="tx1"/>
                </a:solidFill>
              </a:rPr>
              <a:t>Notices</a:t>
            </a:r>
            <a:endParaRPr lang="en-US" sz="1600" dirty="0"/>
          </a:p>
        </p:txBody>
      </p:sp>
      <p:sp>
        <p:nvSpPr>
          <p:cNvPr id="8" name="Text 5"/>
          <p:cNvSpPr txBox="1"/>
          <p:nvPr/>
        </p:nvSpPr>
        <p:spPr>
          <a:xfrm>
            <a:off x="804672" y="285292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To the whole school, a class or parents only, scheduled, with read receipts.</a:t>
            </a:r>
            <a:endParaRPr lang="en-US" sz="1300" dirty="0"/>
          </a:p>
        </p:txBody>
      </p:sp>
      <p:sp>
        <p:nvSpPr>
          <p:cNvPr id="9" name="Messages &amp; complaints"/>
          <p:cNvSpPr/>
          <p:nvPr/>
        </p:nvSpPr>
        <p:spPr>
          <a:xfrm>
            <a:off x="3794760" y="1645920"/>
            <a:ext cx="3063240" cy="1965960"/>
          </a:xfrm>
          <a:prstGeom prst="roundRect">
            <a:avLst>
              <a:gd name="adj" fmla="val 5581"/>
            </a:avLst>
          </a:prstGeom>
          <a:solidFill>
            <a:srgbClr val="F3F6FC"/>
          </a:solidFill>
          <a:ln w="12700">
            <a:solidFill>
              <a:srgbClr val="F3F6FC"/>
            </a:solidFill>
            <a:prstDash val="solid"/>
          </a:ln>
        </p:spPr>
      </p:sp>
      <p:sp>
        <p:nvSpPr>
          <p:cNvPr id="10" name="Shape 7"/>
          <p:cNvSpPr/>
          <p:nvPr/>
        </p:nvSpPr>
        <p:spPr>
          <a:xfrm>
            <a:off x="4050792" y="1901952"/>
            <a:ext cx="475488" cy="475488"/>
          </a:xfrm>
          <a:prstGeom prst="ellipse">
            <a:avLst/>
          </a:prstGeom>
          <a:solidFill>
            <a:srgbClr val="2F6FEB"/>
          </a:solidFill>
          <a:ln w="12700">
            <a:solidFill>
              <a:srgbClr val="2F6FEB"/>
            </a:solidFill>
            <a:prstDash val="solid"/>
          </a:ln>
        </p:spPr>
      </p:sp>
      <p:pic>
        <p:nvPicPr>
          <p:cNvPr id="11" name="Image 1" descr="preencoded.png">    </p:cNvPr>
          <p:cNvPicPr>
            <a:picLocks noChangeAspect="1"/>
          </p:cNvPicPr>
          <p:nvPr/>
        </p:nvPicPr>
        <p:blipFill>
          <a:blip r:embed="rId2"/>
          <a:stretch>
            <a:fillRect/>
          </a:stretch>
        </p:blipFill>
        <p:spPr>
          <a:xfrm>
            <a:off x="4164909" y="2016069"/>
            <a:ext cx="247254" cy="247254"/>
          </a:xfrm>
          <a:prstGeom prst="rect">
            <a:avLst/>
          </a:prstGeom>
        </p:spPr>
      </p:pic>
      <p:sp>
        <p:nvSpPr>
          <p:cNvPr id="12" name="Text 8"/>
          <p:cNvSpPr txBox="1"/>
          <p:nvPr/>
        </p:nvSpPr>
        <p:spPr>
          <a:xfrm>
            <a:off x="4050792" y="2514600"/>
            <a:ext cx="2606040" cy="320040"/>
          </a:xfrm>
          <a:prstGeom prst="rect">
            <a:avLst/>
          </a:prstGeom>
          <a:noFill/>
          <a:ln/>
        </p:spPr>
        <p:txBody>
          <a:bodyPr wrap="square" lIns="0" tIns="0" rIns="0" bIns="0" rtlCol="0" anchor="t"/>
          <a:lstStyle/>
          <a:p>
            <a:pPr indent="0" marL="0">
              <a:buNone/>
            </a:pPr>
            <a:r>
              <a:rPr lang="en-US" sz="1600" b="1" dirty="0">
                <a:solidFill>
                  <a:schemeClr val="tx1"/>
                </a:solidFill>
              </a:rPr>
              <a:t>Messages &amp; complaints</a:t>
            </a:r>
            <a:endParaRPr lang="en-US" sz="1600" dirty="0"/>
          </a:p>
        </p:txBody>
      </p:sp>
      <p:sp>
        <p:nvSpPr>
          <p:cNvPr id="13" name="Text 9"/>
          <p:cNvSpPr txBox="1"/>
          <p:nvPr/>
        </p:nvSpPr>
        <p:spPr>
          <a:xfrm>
            <a:off x="4050792" y="285292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Parent to class or subject teacher, with categories, statuses and read receipts.</a:t>
            </a:r>
            <a:endParaRPr lang="en-US" sz="1300" dirty="0"/>
          </a:p>
        </p:txBody>
      </p:sp>
      <p:sp>
        <p:nvSpPr>
          <p:cNvPr id="14" name="Video meetings"/>
          <p:cNvSpPr/>
          <p:nvPr/>
        </p:nvSpPr>
        <p:spPr>
          <a:xfrm>
            <a:off x="548640" y="3794760"/>
            <a:ext cx="3063240" cy="1965960"/>
          </a:xfrm>
          <a:prstGeom prst="roundRect">
            <a:avLst>
              <a:gd name="adj" fmla="val 5581"/>
            </a:avLst>
          </a:prstGeom>
          <a:solidFill>
            <a:srgbClr val="F3F6FC"/>
          </a:solidFill>
          <a:ln w="12700">
            <a:solidFill>
              <a:srgbClr val="F3F6FC"/>
            </a:solidFill>
            <a:prstDash val="solid"/>
          </a:ln>
        </p:spPr>
      </p:sp>
      <p:sp>
        <p:nvSpPr>
          <p:cNvPr id="15" name="Shape 11"/>
          <p:cNvSpPr/>
          <p:nvPr/>
        </p:nvSpPr>
        <p:spPr>
          <a:xfrm>
            <a:off x="804672" y="4050792"/>
            <a:ext cx="475488" cy="475488"/>
          </a:xfrm>
          <a:prstGeom prst="ellipse">
            <a:avLst/>
          </a:prstGeom>
          <a:solidFill>
            <a:srgbClr val="2F6FEB"/>
          </a:solidFill>
          <a:ln w="12700">
            <a:solidFill>
              <a:srgbClr val="2F6FEB"/>
            </a:solidFill>
            <a:prstDash val="solid"/>
          </a:ln>
        </p:spPr>
      </p:sp>
      <p:pic>
        <p:nvPicPr>
          <p:cNvPr id="16" name="Image 2" descr="preencoded.png">    </p:cNvPr>
          <p:cNvPicPr>
            <a:picLocks noChangeAspect="1"/>
          </p:cNvPicPr>
          <p:nvPr/>
        </p:nvPicPr>
        <p:blipFill>
          <a:blip r:embed="rId3"/>
          <a:stretch>
            <a:fillRect/>
          </a:stretch>
        </p:blipFill>
        <p:spPr>
          <a:xfrm>
            <a:off x="918789" y="4164909"/>
            <a:ext cx="247254" cy="247254"/>
          </a:xfrm>
          <a:prstGeom prst="rect">
            <a:avLst/>
          </a:prstGeom>
        </p:spPr>
      </p:pic>
      <p:sp>
        <p:nvSpPr>
          <p:cNvPr id="17" name="Text 12"/>
          <p:cNvSpPr txBox="1"/>
          <p:nvPr/>
        </p:nvSpPr>
        <p:spPr>
          <a:xfrm>
            <a:off x="804672" y="4663440"/>
            <a:ext cx="2606040" cy="320040"/>
          </a:xfrm>
          <a:prstGeom prst="rect">
            <a:avLst/>
          </a:prstGeom>
          <a:noFill/>
          <a:ln/>
        </p:spPr>
        <p:txBody>
          <a:bodyPr wrap="square" lIns="0" tIns="0" rIns="0" bIns="0" rtlCol="0" anchor="t"/>
          <a:lstStyle/>
          <a:p>
            <a:pPr indent="0" marL="0">
              <a:buNone/>
            </a:pPr>
            <a:r>
              <a:rPr lang="en-US" sz="1600" b="1" dirty="0">
                <a:solidFill>
                  <a:schemeClr val="tx1"/>
                </a:solidFill>
              </a:rPr>
              <a:t>Video meetings</a:t>
            </a:r>
            <a:endParaRPr lang="en-US" sz="1600" dirty="0"/>
          </a:p>
        </p:txBody>
      </p:sp>
      <p:sp>
        <p:nvSpPr>
          <p:cNvPr id="18" name="Text 13"/>
          <p:cNvSpPr txBox="1"/>
          <p:nvPr/>
        </p:nvSpPr>
        <p:spPr>
          <a:xfrm>
            <a:off x="804672" y="500176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Parent–teacher meetings on Jitsi, with reminders before they start.</a:t>
            </a:r>
            <a:endParaRPr lang="en-US" sz="1300" dirty="0"/>
          </a:p>
        </p:txBody>
      </p:sp>
      <p:sp>
        <p:nvSpPr>
          <p:cNvPr id="19" name="Calendar &amp; reminders"/>
          <p:cNvSpPr/>
          <p:nvPr/>
        </p:nvSpPr>
        <p:spPr>
          <a:xfrm>
            <a:off x="3794760" y="3794760"/>
            <a:ext cx="3063240" cy="1965960"/>
          </a:xfrm>
          <a:prstGeom prst="roundRect">
            <a:avLst>
              <a:gd name="adj" fmla="val 5581"/>
            </a:avLst>
          </a:prstGeom>
          <a:solidFill>
            <a:srgbClr val="F3F6FC"/>
          </a:solidFill>
          <a:ln w="12700">
            <a:solidFill>
              <a:srgbClr val="F3F6FC"/>
            </a:solidFill>
            <a:prstDash val="solid"/>
          </a:ln>
        </p:spPr>
      </p:sp>
      <p:sp>
        <p:nvSpPr>
          <p:cNvPr id="20" name="Shape 15"/>
          <p:cNvSpPr/>
          <p:nvPr/>
        </p:nvSpPr>
        <p:spPr>
          <a:xfrm>
            <a:off x="4050792" y="4050792"/>
            <a:ext cx="475488" cy="475488"/>
          </a:xfrm>
          <a:prstGeom prst="ellipse">
            <a:avLst/>
          </a:prstGeom>
          <a:solidFill>
            <a:srgbClr val="2F6FEB"/>
          </a:solidFill>
          <a:ln w="12700">
            <a:solidFill>
              <a:srgbClr val="2F6FEB"/>
            </a:solidFill>
            <a:prstDash val="solid"/>
          </a:ln>
        </p:spPr>
      </p:sp>
      <p:pic>
        <p:nvPicPr>
          <p:cNvPr id="21" name="Image 3" descr="preencoded.png">    </p:cNvPr>
          <p:cNvPicPr>
            <a:picLocks noChangeAspect="1"/>
          </p:cNvPicPr>
          <p:nvPr/>
        </p:nvPicPr>
        <p:blipFill>
          <a:blip r:embed="rId4"/>
          <a:stretch>
            <a:fillRect/>
          </a:stretch>
        </p:blipFill>
        <p:spPr>
          <a:xfrm>
            <a:off x="4164909" y="4164909"/>
            <a:ext cx="247254" cy="247254"/>
          </a:xfrm>
          <a:prstGeom prst="rect">
            <a:avLst/>
          </a:prstGeom>
        </p:spPr>
      </p:pic>
      <p:sp>
        <p:nvSpPr>
          <p:cNvPr id="22" name="Text 16"/>
          <p:cNvSpPr txBox="1"/>
          <p:nvPr/>
        </p:nvSpPr>
        <p:spPr>
          <a:xfrm>
            <a:off x="4050792" y="4663440"/>
            <a:ext cx="2606040" cy="320040"/>
          </a:xfrm>
          <a:prstGeom prst="rect">
            <a:avLst/>
          </a:prstGeom>
          <a:noFill/>
          <a:ln/>
        </p:spPr>
        <p:txBody>
          <a:bodyPr wrap="square" lIns="0" tIns="0" rIns="0" bIns="0" rtlCol="0" anchor="t"/>
          <a:lstStyle/>
          <a:p>
            <a:pPr indent="0" marL="0">
              <a:buNone/>
            </a:pPr>
            <a:r>
              <a:rPr lang="en-US" sz="1600" b="1" dirty="0">
                <a:solidFill>
                  <a:schemeClr val="tx1"/>
                </a:solidFill>
              </a:rPr>
              <a:t>Calendar &amp; reminders</a:t>
            </a:r>
            <a:endParaRPr lang="en-US" sz="1600" dirty="0"/>
          </a:p>
        </p:txBody>
      </p:sp>
      <p:sp>
        <p:nvSpPr>
          <p:cNvPr id="23" name="Text 17"/>
          <p:cNvSpPr txBox="1"/>
          <p:nvPr/>
        </p:nvSpPr>
        <p:spPr>
          <a:xfrm>
            <a:off x="4050792" y="5001768"/>
            <a:ext cx="2606040" cy="731520"/>
          </a:xfrm>
          <a:prstGeom prst="rect">
            <a:avLst/>
          </a:prstGeom>
          <a:noFill/>
          <a:ln/>
        </p:spPr>
        <p:txBody>
          <a:bodyPr wrap="square" lIns="0" tIns="0" rIns="0" bIns="0" rtlCol="0" anchor="t"/>
          <a:lstStyle/>
          <a:p>
            <a:pPr indent="0" marL="0">
              <a:buNone/>
            </a:pPr>
            <a:r>
              <a:rPr lang="en-US" sz="1300" dirty="0">
                <a:solidFill>
                  <a:schemeClr val="accent4"/>
                </a:solidFill>
              </a:rPr>
              <a:t>Holidays, events and exam dates; personal reminders with repeats.</a:t>
            </a:r>
            <a:endParaRPr lang="en-US" sz="1300" dirty="0"/>
          </a:p>
        </p:txBody>
      </p:sp>
      <p:sp>
        <p:nvSpPr>
          <p:cNvPr id="24" name="Notification engine"/>
          <p:cNvSpPr/>
          <p:nvPr/>
        </p:nvSpPr>
        <p:spPr>
          <a:xfrm>
            <a:off x="7315200" y="1645920"/>
            <a:ext cx="4315968" cy="4114800"/>
          </a:xfrm>
          <a:prstGeom prst="roundRect">
            <a:avLst>
              <a:gd name="adj" fmla="val 2667"/>
            </a:avLst>
          </a:prstGeom>
          <a:solidFill>
            <a:srgbClr val="0E1630"/>
          </a:solidFill>
          <a:ln w="12700">
            <a:solidFill>
              <a:srgbClr val="0E1630"/>
            </a:solidFill>
            <a:prstDash val="solid"/>
          </a:ln>
        </p:spPr>
      </p:sp>
      <p:sp>
        <p:nvSpPr>
          <p:cNvPr id="25" name="Text 19"/>
          <p:cNvSpPr txBox="1"/>
          <p:nvPr/>
        </p:nvSpPr>
        <p:spPr>
          <a:xfrm>
            <a:off x="7589520" y="1828800"/>
            <a:ext cx="3657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NOTIFICATION ENGINE</a:t>
            </a:r>
            <a:endParaRPr lang="en-US" sz="1200" dirty="0"/>
          </a:p>
        </p:txBody>
      </p:sp>
      <p:sp>
        <p:nvSpPr>
          <p:cNvPr id="26" name="Text 20"/>
          <p:cNvSpPr txBox="1"/>
          <p:nvPr/>
        </p:nvSpPr>
        <p:spPr>
          <a:xfrm>
            <a:off x="7589520" y="2148840"/>
            <a:ext cx="3840480" cy="320040"/>
          </a:xfrm>
          <a:prstGeom prst="rect">
            <a:avLst/>
          </a:prstGeom>
          <a:noFill/>
          <a:ln/>
        </p:spPr>
        <p:txBody>
          <a:bodyPr wrap="square" lIns="0" tIns="0" rIns="0" bIns="0" rtlCol="0" anchor="ctr"/>
          <a:lstStyle/>
          <a:p>
            <a:pPr indent="0" marL="0">
              <a:buNone/>
            </a:pPr>
            <a:r>
              <a:rPr lang="en-US" sz="1500" b="1" dirty="0">
                <a:solidFill>
                  <a:schemeClr val="bg1"/>
                </a:solidFill>
              </a:rPr>
              <a:t>20 school events, each switchable per school</a:t>
            </a:r>
            <a:endParaRPr lang="en-US" sz="1500" dirty="0"/>
          </a:p>
        </p:txBody>
      </p:sp>
      <p:sp>
        <p:nvSpPr>
          <p:cNvPr id="27" name="Shape 21"/>
          <p:cNvSpPr/>
          <p:nvPr/>
        </p:nvSpPr>
        <p:spPr>
          <a:xfrm>
            <a:off x="7589520" y="2697480"/>
            <a:ext cx="384048" cy="384048"/>
          </a:xfrm>
          <a:prstGeom prst="ellipse">
            <a:avLst/>
          </a:prstGeom>
          <a:solidFill>
            <a:srgbClr val="1C2747"/>
          </a:solidFill>
          <a:ln w="12700">
            <a:solidFill>
              <a:srgbClr val="1C2747"/>
            </a:solidFill>
            <a:prstDash val="solid"/>
          </a:ln>
        </p:spPr>
      </p:sp>
      <p:pic>
        <p:nvPicPr>
          <p:cNvPr id="28" name="Image 4" descr="preencoded.png">    </p:cNvPr>
          <p:cNvPicPr>
            <a:picLocks noChangeAspect="1"/>
          </p:cNvPicPr>
          <p:nvPr/>
        </p:nvPicPr>
        <p:blipFill>
          <a:blip r:embed="rId5"/>
          <a:stretch>
            <a:fillRect/>
          </a:stretch>
        </p:blipFill>
        <p:spPr>
          <a:xfrm>
            <a:off x="7681692" y="2789652"/>
            <a:ext cx="199705" cy="199705"/>
          </a:xfrm>
          <a:prstGeom prst="rect">
            <a:avLst/>
          </a:prstGeom>
        </p:spPr>
      </p:pic>
      <p:sp>
        <p:nvSpPr>
          <p:cNvPr id="29" name="Text 22"/>
          <p:cNvSpPr txBox="1"/>
          <p:nvPr/>
        </p:nvSpPr>
        <p:spPr>
          <a:xfrm>
            <a:off x="8138160" y="2734056"/>
            <a:ext cx="3291840" cy="329184"/>
          </a:xfrm>
          <a:prstGeom prst="rect">
            <a:avLst/>
          </a:prstGeom>
          <a:noFill/>
          <a:ln/>
        </p:spPr>
        <p:txBody>
          <a:bodyPr wrap="square" lIns="0" tIns="0" rIns="0" bIns="0" rtlCol="0" anchor="ctr"/>
          <a:lstStyle/>
          <a:p>
            <a:pPr indent="0" marL="0">
              <a:buNone/>
            </a:pPr>
            <a:r>
              <a:rPr lang="en-US" sz="1400" b="1" dirty="0">
                <a:solidFill>
                  <a:schemeClr val="bg1"/>
                </a:solidFill>
              </a:rPr>
              <a:t>In-app inbox</a:t>
            </a:r>
            <a:pPr indent="0" marL="0">
              <a:buNone/>
            </a:pPr>
            <a:r>
              <a:rPr lang="en-US" sz="1400" dirty="0">
                <a:solidFill>
                  <a:schemeClr val="accent5"/>
                </a:solidFill>
              </a:rPr>
              <a:t>  always</a:t>
            </a:r>
            <a:endParaRPr lang="en-US" sz="1400" dirty="0"/>
          </a:p>
        </p:txBody>
      </p:sp>
      <p:sp>
        <p:nvSpPr>
          <p:cNvPr id="30" name="Shape 23"/>
          <p:cNvSpPr/>
          <p:nvPr/>
        </p:nvSpPr>
        <p:spPr>
          <a:xfrm>
            <a:off x="7589520" y="3264408"/>
            <a:ext cx="384048" cy="384048"/>
          </a:xfrm>
          <a:prstGeom prst="ellipse">
            <a:avLst/>
          </a:prstGeom>
          <a:solidFill>
            <a:srgbClr val="1C2747"/>
          </a:solidFill>
          <a:ln w="12700">
            <a:solidFill>
              <a:srgbClr val="1C2747"/>
            </a:solidFill>
            <a:prstDash val="solid"/>
          </a:ln>
        </p:spPr>
      </p:sp>
      <p:pic>
        <p:nvPicPr>
          <p:cNvPr id="31" name="Image 5" descr="preencoded.png">    </p:cNvPr>
          <p:cNvPicPr>
            <a:picLocks noChangeAspect="1"/>
          </p:cNvPicPr>
          <p:nvPr/>
        </p:nvPicPr>
        <p:blipFill>
          <a:blip r:embed="rId6"/>
          <a:stretch>
            <a:fillRect/>
          </a:stretch>
        </p:blipFill>
        <p:spPr>
          <a:xfrm>
            <a:off x="7681692" y="3356580"/>
            <a:ext cx="199705" cy="199705"/>
          </a:xfrm>
          <a:prstGeom prst="rect">
            <a:avLst/>
          </a:prstGeom>
        </p:spPr>
      </p:pic>
      <p:sp>
        <p:nvSpPr>
          <p:cNvPr id="32" name="Text 24"/>
          <p:cNvSpPr txBox="1"/>
          <p:nvPr/>
        </p:nvSpPr>
        <p:spPr>
          <a:xfrm>
            <a:off x="8138160" y="3300984"/>
            <a:ext cx="3291840" cy="329184"/>
          </a:xfrm>
          <a:prstGeom prst="rect">
            <a:avLst/>
          </a:prstGeom>
          <a:noFill/>
          <a:ln/>
        </p:spPr>
        <p:txBody>
          <a:bodyPr wrap="square" lIns="0" tIns="0" rIns="0" bIns="0" rtlCol="0" anchor="ctr"/>
          <a:lstStyle/>
          <a:p>
            <a:pPr indent="0" marL="0">
              <a:buNone/>
            </a:pPr>
            <a:r>
              <a:rPr lang="en-US" sz="1400" b="1" dirty="0">
                <a:solidFill>
                  <a:schemeClr val="bg1"/>
                </a:solidFill>
              </a:rPr>
              <a:t>App push</a:t>
            </a:r>
            <a:pPr indent="0" marL="0">
              <a:buNone/>
            </a:pPr>
            <a:r>
              <a:rPr lang="en-US" sz="1400" dirty="0">
                <a:solidFill>
                  <a:schemeClr val="accent5"/>
                </a:solidFill>
              </a:rPr>
              <a:t>  Firebase</a:t>
            </a:r>
            <a:endParaRPr lang="en-US" sz="1400" dirty="0"/>
          </a:p>
        </p:txBody>
      </p:sp>
      <p:sp>
        <p:nvSpPr>
          <p:cNvPr id="33" name="Shape 25"/>
          <p:cNvSpPr/>
          <p:nvPr/>
        </p:nvSpPr>
        <p:spPr>
          <a:xfrm>
            <a:off x="7589520" y="3831336"/>
            <a:ext cx="384048" cy="384048"/>
          </a:xfrm>
          <a:prstGeom prst="ellipse">
            <a:avLst/>
          </a:prstGeom>
          <a:solidFill>
            <a:srgbClr val="1C2747"/>
          </a:solidFill>
          <a:ln w="12700">
            <a:solidFill>
              <a:srgbClr val="1C2747"/>
            </a:solidFill>
            <a:prstDash val="solid"/>
          </a:ln>
        </p:spPr>
      </p:sp>
      <p:pic>
        <p:nvPicPr>
          <p:cNvPr id="34" name="Image 6" descr="preencoded.png">    </p:cNvPr>
          <p:cNvPicPr>
            <a:picLocks noChangeAspect="1"/>
          </p:cNvPicPr>
          <p:nvPr/>
        </p:nvPicPr>
        <p:blipFill>
          <a:blip r:embed="rId7"/>
          <a:stretch>
            <a:fillRect/>
          </a:stretch>
        </p:blipFill>
        <p:spPr>
          <a:xfrm>
            <a:off x="7681692" y="3923508"/>
            <a:ext cx="199705" cy="199705"/>
          </a:xfrm>
          <a:prstGeom prst="rect">
            <a:avLst/>
          </a:prstGeom>
        </p:spPr>
      </p:pic>
      <p:sp>
        <p:nvSpPr>
          <p:cNvPr id="35" name="Text 26"/>
          <p:cNvSpPr txBox="1"/>
          <p:nvPr/>
        </p:nvSpPr>
        <p:spPr>
          <a:xfrm>
            <a:off x="8138160" y="3867912"/>
            <a:ext cx="3291840" cy="329184"/>
          </a:xfrm>
          <a:prstGeom prst="rect">
            <a:avLst/>
          </a:prstGeom>
          <a:noFill/>
          <a:ln/>
        </p:spPr>
        <p:txBody>
          <a:bodyPr wrap="square" lIns="0" tIns="0" rIns="0" bIns="0" rtlCol="0" anchor="ctr"/>
          <a:lstStyle/>
          <a:p>
            <a:pPr indent="0" marL="0">
              <a:buNone/>
            </a:pPr>
            <a:r>
              <a:rPr lang="en-US" sz="1400" b="1" dirty="0">
                <a:solidFill>
                  <a:schemeClr val="bg1"/>
                </a:solidFill>
              </a:rPr>
              <a:t>SMS</a:t>
            </a:r>
            <a:pPr indent="0" marL="0">
              <a:buNone/>
            </a:pPr>
            <a:r>
              <a:rPr lang="en-US" sz="1400" dirty="0">
                <a:solidFill>
                  <a:schemeClr val="accent5"/>
                </a:solidFill>
              </a:rPr>
              <a:t>  MSG91, optional</a:t>
            </a:r>
            <a:endParaRPr lang="en-US" sz="1400" dirty="0"/>
          </a:p>
        </p:txBody>
      </p:sp>
      <p:sp>
        <p:nvSpPr>
          <p:cNvPr id="36" name="Shape 27"/>
          <p:cNvSpPr/>
          <p:nvPr/>
        </p:nvSpPr>
        <p:spPr>
          <a:xfrm>
            <a:off x="7589520" y="4398264"/>
            <a:ext cx="384048" cy="384048"/>
          </a:xfrm>
          <a:prstGeom prst="ellipse">
            <a:avLst/>
          </a:prstGeom>
          <a:solidFill>
            <a:srgbClr val="1C2747"/>
          </a:solidFill>
          <a:ln w="12700">
            <a:solidFill>
              <a:srgbClr val="1C2747"/>
            </a:solidFill>
            <a:prstDash val="solid"/>
          </a:ln>
        </p:spPr>
      </p:sp>
      <p:pic>
        <p:nvPicPr>
          <p:cNvPr id="37" name="Image 7" descr="preencoded.png">    </p:cNvPr>
          <p:cNvPicPr>
            <a:picLocks noChangeAspect="1"/>
          </p:cNvPicPr>
          <p:nvPr/>
        </p:nvPicPr>
        <p:blipFill>
          <a:blip r:embed="rId8"/>
          <a:stretch>
            <a:fillRect/>
          </a:stretch>
        </p:blipFill>
        <p:spPr>
          <a:xfrm>
            <a:off x="7681692" y="4490436"/>
            <a:ext cx="199705" cy="199705"/>
          </a:xfrm>
          <a:prstGeom prst="rect">
            <a:avLst/>
          </a:prstGeom>
        </p:spPr>
      </p:pic>
      <p:sp>
        <p:nvSpPr>
          <p:cNvPr id="38" name="Text 28"/>
          <p:cNvSpPr txBox="1"/>
          <p:nvPr/>
        </p:nvSpPr>
        <p:spPr>
          <a:xfrm>
            <a:off x="8138160" y="4434840"/>
            <a:ext cx="3291840" cy="329184"/>
          </a:xfrm>
          <a:prstGeom prst="rect">
            <a:avLst/>
          </a:prstGeom>
          <a:noFill/>
          <a:ln/>
        </p:spPr>
        <p:txBody>
          <a:bodyPr wrap="square" lIns="0" tIns="0" rIns="0" bIns="0" rtlCol="0" anchor="ctr"/>
          <a:lstStyle/>
          <a:p>
            <a:pPr indent="0" marL="0">
              <a:buNone/>
            </a:pPr>
            <a:r>
              <a:rPr lang="en-US" sz="1400" b="1" dirty="0">
                <a:solidFill>
                  <a:schemeClr val="bg1"/>
                </a:solidFill>
              </a:rPr>
              <a:t>Email</a:t>
            </a:r>
            <a:pPr indent="0" marL="0">
              <a:buNone/>
            </a:pPr>
            <a:r>
              <a:rPr lang="en-US" sz="1400" dirty="0">
                <a:solidFill>
                  <a:schemeClr val="accent5"/>
                </a:solidFill>
              </a:rPr>
              <a:t>  optional</a:t>
            </a:r>
            <a:endParaRPr lang="en-US" sz="1400" dirty="0"/>
          </a:p>
        </p:txBody>
      </p:sp>
      <p:sp>
        <p:nvSpPr>
          <p:cNvPr id="39" name="Text 29"/>
          <p:cNvSpPr txBox="1"/>
          <p:nvPr/>
        </p:nvSpPr>
        <p:spPr>
          <a:xfrm>
            <a:off x="7589520" y="4983480"/>
            <a:ext cx="3794760" cy="685800"/>
          </a:xfrm>
          <a:prstGeom prst="rect">
            <a:avLst/>
          </a:prstGeom>
          <a:noFill/>
          <a:ln/>
        </p:spPr>
        <p:txBody>
          <a:bodyPr wrap="square" lIns="0" tIns="0" rIns="0" bIns="0" rtlCol="0" anchor="t"/>
          <a:lstStyle/>
          <a:p>
            <a:pPr indent="0" marL="0">
              <a:buNone/>
            </a:pPr>
            <a:r>
              <a:rPr lang="en-US" sz="1200" dirty="0">
                <a:solidFill>
                  <a:schemeClr val="accent5"/>
                </a:solidFill>
              </a:rPr>
              <a:t>Quiet hours (9 pm–7 am by default) hold pushes and SMS until morning. A daily SMS limit keeps costs predictable.</a:t>
            </a:r>
            <a:endParaRPr lang="en-US" sz="12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USER JOURNEY</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From signed contract to live school, guided step by step</a:t>
            </a:r>
            <a:endParaRPr lang="en-US" sz="3000" dirty="0"/>
          </a:p>
        </p:txBody>
      </p:sp>
      <p:sp>
        <p:nvSpPr>
          <p:cNvPr id="4" name="Journey step 1"/>
          <p:cNvSpPr/>
          <p:nvPr/>
        </p:nvSpPr>
        <p:spPr>
          <a:xfrm>
            <a:off x="548640" y="1691640"/>
            <a:ext cx="2057400" cy="2011680"/>
          </a:xfrm>
          <a:prstGeom prst="roundRect">
            <a:avLst>
              <a:gd name="adj" fmla="val 5455"/>
            </a:avLst>
          </a:prstGeom>
          <a:solidFill>
            <a:srgbClr val="F3F6FC"/>
          </a:solidFill>
          <a:ln w="12700">
            <a:solidFill>
              <a:srgbClr val="F3F6FC"/>
            </a:solidFill>
            <a:prstDash val="solid"/>
          </a:ln>
        </p:spPr>
      </p:sp>
      <p:sp>
        <p:nvSpPr>
          <p:cNvPr id="5" name="Shape 3"/>
          <p:cNvSpPr/>
          <p:nvPr/>
        </p:nvSpPr>
        <p:spPr>
          <a:xfrm>
            <a:off x="777240" y="1920240"/>
            <a:ext cx="457200" cy="457200"/>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886968" y="2029968"/>
            <a:ext cx="237744" cy="237744"/>
          </a:xfrm>
          <a:prstGeom prst="rect">
            <a:avLst/>
          </a:prstGeom>
        </p:spPr>
      </p:pic>
      <p:sp>
        <p:nvSpPr>
          <p:cNvPr id="7" name="Text 4"/>
          <p:cNvSpPr txBox="1"/>
          <p:nvPr/>
        </p:nvSpPr>
        <p:spPr>
          <a:xfrm>
            <a:off x="777240" y="2514600"/>
            <a:ext cx="1691640" cy="320040"/>
          </a:xfrm>
          <a:prstGeom prst="rect">
            <a:avLst/>
          </a:prstGeom>
          <a:noFill/>
          <a:ln/>
        </p:spPr>
        <p:txBody>
          <a:bodyPr wrap="square" lIns="0" tIns="0" rIns="0" bIns="0" rtlCol="0" anchor="ctr"/>
          <a:lstStyle/>
          <a:p>
            <a:pPr indent="0" marL="0">
              <a:buNone/>
            </a:pPr>
            <a:r>
              <a:rPr lang="en-US" sz="1600" b="1" dirty="0">
                <a:solidFill>
                  <a:schemeClr val="tx1"/>
                </a:solidFill>
              </a:rPr>
              <a:t>Create school</a:t>
            </a:r>
            <a:endParaRPr lang="en-US" sz="1600" dirty="0"/>
          </a:p>
        </p:txBody>
      </p:sp>
      <p:sp>
        <p:nvSpPr>
          <p:cNvPr id="8" name="Text 5"/>
          <p:cNvSpPr txBox="1"/>
          <p:nvPr/>
        </p:nvSpPr>
        <p:spPr>
          <a:xfrm>
            <a:off x="777240" y="2852928"/>
            <a:ext cx="1691640" cy="777240"/>
          </a:xfrm>
          <a:prstGeom prst="rect">
            <a:avLst/>
          </a:prstGeom>
          <a:noFill/>
          <a:ln/>
        </p:spPr>
        <p:txBody>
          <a:bodyPr wrap="square" lIns="0" tIns="0" rIns="0" bIns="0" rtlCol="0" anchor="t"/>
          <a:lstStyle/>
          <a:p>
            <a:pPr indent="0" marL="0">
              <a:buNone/>
            </a:pPr>
            <a:r>
              <a:rPr lang="en-US" sz="1200" dirty="0">
                <a:solidFill>
                  <a:schemeClr val="accent4"/>
                </a:solidFill>
              </a:rPr>
              <a:t>Bastaa console: name, web address, plan</a:t>
            </a:r>
            <a:endParaRPr lang="en-US" sz="1200" dirty="0"/>
          </a:p>
        </p:txBody>
      </p:sp>
      <p:pic>
        <p:nvPicPr>
          <p:cNvPr id="9" name="Image 1" descr="preencoded.png">    </p:cNvPr>
          <p:cNvPicPr>
            <a:picLocks noChangeAspect="1"/>
          </p:cNvPicPr>
          <p:nvPr/>
        </p:nvPicPr>
        <p:blipFill>
          <a:blip r:embed="rId2"/>
          <a:stretch>
            <a:fillRect/>
          </a:stretch>
        </p:blipFill>
        <p:spPr>
          <a:xfrm>
            <a:off x="2624328" y="2560320"/>
            <a:ext cx="201168" cy="201168"/>
          </a:xfrm>
          <a:prstGeom prst="rect">
            <a:avLst/>
          </a:prstGeom>
        </p:spPr>
      </p:pic>
      <p:sp>
        <p:nvSpPr>
          <p:cNvPr id="10" name="Journey step 2"/>
          <p:cNvSpPr/>
          <p:nvPr/>
        </p:nvSpPr>
        <p:spPr>
          <a:xfrm>
            <a:off x="2834640" y="1691640"/>
            <a:ext cx="2057400" cy="2011680"/>
          </a:xfrm>
          <a:prstGeom prst="roundRect">
            <a:avLst>
              <a:gd name="adj" fmla="val 5455"/>
            </a:avLst>
          </a:prstGeom>
          <a:solidFill>
            <a:srgbClr val="F3F6FC"/>
          </a:solidFill>
          <a:ln w="12700">
            <a:solidFill>
              <a:srgbClr val="F3F6FC"/>
            </a:solidFill>
            <a:prstDash val="solid"/>
          </a:ln>
        </p:spPr>
      </p:sp>
      <p:sp>
        <p:nvSpPr>
          <p:cNvPr id="11" name="Shape 7"/>
          <p:cNvSpPr/>
          <p:nvPr/>
        </p:nvSpPr>
        <p:spPr>
          <a:xfrm>
            <a:off x="3063240" y="1920240"/>
            <a:ext cx="457200" cy="457200"/>
          </a:xfrm>
          <a:prstGeom prst="ellipse">
            <a:avLst/>
          </a:prstGeom>
          <a:solidFill>
            <a:srgbClr val="2F6FEB"/>
          </a:solidFill>
          <a:ln w="12700">
            <a:solidFill>
              <a:srgbClr val="2F6FEB"/>
            </a:solidFill>
            <a:prstDash val="solid"/>
          </a:ln>
        </p:spPr>
      </p:sp>
      <p:pic>
        <p:nvPicPr>
          <p:cNvPr id="12" name="Image 2" descr="preencoded.png">    </p:cNvPr>
          <p:cNvPicPr>
            <a:picLocks noChangeAspect="1"/>
          </p:cNvPicPr>
          <p:nvPr/>
        </p:nvPicPr>
        <p:blipFill>
          <a:blip r:embed="rId3"/>
          <a:stretch>
            <a:fillRect/>
          </a:stretch>
        </p:blipFill>
        <p:spPr>
          <a:xfrm>
            <a:off x="3172968" y="2029968"/>
            <a:ext cx="237744" cy="237744"/>
          </a:xfrm>
          <a:prstGeom prst="rect">
            <a:avLst/>
          </a:prstGeom>
        </p:spPr>
      </p:pic>
      <p:sp>
        <p:nvSpPr>
          <p:cNvPr id="13" name="Text 8"/>
          <p:cNvSpPr txBox="1"/>
          <p:nvPr/>
        </p:nvSpPr>
        <p:spPr>
          <a:xfrm>
            <a:off x="3063240" y="2514600"/>
            <a:ext cx="1691640" cy="320040"/>
          </a:xfrm>
          <a:prstGeom prst="rect">
            <a:avLst/>
          </a:prstGeom>
          <a:noFill/>
          <a:ln/>
        </p:spPr>
        <p:txBody>
          <a:bodyPr wrap="square" lIns="0" tIns="0" rIns="0" bIns="0" rtlCol="0" anchor="ctr"/>
          <a:lstStyle/>
          <a:p>
            <a:pPr indent="0" marL="0">
              <a:buNone/>
            </a:pPr>
            <a:r>
              <a:rPr lang="en-US" sz="1600" b="1" dirty="0">
                <a:solidFill>
                  <a:schemeClr val="tx1"/>
                </a:solidFill>
              </a:rPr>
              <a:t>Setup wizard</a:t>
            </a:r>
            <a:endParaRPr lang="en-US" sz="1600" dirty="0"/>
          </a:p>
        </p:txBody>
      </p:sp>
      <p:sp>
        <p:nvSpPr>
          <p:cNvPr id="14" name="Text 9"/>
          <p:cNvSpPr txBox="1"/>
          <p:nvPr/>
        </p:nvSpPr>
        <p:spPr>
          <a:xfrm>
            <a:off x="3063240" y="2852928"/>
            <a:ext cx="1691640" cy="777240"/>
          </a:xfrm>
          <a:prstGeom prst="rect">
            <a:avLst/>
          </a:prstGeom>
          <a:noFill/>
          <a:ln/>
        </p:spPr>
        <p:txBody>
          <a:bodyPr wrap="square" lIns="0" tIns="0" rIns="0" bIns="0" rtlCol="0" anchor="t"/>
          <a:lstStyle/>
          <a:p>
            <a:pPr indent="0" marL="0">
              <a:buNone/>
            </a:pPr>
            <a:r>
              <a:rPr lang="en-US" sz="1200" dirty="0">
                <a:solidFill>
                  <a:schemeClr val="accent4"/>
                </a:solidFill>
              </a:rPr>
              <a:t>10 steps: year, classes, sections, subjects…</a:t>
            </a:r>
            <a:endParaRPr lang="en-US" sz="1200" dirty="0"/>
          </a:p>
        </p:txBody>
      </p:sp>
      <p:pic>
        <p:nvPicPr>
          <p:cNvPr id="15" name="Image 3" descr="preencoded.png">    </p:cNvPr>
          <p:cNvPicPr>
            <a:picLocks noChangeAspect="1"/>
          </p:cNvPicPr>
          <p:nvPr/>
        </p:nvPicPr>
        <p:blipFill>
          <a:blip r:embed="rId4"/>
          <a:stretch>
            <a:fillRect/>
          </a:stretch>
        </p:blipFill>
        <p:spPr>
          <a:xfrm>
            <a:off x="4910328" y="2560320"/>
            <a:ext cx="201168" cy="201168"/>
          </a:xfrm>
          <a:prstGeom prst="rect">
            <a:avLst/>
          </a:prstGeom>
        </p:spPr>
      </p:pic>
      <p:sp>
        <p:nvSpPr>
          <p:cNvPr id="16" name="Journey step 3"/>
          <p:cNvSpPr/>
          <p:nvPr/>
        </p:nvSpPr>
        <p:spPr>
          <a:xfrm>
            <a:off x="5120640" y="1691640"/>
            <a:ext cx="2057400" cy="2011680"/>
          </a:xfrm>
          <a:prstGeom prst="roundRect">
            <a:avLst>
              <a:gd name="adj" fmla="val 5455"/>
            </a:avLst>
          </a:prstGeom>
          <a:solidFill>
            <a:srgbClr val="F3F6FC"/>
          </a:solidFill>
          <a:ln w="12700">
            <a:solidFill>
              <a:srgbClr val="F3F6FC"/>
            </a:solidFill>
            <a:prstDash val="solid"/>
          </a:ln>
        </p:spPr>
      </p:sp>
      <p:sp>
        <p:nvSpPr>
          <p:cNvPr id="17" name="Shape 11"/>
          <p:cNvSpPr/>
          <p:nvPr/>
        </p:nvSpPr>
        <p:spPr>
          <a:xfrm>
            <a:off x="5349240" y="1920240"/>
            <a:ext cx="457200" cy="457200"/>
          </a:xfrm>
          <a:prstGeom prst="ellipse">
            <a:avLst/>
          </a:prstGeom>
          <a:solidFill>
            <a:srgbClr val="2F6FEB"/>
          </a:solidFill>
          <a:ln w="12700">
            <a:solidFill>
              <a:srgbClr val="2F6FEB"/>
            </a:solidFill>
            <a:prstDash val="solid"/>
          </a:ln>
        </p:spPr>
      </p:sp>
      <p:pic>
        <p:nvPicPr>
          <p:cNvPr id="18" name="Image 4" descr="preencoded.png">    </p:cNvPr>
          <p:cNvPicPr>
            <a:picLocks noChangeAspect="1"/>
          </p:cNvPicPr>
          <p:nvPr/>
        </p:nvPicPr>
        <p:blipFill>
          <a:blip r:embed="rId5"/>
          <a:stretch>
            <a:fillRect/>
          </a:stretch>
        </p:blipFill>
        <p:spPr>
          <a:xfrm>
            <a:off x="5458968" y="2029968"/>
            <a:ext cx="237744" cy="237744"/>
          </a:xfrm>
          <a:prstGeom prst="rect">
            <a:avLst/>
          </a:prstGeom>
        </p:spPr>
      </p:pic>
      <p:sp>
        <p:nvSpPr>
          <p:cNvPr id="19" name="Text 12"/>
          <p:cNvSpPr txBox="1"/>
          <p:nvPr/>
        </p:nvSpPr>
        <p:spPr>
          <a:xfrm>
            <a:off x="5349240" y="2514600"/>
            <a:ext cx="1691640" cy="320040"/>
          </a:xfrm>
          <a:prstGeom prst="rect">
            <a:avLst/>
          </a:prstGeom>
          <a:noFill/>
          <a:ln/>
        </p:spPr>
        <p:txBody>
          <a:bodyPr wrap="square" lIns="0" tIns="0" rIns="0" bIns="0" rtlCol="0" anchor="ctr"/>
          <a:lstStyle/>
          <a:p>
            <a:pPr indent="0" marL="0">
              <a:buNone/>
            </a:pPr>
            <a:r>
              <a:rPr lang="en-US" sz="1600" b="1" dirty="0">
                <a:solidFill>
                  <a:schemeClr val="tx1"/>
                </a:solidFill>
              </a:rPr>
              <a:t>Excel import</a:t>
            </a:r>
            <a:endParaRPr lang="en-US" sz="1600" dirty="0"/>
          </a:p>
        </p:txBody>
      </p:sp>
      <p:sp>
        <p:nvSpPr>
          <p:cNvPr id="20" name="Text 13"/>
          <p:cNvSpPr txBox="1"/>
          <p:nvPr/>
        </p:nvSpPr>
        <p:spPr>
          <a:xfrm>
            <a:off x="5349240" y="2852928"/>
            <a:ext cx="1691640" cy="777240"/>
          </a:xfrm>
          <a:prstGeom prst="rect">
            <a:avLst/>
          </a:prstGeom>
          <a:noFill/>
          <a:ln/>
        </p:spPr>
        <p:txBody>
          <a:bodyPr wrap="square" lIns="0" tIns="0" rIns="0" bIns="0" rtlCol="0" anchor="t"/>
          <a:lstStyle/>
          <a:p>
            <a:pPr indent="0" marL="0">
              <a:buNone/>
            </a:pPr>
            <a:r>
              <a:rPr lang="en-US" sz="1200" dirty="0">
                <a:solidFill>
                  <a:schemeClr val="accent4"/>
                </a:solidFill>
              </a:rPr>
              <a:t>Students, parents, teachers, fees; rows checked first</a:t>
            </a:r>
            <a:endParaRPr lang="en-US" sz="1200" dirty="0"/>
          </a:p>
        </p:txBody>
      </p:sp>
      <p:pic>
        <p:nvPicPr>
          <p:cNvPr id="21" name="Image 5" descr="preencoded.png">    </p:cNvPr>
          <p:cNvPicPr>
            <a:picLocks noChangeAspect="1"/>
          </p:cNvPicPr>
          <p:nvPr/>
        </p:nvPicPr>
        <p:blipFill>
          <a:blip r:embed="rId6"/>
          <a:stretch>
            <a:fillRect/>
          </a:stretch>
        </p:blipFill>
        <p:spPr>
          <a:xfrm>
            <a:off x="7196328" y="2560320"/>
            <a:ext cx="201168" cy="201168"/>
          </a:xfrm>
          <a:prstGeom prst="rect">
            <a:avLst/>
          </a:prstGeom>
        </p:spPr>
      </p:pic>
      <p:sp>
        <p:nvSpPr>
          <p:cNvPr id="22" name="Journey step 4"/>
          <p:cNvSpPr/>
          <p:nvPr/>
        </p:nvSpPr>
        <p:spPr>
          <a:xfrm>
            <a:off x="7406640" y="1691640"/>
            <a:ext cx="2057400" cy="2011680"/>
          </a:xfrm>
          <a:prstGeom prst="roundRect">
            <a:avLst>
              <a:gd name="adj" fmla="val 5455"/>
            </a:avLst>
          </a:prstGeom>
          <a:solidFill>
            <a:srgbClr val="F3F6FC"/>
          </a:solidFill>
          <a:ln w="12700">
            <a:solidFill>
              <a:srgbClr val="F3F6FC"/>
            </a:solidFill>
            <a:prstDash val="solid"/>
          </a:ln>
        </p:spPr>
      </p:sp>
      <p:sp>
        <p:nvSpPr>
          <p:cNvPr id="23" name="Shape 15"/>
          <p:cNvSpPr/>
          <p:nvPr/>
        </p:nvSpPr>
        <p:spPr>
          <a:xfrm>
            <a:off x="7635240" y="1920240"/>
            <a:ext cx="457200" cy="457200"/>
          </a:xfrm>
          <a:prstGeom prst="ellipse">
            <a:avLst/>
          </a:prstGeom>
          <a:solidFill>
            <a:srgbClr val="2F6FEB"/>
          </a:solidFill>
          <a:ln w="12700">
            <a:solidFill>
              <a:srgbClr val="2F6FEB"/>
            </a:solidFill>
            <a:prstDash val="solid"/>
          </a:ln>
        </p:spPr>
      </p:sp>
      <p:pic>
        <p:nvPicPr>
          <p:cNvPr id="24" name="Image 6" descr="preencoded.png">    </p:cNvPr>
          <p:cNvPicPr>
            <a:picLocks noChangeAspect="1"/>
          </p:cNvPicPr>
          <p:nvPr/>
        </p:nvPicPr>
        <p:blipFill>
          <a:blip r:embed="rId7"/>
          <a:stretch>
            <a:fillRect/>
          </a:stretch>
        </p:blipFill>
        <p:spPr>
          <a:xfrm>
            <a:off x="7744968" y="2029968"/>
            <a:ext cx="237744" cy="237744"/>
          </a:xfrm>
          <a:prstGeom prst="rect">
            <a:avLst/>
          </a:prstGeom>
        </p:spPr>
      </p:pic>
      <p:sp>
        <p:nvSpPr>
          <p:cNvPr id="25" name="Text 16"/>
          <p:cNvSpPr txBox="1"/>
          <p:nvPr/>
        </p:nvSpPr>
        <p:spPr>
          <a:xfrm>
            <a:off x="7635240" y="2514600"/>
            <a:ext cx="1691640" cy="320040"/>
          </a:xfrm>
          <a:prstGeom prst="rect">
            <a:avLst/>
          </a:prstGeom>
          <a:noFill/>
          <a:ln/>
        </p:spPr>
        <p:txBody>
          <a:bodyPr wrap="square" lIns="0" tIns="0" rIns="0" bIns="0" rtlCol="0" anchor="ctr"/>
          <a:lstStyle/>
          <a:p>
            <a:pPr indent="0" marL="0">
              <a:buNone/>
            </a:pPr>
            <a:r>
              <a:rPr lang="en-US" sz="1600" b="1" dirty="0">
                <a:solidFill>
                  <a:schemeClr val="tx1"/>
                </a:solidFill>
              </a:rPr>
              <a:t>Invite people</a:t>
            </a:r>
            <a:endParaRPr lang="en-US" sz="1600" dirty="0"/>
          </a:p>
        </p:txBody>
      </p:sp>
      <p:sp>
        <p:nvSpPr>
          <p:cNvPr id="26" name="Text 17"/>
          <p:cNvSpPr txBox="1"/>
          <p:nvPr/>
        </p:nvSpPr>
        <p:spPr>
          <a:xfrm>
            <a:off x="7635240" y="2852928"/>
            <a:ext cx="1691640" cy="777240"/>
          </a:xfrm>
          <a:prstGeom prst="rect">
            <a:avLst/>
          </a:prstGeom>
          <a:noFill/>
          <a:ln/>
        </p:spPr>
        <p:txBody>
          <a:bodyPr wrap="square" lIns="0" tIns="0" rIns="0" bIns="0" rtlCol="0" anchor="t"/>
          <a:lstStyle/>
          <a:p>
            <a:pPr indent="0" marL="0">
              <a:buNone/>
            </a:pPr>
            <a:r>
              <a:rPr lang="en-US" sz="1200" dirty="0">
                <a:solidFill>
                  <a:schemeClr val="accent4"/>
                </a:solidFill>
              </a:rPr>
              <a:t>Logins by SMS code or a code from the office</a:t>
            </a:r>
            <a:endParaRPr lang="en-US" sz="1200" dirty="0"/>
          </a:p>
        </p:txBody>
      </p:sp>
      <p:pic>
        <p:nvPicPr>
          <p:cNvPr id="27" name="Image 7" descr="preencoded.png">    </p:cNvPr>
          <p:cNvPicPr>
            <a:picLocks noChangeAspect="1"/>
          </p:cNvPicPr>
          <p:nvPr/>
        </p:nvPicPr>
        <p:blipFill>
          <a:blip r:embed="rId8"/>
          <a:stretch>
            <a:fillRect/>
          </a:stretch>
        </p:blipFill>
        <p:spPr>
          <a:xfrm>
            <a:off x="9482328" y="2560320"/>
            <a:ext cx="201168" cy="201168"/>
          </a:xfrm>
          <a:prstGeom prst="rect">
            <a:avLst/>
          </a:prstGeom>
        </p:spPr>
      </p:pic>
      <p:sp>
        <p:nvSpPr>
          <p:cNvPr id="28" name="Journey step 5"/>
          <p:cNvSpPr/>
          <p:nvPr/>
        </p:nvSpPr>
        <p:spPr>
          <a:xfrm>
            <a:off x="9692640" y="1691640"/>
            <a:ext cx="2057400" cy="2011680"/>
          </a:xfrm>
          <a:prstGeom prst="roundRect">
            <a:avLst>
              <a:gd name="adj" fmla="val 5455"/>
            </a:avLst>
          </a:prstGeom>
          <a:solidFill>
            <a:srgbClr val="2F6FEB"/>
          </a:solidFill>
          <a:ln w="12700">
            <a:solidFill>
              <a:srgbClr val="F3F6FC"/>
            </a:solidFill>
            <a:prstDash val="solid"/>
          </a:ln>
        </p:spPr>
      </p:sp>
      <p:sp>
        <p:nvSpPr>
          <p:cNvPr id="29" name="Shape 19"/>
          <p:cNvSpPr/>
          <p:nvPr/>
        </p:nvSpPr>
        <p:spPr>
          <a:xfrm>
            <a:off x="9921240" y="1920240"/>
            <a:ext cx="457200" cy="457200"/>
          </a:xfrm>
          <a:prstGeom prst="ellipse">
            <a:avLst/>
          </a:prstGeom>
          <a:solidFill>
            <a:srgbClr val="FFFFFF"/>
          </a:solidFill>
          <a:ln w="12700">
            <a:solidFill>
              <a:srgbClr val="FFFFFF"/>
            </a:solidFill>
            <a:prstDash val="solid"/>
          </a:ln>
        </p:spPr>
      </p:sp>
      <p:pic>
        <p:nvPicPr>
          <p:cNvPr id="30" name="Image 8" descr="preencoded.png">    </p:cNvPr>
          <p:cNvPicPr>
            <a:picLocks noChangeAspect="1"/>
          </p:cNvPicPr>
          <p:nvPr/>
        </p:nvPicPr>
        <p:blipFill>
          <a:blip r:embed="rId9"/>
          <a:stretch>
            <a:fillRect/>
          </a:stretch>
        </p:blipFill>
        <p:spPr>
          <a:xfrm>
            <a:off x="10030968" y="2029968"/>
            <a:ext cx="237744" cy="237744"/>
          </a:xfrm>
          <a:prstGeom prst="rect">
            <a:avLst/>
          </a:prstGeom>
        </p:spPr>
      </p:pic>
      <p:sp>
        <p:nvSpPr>
          <p:cNvPr id="31" name="Text 20"/>
          <p:cNvSpPr txBox="1"/>
          <p:nvPr/>
        </p:nvSpPr>
        <p:spPr>
          <a:xfrm>
            <a:off x="9921240" y="2514600"/>
            <a:ext cx="1691640" cy="320040"/>
          </a:xfrm>
          <a:prstGeom prst="rect">
            <a:avLst/>
          </a:prstGeom>
          <a:noFill/>
          <a:ln/>
        </p:spPr>
        <p:txBody>
          <a:bodyPr wrap="square" lIns="0" tIns="0" rIns="0" bIns="0" rtlCol="0" anchor="ctr"/>
          <a:lstStyle/>
          <a:p>
            <a:pPr indent="0" marL="0">
              <a:buNone/>
            </a:pPr>
            <a:r>
              <a:rPr lang="en-US" sz="1600" b="1" dirty="0">
                <a:solidFill>
                  <a:schemeClr val="bg1"/>
                </a:solidFill>
              </a:rPr>
              <a:t>Go live</a:t>
            </a:r>
            <a:endParaRPr lang="en-US" sz="1600" dirty="0"/>
          </a:p>
        </p:txBody>
      </p:sp>
      <p:sp>
        <p:nvSpPr>
          <p:cNvPr id="32" name="Text 21"/>
          <p:cNvSpPr txBox="1"/>
          <p:nvPr/>
        </p:nvSpPr>
        <p:spPr>
          <a:xfrm>
            <a:off x="9921240" y="2852928"/>
            <a:ext cx="1691640" cy="777240"/>
          </a:xfrm>
          <a:prstGeom prst="rect">
            <a:avLst/>
          </a:prstGeom>
          <a:noFill/>
          <a:ln/>
        </p:spPr>
        <p:txBody>
          <a:bodyPr wrap="square" lIns="0" tIns="0" rIns="0" bIns="0" rtlCol="0" anchor="t"/>
          <a:lstStyle/>
          <a:p>
            <a:pPr indent="0" marL="0">
              <a:buNone/>
            </a:pPr>
            <a:r>
              <a:rPr lang="en-US" sz="1200" dirty="0">
                <a:solidFill>
                  <a:schemeClr val="bg1"/>
                </a:solidFill>
              </a:rPr>
              <a:t>Checklist must pass first</a:t>
            </a:r>
            <a:endParaRPr lang="en-US" sz="1200" dirty="0"/>
          </a:p>
        </p:txBody>
      </p:sp>
      <p:sp>
        <p:nvSpPr>
          <p:cNvPr id="33" name="Setup wizard go-live checklist frame"/>
          <p:cNvSpPr/>
          <p:nvPr/>
        </p:nvSpPr>
        <p:spPr>
          <a:xfrm>
            <a:off x="548640" y="3977640"/>
            <a:ext cx="3291840" cy="2295144"/>
          </a:xfrm>
          <a:prstGeom prst="roundRect">
            <a:avLst>
              <a:gd name="adj" fmla="val 3187"/>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34" name="Shape 23"/>
          <p:cNvSpPr/>
          <p:nvPr/>
        </p:nvSpPr>
        <p:spPr>
          <a:xfrm>
            <a:off x="676656" y="4055364"/>
            <a:ext cx="82296" cy="82296"/>
          </a:xfrm>
          <a:prstGeom prst="ellipse">
            <a:avLst/>
          </a:prstGeom>
          <a:solidFill>
            <a:srgbClr val="E2554F"/>
          </a:solidFill>
          <a:ln w="12700">
            <a:solidFill>
              <a:srgbClr val="E2554F"/>
            </a:solidFill>
            <a:prstDash val="solid"/>
          </a:ln>
        </p:spPr>
      </p:sp>
      <p:sp>
        <p:nvSpPr>
          <p:cNvPr id="35" name="Shape 24"/>
          <p:cNvSpPr/>
          <p:nvPr/>
        </p:nvSpPr>
        <p:spPr>
          <a:xfrm>
            <a:off x="822960" y="4055364"/>
            <a:ext cx="82296" cy="82296"/>
          </a:xfrm>
          <a:prstGeom prst="ellipse">
            <a:avLst/>
          </a:prstGeom>
          <a:solidFill>
            <a:srgbClr val="F7A400"/>
          </a:solidFill>
          <a:ln w="12700">
            <a:solidFill>
              <a:srgbClr val="F7A400"/>
            </a:solidFill>
            <a:prstDash val="solid"/>
          </a:ln>
        </p:spPr>
      </p:sp>
      <p:sp>
        <p:nvSpPr>
          <p:cNvPr id="36" name="Shape 25"/>
          <p:cNvSpPr/>
          <p:nvPr/>
        </p:nvSpPr>
        <p:spPr>
          <a:xfrm>
            <a:off x="969264" y="4055364"/>
            <a:ext cx="82296" cy="82296"/>
          </a:xfrm>
          <a:prstGeom prst="ellipse">
            <a:avLst/>
          </a:prstGeom>
          <a:solidFill>
            <a:srgbClr val="2EB872"/>
          </a:solidFill>
          <a:ln w="12700">
            <a:solidFill>
              <a:srgbClr val="2EB872"/>
            </a:solidFill>
            <a:prstDash val="solid"/>
          </a:ln>
        </p:spPr>
      </p:sp>
      <p:pic>
        <p:nvPicPr>
          <p:cNvPr id="37" name="Setup wizard go-live checklist" descr="Setup wizard go-live checklist">    </p:cNvPr>
          <p:cNvPicPr>
            <a:picLocks noChangeAspect="1"/>
          </p:cNvPicPr>
          <p:nvPr/>
        </p:nvPicPr>
        <p:blipFill>
          <a:blip r:embed="rId10"/>
          <a:stretch>
            <a:fillRect/>
          </a:stretch>
        </p:blipFill>
        <p:spPr>
          <a:xfrm>
            <a:off x="585216" y="4215384"/>
            <a:ext cx="3218688" cy="2011680"/>
          </a:xfrm>
          <a:prstGeom prst="rect">
            <a:avLst/>
          </a:prstGeom>
        </p:spPr>
      </p:pic>
      <p:sp>
        <p:nvSpPr>
          <p:cNvPr id="38" name="Text 26"/>
          <p:cNvSpPr txBox="1"/>
          <p:nvPr/>
        </p:nvSpPr>
        <p:spPr>
          <a:xfrm>
            <a:off x="4206240" y="402336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Then every day</a:t>
            </a:r>
            <a:endParaRPr lang="en-US" sz="1600" dirty="0"/>
          </a:p>
        </p:txBody>
      </p:sp>
      <p:sp>
        <p:nvSpPr>
          <p:cNvPr id="39" name="Text 27"/>
          <p:cNvSpPr txBox="1"/>
          <p:nvPr/>
        </p:nvSpPr>
        <p:spPr>
          <a:xfrm>
            <a:off x="4206240" y="4389120"/>
            <a:ext cx="7406640" cy="18288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Morning: teachers mark registers; absent alerts go to parents</a:t>
            </a:r>
            <a:endParaRPr lang="en-US" sz="1400" dirty="0"/>
          </a:p>
          <a:p>
            <a:pPr marL="203200" indent="-203200">
              <a:spcAft>
                <a:spcPts val="500"/>
              </a:spcAft>
              <a:buSzPct val="100000"/>
              <a:buChar char="●"/>
            </a:pPr>
            <a:r>
              <a:rPr lang="en-US" sz="1400" dirty="0">
                <a:solidFill>
                  <a:schemeClr val="tx1"/>
                </a:solidFill>
              </a:rPr>
              <a:t>Day: homework, notices and messages; the office collects fees</a:t>
            </a:r>
            <a:endParaRPr lang="en-US" sz="1400" dirty="0"/>
          </a:p>
          <a:p>
            <a:pPr marL="203200" indent="-203200">
              <a:spcAft>
                <a:spcPts val="500"/>
              </a:spcAft>
              <a:buSzPct val="100000"/>
              <a:buChar char="●"/>
            </a:pPr>
            <a:r>
              <a:rPr lang="en-US" sz="1400" dirty="0">
                <a:solidFill>
                  <a:schemeClr val="tx1"/>
                </a:solidFill>
              </a:rPr>
              <a:t>Exams: marks, results, report cards; parents see them in the app</a:t>
            </a:r>
            <a:endParaRPr lang="en-US" sz="1400" dirty="0"/>
          </a:p>
          <a:p>
            <a:pPr marL="203200" indent="-203200">
              <a:spcAft>
                <a:spcPts val="500"/>
              </a:spcAft>
              <a:buSzPct val="100000"/>
              <a:buChar char="●"/>
            </a:pPr>
            <a:r>
              <a:rPr lang="en-US" sz="1400" dirty="0">
                <a:solidFill>
                  <a:schemeClr val="tx1"/>
                </a:solidFill>
              </a:rPr>
              <a:t>Year end: promote students to the next class in one step</a:t>
            </a:r>
            <a:endParaRPr lang="en-US" sz="14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INNOVATION · AI ASSISTANT</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Ask the school a question in plain words</a:t>
            </a:r>
            <a:endParaRPr lang="en-US" sz="3000" dirty="0"/>
          </a:p>
        </p:txBody>
      </p:sp>
      <p:sp>
        <p:nvSpPr>
          <p:cNvPr id="4" name="AI assistant frame"/>
          <p:cNvSpPr/>
          <p:nvPr/>
        </p:nvSpPr>
        <p:spPr>
          <a:xfrm>
            <a:off x="548640" y="1600200"/>
            <a:ext cx="6035040" cy="4009644"/>
          </a:xfrm>
          <a:prstGeom prst="roundRect">
            <a:avLst>
              <a:gd name="adj" fmla="val 1824"/>
            </a:avLst>
          </a:prstGeom>
          <a:solidFill>
            <a:srgbClr val="F3F6FC"/>
          </a:solidFill>
          <a:ln w="9525">
            <a:solidFill>
              <a:srgbClr val="DCE3EF"/>
            </a:solidFill>
            <a:prstDash val="solid"/>
          </a:ln>
          <a:effectLst>
            <a:outerShdw sx="100000" sy="100000" kx="0" ky="0" algn="bl" rotWithShape="0" blurRad="152400" dist="38100" dir="5400000">
              <a:srgbClr val="0E1630">
                <a:alpha val="18000"/>
              </a:srgbClr>
            </a:outerShdw>
          </a:effectLst>
        </p:spPr>
      </p:sp>
      <p:sp>
        <p:nvSpPr>
          <p:cNvPr id="5" name="Shape 3"/>
          <p:cNvSpPr/>
          <p:nvPr/>
        </p:nvSpPr>
        <p:spPr>
          <a:xfrm>
            <a:off x="676656" y="1677924"/>
            <a:ext cx="82296" cy="82296"/>
          </a:xfrm>
          <a:prstGeom prst="ellipse">
            <a:avLst/>
          </a:prstGeom>
          <a:solidFill>
            <a:srgbClr val="E2554F"/>
          </a:solidFill>
          <a:ln w="12700">
            <a:solidFill>
              <a:srgbClr val="E2554F"/>
            </a:solidFill>
            <a:prstDash val="solid"/>
          </a:ln>
        </p:spPr>
      </p:sp>
      <p:sp>
        <p:nvSpPr>
          <p:cNvPr id="6" name="Shape 4"/>
          <p:cNvSpPr/>
          <p:nvPr/>
        </p:nvSpPr>
        <p:spPr>
          <a:xfrm>
            <a:off x="822960" y="1677924"/>
            <a:ext cx="82296" cy="82296"/>
          </a:xfrm>
          <a:prstGeom prst="ellipse">
            <a:avLst/>
          </a:prstGeom>
          <a:solidFill>
            <a:srgbClr val="F7A400"/>
          </a:solidFill>
          <a:ln w="12700">
            <a:solidFill>
              <a:srgbClr val="F7A400"/>
            </a:solidFill>
            <a:prstDash val="solid"/>
          </a:ln>
        </p:spPr>
      </p:sp>
      <p:sp>
        <p:nvSpPr>
          <p:cNvPr id="7" name="Shape 5"/>
          <p:cNvSpPr/>
          <p:nvPr/>
        </p:nvSpPr>
        <p:spPr>
          <a:xfrm>
            <a:off x="969264" y="1677924"/>
            <a:ext cx="82296" cy="82296"/>
          </a:xfrm>
          <a:prstGeom prst="ellipse">
            <a:avLst/>
          </a:prstGeom>
          <a:solidFill>
            <a:srgbClr val="2EB872"/>
          </a:solidFill>
          <a:ln w="12700">
            <a:solidFill>
              <a:srgbClr val="2EB872"/>
            </a:solidFill>
            <a:prstDash val="solid"/>
          </a:ln>
        </p:spPr>
      </p:sp>
      <p:pic>
        <p:nvPicPr>
          <p:cNvPr id="8" name="AI assistant" descr="AI assistant">    </p:cNvPr>
          <p:cNvPicPr>
            <a:picLocks noChangeAspect="1"/>
          </p:cNvPicPr>
          <p:nvPr/>
        </p:nvPicPr>
        <p:blipFill>
          <a:blip r:embed="rId1"/>
          <a:stretch>
            <a:fillRect/>
          </a:stretch>
        </p:blipFill>
        <p:spPr>
          <a:xfrm>
            <a:off x="585216" y="1837944"/>
            <a:ext cx="5961888" cy="3726180"/>
          </a:xfrm>
          <a:prstGeom prst="rect">
            <a:avLst/>
          </a:prstGeom>
        </p:spPr>
      </p:pic>
      <p:sp>
        <p:nvSpPr>
          <p:cNvPr id="9" name="Shape 6"/>
          <p:cNvSpPr/>
          <p:nvPr/>
        </p:nvSpPr>
        <p:spPr>
          <a:xfrm>
            <a:off x="6995160" y="1691640"/>
            <a:ext cx="329184" cy="329184"/>
          </a:xfrm>
          <a:prstGeom prst="ellipse">
            <a:avLst/>
          </a:prstGeom>
          <a:solidFill>
            <a:srgbClr val="F7A400"/>
          </a:solidFill>
          <a:ln w="12700">
            <a:solidFill>
              <a:srgbClr val="F7A400"/>
            </a:solidFill>
            <a:prstDash val="solid"/>
          </a:ln>
        </p:spPr>
      </p:sp>
      <p:sp>
        <p:nvSpPr>
          <p:cNvPr id="10" name="Text 7"/>
          <p:cNvSpPr txBox="1"/>
          <p:nvPr/>
        </p:nvSpPr>
        <p:spPr>
          <a:xfrm>
            <a:off x="6995160" y="169164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1" name="Text 8"/>
          <p:cNvSpPr txBox="1"/>
          <p:nvPr/>
        </p:nvSpPr>
        <p:spPr>
          <a:xfrm>
            <a:off x="7498080" y="1645920"/>
            <a:ext cx="4114800" cy="320040"/>
          </a:xfrm>
          <a:prstGeom prst="rect">
            <a:avLst/>
          </a:prstGeom>
          <a:noFill/>
          <a:ln/>
        </p:spPr>
        <p:txBody>
          <a:bodyPr wrap="square" lIns="0" tIns="0" rIns="0" bIns="0" rtlCol="0" anchor="t"/>
          <a:lstStyle/>
          <a:p>
            <a:pPr indent="0" marL="0">
              <a:buNone/>
            </a:pPr>
            <a:r>
              <a:rPr lang="en-US" sz="1600" b="1" dirty="0">
                <a:solidFill>
                  <a:schemeClr val="tx1"/>
                </a:solidFill>
              </a:rPr>
              <a:t>Question</a:t>
            </a:r>
            <a:endParaRPr lang="en-US" sz="1600" dirty="0"/>
          </a:p>
        </p:txBody>
      </p:sp>
      <p:sp>
        <p:nvSpPr>
          <p:cNvPr id="12" name="Text 9"/>
          <p:cNvSpPr txBox="1"/>
          <p:nvPr/>
        </p:nvSpPr>
        <p:spPr>
          <a:xfrm>
            <a:off x="7498080" y="1975104"/>
            <a:ext cx="4114800" cy="502920"/>
          </a:xfrm>
          <a:prstGeom prst="rect">
            <a:avLst/>
          </a:prstGeom>
          <a:noFill/>
          <a:ln/>
        </p:spPr>
        <p:txBody>
          <a:bodyPr wrap="square" lIns="0" tIns="0" rIns="0" bIns="0" rtlCol="0" anchor="t"/>
          <a:lstStyle/>
          <a:p>
            <a:pPr indent="0" marL="0">
              <a:buNone/>
            </a:pPr>
            <a:r>
              <a:rPr lang="en-US" sz="1300" dirty="0">
                <a:solidFill>
                  <a:schemeClr val="accent4"/>
                </a:solidFill>
              </a:rPr>
              <a:t>"Which classes are below 75% attendance this month?"</a:t>
            </a:r>
            <a:endParaRPr lang="en-US" sz="1300" dirty="0"/>
          </a:p>
        </p:txBody>
      </p:sp>
      <p:sp>
        <p:nvSpPr>
          <p:cNvPr id="13" name="Shape 10"/>
          <p:cNvSpPr/>
          <p:nvPr/>
        </p:nvSpPr>
        <p:spPr>
          <a:xfrm>
            <a:off x="6995160" y="2624328"/>
            <a:ext cx="329184" cy="329184"/>
          </a:xfrm>
          <a:prstGeom prst="ellipse">
            <a:avLst/>
          </a:prstGeom>
          <a:solidFill>
            <a:srgbClr val="F7A400"/>
          </a:solidFill>
          <a:ln w="12700">
            <a:solidFill>
              <a:srgbClr val="F7A400"/>
            </a:solidFill>
            <a:prstDash val="solid"/>
          </a:ln>
        </p:spPr>
      </p:sp>
      <p:sp>
        <p:nvSpPr>
          <p:cNvPr id="14" name="Text 11"/>
          <p:cNvSpPr txBox="1"/>
          <p:nvPr/>
        </p:nvSpPr>
        <p:spPr>
          <a:xfrm>
            <a:off x="6995160" y="26243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5" name="Text 12"/>
          <p:cNvSpPr txBox="1"/>
          <p:nvPr/>
        </p:nvSpPr>
        <p:spPr>
          <a:xfrm>
            <a:off x="7498080" y="2578608"/>
            <a:ext cx="4114800" cy="320040"/>
          </a:xfrm>
          <a:prstGeom prst="rect">
            <a:avLst/>
          </a:prstGeom>
          <a:noFill/>
          <a:ln/>
        </p:spPr>
        <p:txBody>
          <a:bodyPr wrap="square" lIns="0" tIns="0" rIns="0" bIns="0" rtlCol="0" anchor="t"/>
          <a:lstStyle/>
          <a:p>
            <a:pPr indent="0" marL="0">
              <a:buNone/>
            </a:pPr>
            <a:r>
              <a:rPr lang="en-US" sz="1600" b="1" dirty="0">
                <a:solidFill>
                  <a:schemeClr val="tx1"/>
                </a:solidFill>
              </a:rPr>
              <a:t>8 report tools</a:t>
            </a:r>
            <a:endParaRPr lang="en-US" sz="1600" dirty="0"/>
          </a:p>
        </p:txBody>
      </p:sp>
      <p:sp>
        <p:nvSpPr>
          <p:cNvPr id="16" name="Text 13"/>
          <p:cNvSpPr txBox="1"/>
          <p:nvPr/>
        </p:nvSpPr>
        <p:spPr>
          <a:xfrm>
            <a:off x="7498080" y="2907792"/>
            <a:ext cx="4114800" cy="502920"/>
          </a:xfrm>
          <a:prstGeom prst="rect">
            <a:avLst/>
          </a:prstGeom>
          <a:noFill/>
          <a:ln/>
        </p:spPr>
        <p:txBody>
          <a:bodyPr wrap="square" lIns="0" tIns="0" rIns="0" bIns="0" rtlCol="0" anchor="t"/>
          <a:lstStyle/>
          <a:p>
            <a:pPr indent="0" marL="0">
              <a:buNone/>
            </a:pPr>
            <a:r>
              <a:rPr lang="en-US" sz="1300" dirty="0">
                <a:solidFill>
                  <a:schemeClr val="accent4"/>
                </a:solidFill>
              </a:rPr>
              <a:t>Permission-checked: only data this person may see</a:t>
            </a:r>
            <a:endParaRPr lang="en-US" sz="1300" dirty="0"/>
          </a:p>
        </p:txBody>
      </p:sp>
      <p:sp>
        <p:nvSpPr>
          <p:cNvPr id="17" name="Shape 14"/>
          <p:cNvSpPr/>
          <p:nvPr/>
        </p:nvSpPr>
        <p:spPr>
          <a:xfrm>
            <a:off x="6995160" y="3557016"/>
            <a:ext cx="329184" cy="329184"/>
          </a:xfrm>
          <a:prstGeom prst="ellipse">
            <a:avLst/>
          </a:prstGeom>
          <a:solidFill>
            <a:srgbClr val="F7A400"/>
          </a:solidFill>
          <a:ln w="12700">
            <a:solidFill>
              <a:srgbClr val="F7A400"/>
            </a:solidFill>
            <a:prstDash val="solid"/>
          </a:ln>
        </p:spPr>
      </p:sp>
      <p:sp>
        <p:nvSpPr>
          <p:cNvPr id="18" name="Text 15"/>
          <p:cNvSpPr txBox="1"/>
          <p:nvPr/>
        </p:nvSpPr>
        <p:spPr>
          <a:xfrm>
            <a:off x="6995160" y="3557016"/>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9" name="Text 16"/>
          <p:cNvSpPr txBox="1"/>
          <p:nvPr/>
        </p:nvSpPr>
        <p:spPr>
          <a:xfrm>
            <a:off x="7498080" y="3511296"/>
            <a:ext cx="4114800" cy="320040"/>
          </a:xfrm>
          <a:prstGeom prst="rect">
            <a:avLst/>
          </a:prstGeom>
          <a:noFill/>
          <a:ln/>
        </p:spPr>
        <p:txBody>
          <a:bodyPr wrap="square" lIns="0" tIns="0" rIns="0" bIns="0" rtlCol="0" anchor="t"/>
          <a:lstStyle/>
          <a:p>
            <a:pPr indent="0" marL="0">
              <a:buNone/>
            </a:pPr>
            <a:r>
              <a:rPr lang="en-US" sz="1600" b="1" dirty="0">
                <a:solidFill>
                  <a:schemeClr val="tx1"/>
                </a:solidFill>
              </a:rPr>
              <a:t>Names masked</a:t>
            </a:r>
            <a:endParaRPr lang="en-US" sz="1600" dirty="0"/>
          </a:p>
        </p:txBody>
      </p:sp>
      <p:sp>
        <p:nvSpPr>
          <p:cNvPr id="20" name="Text 17"/>
          <p:cNvSpPr txBox="1"/>
          <p:nvPr/>
        </p:nvSpPr>
        <p:spPr>
          <a:xfrm>
            <a:off x="7498080" y="3840480"/>
            <a:ext cx="4114800" cy="502920"/>
          </a:xfrm>
          <a:prstGeom prst="rect">
            <a:avLst/>
          </a:prstGeom>
          <a:noFill/>
          <a:ln/>
        </p:spPr>
        <p:txBody>
          <a:bodyPr wrap="square" lIns="0" tIns="0" rIns="0" bIns="0" rtlCol="0" anchor="t"/>
          <a:lstStyle/>
          <a:p>
            <a:pPr indent="0" marL="0">
              <a:buNone/>
            </a:pPr>
            <a:r>
              <a:rPr lang="en-US" sz="1300" dirty="0">
                <a:solidFill>
                  <a:schemeClr val="accent4"/>
                </a:solidFill>
              </a:rPr>
              <a:t>People become [P1], [P2] before anything leaves the school</a:t>
            </a:r>
            <a:endParaRPr lang="en-US" sz="1300" dirty="0"/>
          </a:p>
        </p:txBody>
      </p:sp>
      <p:sp>
        <p:nvSpPr>
          <p:cNvPr id="21" name="Shape 18"/>
          <p:cNvSpPr/>
          <p:nvPr/>
        </p:nvSpPr>
        <p:spPr>
          <a:xfrm>
            <a:off x="6995160" y="4489704"/>
            <a:ext cx="329184" cy="329184"/>
          </a:xfrm>
          <a:prstGeom prst="ellipse">
            <a:avLst/>
          </a:prstGeom>
          <a:solidFill>
            <a:srgbClr val="F7A400"/>
          </a:solidFill>
          <a:ln w="12700">
            <a:solidFill>
              <a:srgbClr val="F7A400"/>
            </a:solidFill>
            <a:prstDash val="solid"/>
          </a:ln>
        </p:spPr>
      </p:sp>
      <p:sp>
        <p:nvSpPr>
          <p:cNvPr id="22" name="Text 19"/>
          <p:cNvSpPr txBox="1"/>
          <p:nvPr/>
        </p:nvSpPr>
        <p:spPr>
          <a:xfrm>
            <a:off x="6995160" y="4489704"/>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3" name="Text 20"/>
          <p:cNvSpPr txBox="1"/>
          <p:nvPr/>
        </p:nvSpPr>
        <p:spPr>
          <a:xfrm>
            <a:off x="7498080" y="4443984"/>
            <a:ext cx="4114800" cy="320040"/>
          </a:xfrm>
          <a:prstGeom prst="rect">
            <a:avLst/>
          </a:prstGeom>
          <a:noFill/>
          <a:ln/>
        </p:spPr>
        <p:txBody>
          <a:bodyPr wrap="square" lIns="0" tIns="0" rIns="0" bIns="0" rtlCol="0" anchor="t"/>
          <a:lstStyle/>
          <a:p>
            <a:pPr indent="0" marL="0">
              <a:buNone/>
            </a:pPr>
            <a:r>
              <a:rPr lang="en-US" sz="1600" b="1" dirty="0">
                <a:solidFill>
                  <a:schemeClr val="tx1"/>
                </a:solidFill>
              </a:rPr>
              <a:t>Answer + source</a:t>
            </a:r>
            <a:endParaRPr lang="en-US" sz="1600" dirty="0"/>
          </a:p>
        </p:txBody>
      </p:sp>
      <p:sp>
        <p:nvSpPr>
          <p:cNvPr id="24" name="Text 21"/>
          <p:cNvSpPr txBox="1"/>
          <p:nvPr/>
        </p:nvSpPr>
        <p:spPr>
          <a:xfrm>
            <a:off x="7498080" y="4773168"/>
            <a:ext cx="4114800" cy="502920"/>
          </a:xfrm>
          <a:prstGeom prst="rect">
            <a:avLst/>
          </a:prstGeom>
          <a:noFill/>
          <a:ln/>
        </p:spPr>
        <p:txBody>
          <a:bodyPr wrap="square" lIns="0" tIns="0" rIns="0" bIns="0" rtlCol="0" anchor="t"/>
          <a:lstStyle/>
          <a:p>
            <a:pPr indent="0" marL="0">
              <a:buNone/>
            </a:pPr>
            <a:r>
              <a:rPr lang="en-US" sz="1300" dirty="0">
                <a:solidFill>
                  <a:schemeClr val="accent4"/>
                </a:solidFill>
              </a:rPr>
              <a:t>With the report it came from, names restored for the asker</a:t>
            </a:r>
            <a:endParaRPr lang="en-US" sz="1300" dirty="0"/>
          </a:p>
        </p:txBody>
      </p:sp>
      <p:sp>
        <p:nvSpPr>
          <p:cNvPr id="25" name="AI status"/>
          <p:cNvSpPr/>
          <p:nvPr/>
        </p:nvSpPr>
        <p:spPr>
          <a:xfrm>
            <a:off x="6995160" y="5440680"/>
            <a:ext cx="4663440" cy="777240"/>
          </a:xfrm>
          <a:prstGeom prst="roundRect">
            <a:avLst>
              <a:gd name="adj" fmla="val 11765"/>
            </a:avLst>
          </a:prstGeom>
          <a:solidFill>
            <a:srgbClr val="FFF4DB"/>
          </a:solidFill>
          <a:ln w="12700">
            <a:solidFill>
              <a:srgbClr val="FFF4DB"/>
            </a:solidFill>
            <a:prstDash val="solid"/>
          </a:ln>
        </p:spPr>
      </p:sp>
      <p:sp>
        <p:nvSpPr>
          <p:cNvPr id="26" name="Text 23"/>
          <p:cNvSpPr txBox="1"/>
          <p:nvPr/>
        </p:nvSpPr>
        <p:spPr>
          <a:xfrm>
            <a:off x="7178040" y="5513832"/>
            <a:ext cx="4343400" cy="640080"/>
          </a:xfrm>
          <a:prstGeom prst="rect">
            <a:avLst/>
          </a:prstGeom>
          <a:noFill/>
          <a:ln/>
        </p:spPr>
        <p:txBody>
          <a:bodyPr wrap="square" lIns="0" tIns="0" rIns="0" bIns="0" rtlCol="0" anchor="t"/>
          <a:lstStyle/>
          <a:p>
            <a:pPr indent="0" marL="0">
              <a:buNone/>
            </a:pPr>
            <a:r>
              <a:rPr lang="en-US" sz="1200" dirty="0">
                <a:solidFill>
                  <a:schemeClr val="tx1"/>
                </a:solidFill>
              </a:rPr>
              <a:t>Status: built and tested offline (22-case evaluation, incl. Hindi and Hinglish). Switched on per school once the live Gemini evaluation passes.</a:t>
            </a:r>
            <a:endParaRPr lang="en-US" sz="12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TECHNICAL IMPLEMENTATION</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Architecture: one API, every screen, strict tenant isolation</a:t>
            </a:r>
            <a:endParaRPr lang="en-US" sz="3000" dirty="0"/>
          </a:p>
        </p:txBody>
      </p:sp>
      <p:sp>
        <p:nvSpPr>
          <p:cNvPr id="4" name="Text 2"/>
          <p:cNvSpPr txBox="1"/>
          <p:nvPr/>
        </p:nvSpPr>
        <p:spPr>
          <a:xfrm>
            <a:off x="548640" y="1508760"/>
            <a:ext cx="219456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PEOPLE</a:t>
            </a:r>
            <a:endParaRPr lang="en-US" sz="1100" dirty="0"/>
          </a:p>
        </p:txBody>
      </p:sp>
      <p:sp>
        <p:nvSpPr>
          <p:cNvPr id="5" name="Android app"/>
          <p:cNvSpPr/>
          <p:nvPr/>
        </p:nvSpPr>
        <p:spPr>
          <a:xfrm>
            <a:off x="548640" y="1828800"/>
            <a:ext cx="2194560" cy="960120"/>
          </a:xfrm>
          <a:prstGeom prst="roundRect">
            <a:avLst>
              <a:gd name="adj" fmla="val 9524"/>
            </a:avLst>
          </a:prstGeom>
          <a:solidFill>
            <a:srgbClr val="F3F6FC"/>
          </a:solidFill>
          <a:ln w="9525">
            <a:solidFill>
              <a:srgbClr val="F3F6FC"/>
            </a:solidFill>
            <a:prstDash val="solid"/>
          </a:ln>
        </p:spPr>
      </p:sp>
      <p:sp>
        <p:nvSpPr>
          <p:cNvPr id="6" name="Text 4"/>
          <p:cNvSpPr txBox="1"/>
          <p:nvPr/>
        </p:nvSpPr>
        <p:spPr>
          <a:xfrm>
            <a:off x="685800" y="1938528"/>
            <a:ext cx="1920240" cy="292608"/>
          </a:xfrm>
          <a:prstGeom prst="rect">
            <a:avLst/>
          </a:prstGeom>
          <a:noFill/>
          <a:ln/>
        </p:spPr>
        <p:txBody>
          <a:bodyPr wrap="square" lIns="0" tIns="0" rIns="0" bIns="0" rtlCol="0" anchor="ctr"/>
          <a:lstStyle/>
          <a:p>
            <a:pPr indent="0" marL="0">
              <a:buNone/>
            </a:pPr>
            <a:r>
              <a:rPr lang="en-US" sz="1400" b="1" dirty="0">
                <a:solidFill>
                  <a:schemeClr val="tx1"/>
                </a:solidFill>
              </a:rPr>
              <a:t>Android app</a:t>
            </a:r>
            <a:endParaRPr lang="en-US" sz="1400" dirty="0"/>
          </a:p>
        </p:txBody>
      </p:sp>
      <p:sp>
        <p:nvSpPr>
          <p:cNvPr id="7" name="Text 5"/>
          <p:cNvSpPr txBox="1"/>
          <p:nvPr/>
        </p:nvSpPr>
        <p:spPr>
          <a:xfrm>
            <a:off x="685800" y="2231136"/>
            <a:ext cx="1920240" cy="502920"/>
          </a:xfrm>
          <a:prstGeom prst="rect">
            <a:avLst/>
          </a:prstGeom>
          <a:noFill/>
          <a:ln/>
        </p:spPr>
        <p:txBody>
          <a:bodyPr wrap="square" lIns="0" tIns="0" rIns="0" bIns="0" rtlCol="0" anchor="t"/>
          <a:lstStyle/>
          <a:p>
            <a:pPr indent="0" marL="0">
              <a:buNone/>
            </a:pPr>
            <a:r>
              <a:rPr lang="en-US" sz="1100" dirty="0">
                <a:solidFill>
                  <a:schemeClr val="accent4"/>
                </a:solidFill>
              </a:rPr>
              <a:t>Flutter 3 · Riverpod · offline queue</a:t>
            </a:r>
            <a:endParaRPr lang="en-US" sz="1100" dirty="0"/>
          </a:p>
        </p:txBody>
      </p:sp>
      <p:sp>
        <p:nvSpPr>
          <p:cNvPr id="8" name="School portal"/>
          <p:cNvSpPr/>
          <p:nvPr/>
        </p:nvSpPr>
        <p:spPr>
          <a:xfrm>
            <a:off x="548640" y="2926080"/>
            <a:ext cx="2194560" cy="960120"/>
          </a:xfrm>
          <a:prstGeom prst="roundRect">
            <a:avLst>
              <a:gd name="adj" fmla="val 9524"/>
            </a:avLst>
          </a:prstGeom>
          <a:solidFill>
            <a:srgbClr val="F3F6FC"/>
          </a:solidFill>
          <a:ln w="9525">
            <a:solidFill>
              <a:srgbClr val="F3F6FC"/>
            </a:solidFill>
            <a:prstDash val="solid"/>
          </a:ln>
        </p:spPr>
      </p:sp>
      <p:sp>
        <p:nvSpPr>
          <p:cNvPr id="9" name="Text 7"/>
          <p:cNvSpPr txBox="1"/>
          <p:nvPr/>
        </p:nvSpPr>
        <p:spPr>
          <a:xfrm>
            <a:off x="685800" y="3035808"/>
            <a:ext cx="1920240" cy="292608"/>
          </a:xfrm>
          <a:prstGeom prst="rect">
            <a:avLst/>
          </a:prstGeom>
          <a:noFill/>
          <a:ln/>
        </p:spPr>
        <p:txBody>
          <a:bodyPr wrap="square" lIns="0" tIns="0" rIns="0" bIns="0" rtlCol="0" anchor="ctr"/>
          <a:lstStyle/>
          <a:p>
            <a:pPr indent="0" marL="0">
              <a:buNone/>
            </a:pPr>
            <a:r>
              <a:rPr lang="en-US" sz="1400" b="1" dirty="0">
                <a:solidFill>
                  <a:schemeClr val="tx1"/>
                </a:solidFill>
              </a:rPr>
              <a:t>School portal</a:t>
            </a:r>
            <a:endParaRPr lang="en-US" sz="1400" dirty="0"/>
          </a:p>
        </p:txBody>
      </p:sp>
      <p:sp>
        <p:nvSpPr>
          <p:cNvPr id="10" name="Text 8"/>
          <p:cNvSpPr txBox="1"/>
          <p:nvPr/>
        </p:nvSpPr>
        <p:spPr>
          <a:xfrm>
            <a:off x="685800" y="3328416"/>
            <a:ext cx="1920240" cy="502920"/>
          </a:xfrm>
          <a:prstGeom prst="rect">
            <a:avLst/>
          </a:prstGeom>
          <a:noFill/>
          <a:ln/>
        </p:spPr>
        <p:txBody>
          <a:bodyPr wrap="square" lIns="0" tIns="0" rIns="0" bIns="0" rtlCol="0" anchor="t"/>
          <a:lstStyle/>
          <a:p>
            <a:pPr indent="0" marL="0">
              <a:buNone/>
            </a:pPr>
            <a:r>
              <a:rPr lang="en-US" sz="1100" dirty="0">
                <a:solidFill>
                  <a:schemeClr val="accent4"/>
                </a:solidFill>
              </a:rPr>
              <a:t>Browser · &lt;school&gt;.bastaa.in</a:t>
            </a:r>
            <a:endParaRPr lang="en-US" sz="1100" dirty="0"/>
          </a:p>
        </p:txBody>
      </p:sp>
      <p:sp>
        <p:nvSpPr>
          <p:cNvPr id="11" name="Bastaa console"/>
          <p:cNvSpPr/>
          <p:nvPr/>
        </p:nvSpPr>
        <p:spPr>
          <a:xfrm>
            <a:off x="548640" y="4023360"/>
            <a:ext cx="2194560" cy="960120"/>
          </a:xfrm>
          <a:prstGeom prst="roundRect">
            <a:avLst>
              <a:gd name="adj" fmla="val 9524"/>
            </a:avLst>
          </a:prstGeom>
          <a:solidFill>
            <a:srgbClr val="F3F6FC"/>
          </a:solidFill>
          <a:ln w="9525">
            <a:solidFill>
              <a:srgbClr val="F3F6FC"/>
            </a:solidFill>
            <a:prstDash val="solid"/>
          </a:ln>
        </p:spPr>
      </p:sp>
      <p:sp>
        <p:nvSpPr>
          <p:cNvPr id="12" name="Text 10"/>
          <p:cNvSpPr txBox="1"/>
          <p:nvPr/>
        </p:nvSpPr>
        <p:spPr>
          <a:xfrm>
            <a:off x="685800" y="4133088"/>
            <a:ext cx="1920240" cy="292608"/>
          </a:xfrm>
          <a:prstGeom prst="rect">
            <a:avLst/>
          </a:prstGeom>
          <a:noFill/>
          <a:ln/>
        </p:spPr>
        <p:txBody>
          <a:bodyPr wrap="square" lIns="0" tIns="0" rIns="0" bIns="0" rtlCol="0" anchor="ctr"/>
          <a:lstStyle/>
          <a:p>
            <a:pPr indent="0" marL="0">
              <a:buNone/>
            </a:pPr>
            <a:r>
              <a:rPr lang="en-US" sz="1400" b="1" dirty="0">
                <a:solidFill>
                  <a:schemeClr val="tx1"/>
                </a:solidFill>
              </a:rPr>
              <a:t>Bastaa console</a:t>
            </a:r>
            <a:endParaRPr lang="en-US" sz="1400" dirty="0"/>
          </a:p>
        </p:txBody>
      </p:sp>
      <p:sp>
        <p:nvSpPr>
          <p:cNvPr id="13" name="Text 11"/>
          <p:cNvSpPr txBox="1"/>
          <p:nvPr/>
        </p:nvSpPr>
        <p:spPr>
          <a:xfrm>
            <a:off x="685800" y="4425696"/>
            <a:ext cx="1920240" cy="502920"/>
          </a:xfrm>
          <a:prstGeom prst="rect">
            <a:avLst/>
          </a:prstGeom>
          <a:noFill/>
          <a:ln/>
        </p:spPr>
        <p:txBody>
          <a:bodyPr wrap="square" lIns="0" tIns="0" rIns="0" bIns="0" rtlCol="0" anchor="t"/>
          <a:lstStyle/>
          <a:p>
            <a:pPr indent="0" marL="0">
              <a:buNone/>
            </a:pPr>
            <a:r>
              <a:rPr lang="en-US" sz="1100" dirty="0">
                <a:solidFill>
                  <a:schemeClr val="accent4"/>
                </a:solidFill>
              </a:rPr>
              <a:t>admin.bastaa.in</a:t>
            </a:r>
            <a:endParaRPr lang="en-US" sz="1100" dirty="0"/>
          </a:p>
        </p:txBody>
      </p:sp>
      <p:sp>
        <p:nvSpPr>
          <p:cNvPr id="14" name="Cloudflare edge"/>
          <p:cNvSpPr/>
          <p:nvPr/>
        </p:nvSpPr>
        <p:spPr>
          <a:xfrm>
            <a:off x="3154680" y="1828800"/>
            <a:ext cx="1737360" cy="3154680"/>
          </a:xfrm>
          <a:prstGeom prst="roundRect">
            <a:avLst>
              <a:gd name="adj" fmla="val 5263"/>
            </a:avLst>
          </a:prstGeom>
          <a:solidFill>
            <a:srgbClr val="0E1630"/>
          </a:solidFill>
          <a:ln w="9525">
            <a:solidFill>
              <a:srgbClr val="0E1630"/>
            </a:solidFill>
            <a:prstDash val="solid"/>
          </a:ln>
        </p:spPr>
      </p:sp>
      <p:sp>
        <p:nvSpPr>
          <p:cNvPr id="15" name="Text 13"/>
          <p:cNvSpPr txBox="1"/>
          <p:nvPr/>
        </p:nvSpPr>
        <p:spPr>
          <a:xfrm>
            <a:off x="3291840" y="1938528"/>
            <a:ext cx="1463040" cy="292608"/>
          </a:xfrm>
          <a:prstGeom prst="rect">
            <a:avLst/>
          </a:prstGeom>
          <a:noFill/>
          <a:ln/>
        </p:spPr>
        <p:txBody>
          <a:bodyPr wrap="square" lIns="0" tIns="0" rIns="0" bIns="0" rtlCol="0" anchor="ctr"/>
          <a:lstStyle/>
          <a:p>
            <a:pPr indent="0" marL="0">
              <a:buNone/>
            </a:pPr>
            <a:r>
              <a:rPr lang="en-US" sz="1400" b="1" dirty="0">
                <a:solidFill>
                  <a:schemeClr val="bg1"/>
                </a:solidFill>
              </a:rPr>
              <a:t>Cloudflare edge</a:t>
            </a:r>
            <a:endParaRPr lang="en-US" sz="1400" dirty="0"/>
          </a:p>
        </p:txBody>
      </p:sp>
      <p:sp>
        <p:nvSpPr>
          <p:cNvPr id="16" name="Text 14"/>
          <p:cNvSpPr txBox="1"/>
          <p:nvPr/>
        </p:nvSpPr>
        <p:spPr>
          <a:xfrm>
            <a:off x="3291840" y="2231136"/>
            <a:ext cx="1463040" cy="2697480"/>
          </a:xfrm>
          <a:prstGeom prst="rect">
            <a:avLst/>
          </a:prstGeom>
          <a:noFill/>
          <a:ln/>
        </p:spPr>
        <p:txBody>
          <a:bodyPr wrap="square" lIns="0" tIns="0" rIns="0" bIns="0" rtlCol="0" anchor="t"/>
          <a:lstStyle/>
          <a:p>
            <a:pPr indent="0" marL="0">
              <a:buNone/>
            </a:pPr>
            <a:r>
              <a:rPr lang="en-US" sz="1100" dirty="0">
                <a:solidFill>
                  <a:schemeClr val="accent5"/>
                </a:solidFill>
              </a:rPr>
              <a:t>DNS, TLS, WAF</a:t>
            </a:r>
            <a:endParaRPr lang="en-US" sz="1100" dirty="0"/>
          </a:p>
          <a:p>
            <a:pPr indent="0" marL="0">
              <a:buNone/>
            </a:pPr>
            <a:endParaRPr lang="en-US" sz="1100" dirty="0"/>
          </a:p>
          <a:p>
            <a:pPr indent="0" marL="0">
              <a:buNone/>
            </a:pPr>
            <a:r>
              <a:rPr lang="en-US" sz="1100" dirty="0">
                <a:solidFill>
                  <a:schemeClr val="accent5"/>
                </a:solidFill>
              </a:rPr>
              <a:t>Worker routes</a:t>
            </a:r>
            <a:endParaRPr lang="en-US" sz="1100" dirty="0"/>
          </a:p>
          <a:p>
            <a:pPr indent="0" marL="0">
              <a:buNone/>
            </a:pPr>
            <a:r>
              <a:rPr lang="en-US" sz="1100" dirty="0">
                <a:solidFill>
                  <a:schemeClr val="accent5"/>
                </a:solidFill>
              </a:rPr>
              <a:t>*.bastaa.in → web</a:t>
            </a:r>
            <a:endParaRPr lang="en-US" sz="1100" dirty="0"/>
          </a:p>
          <a:p>
            <a:pPr indent="0" marL="0">
              <a:buNone/>
            </a:pPr>
            <a:r>
              <a:rPr lang="en-US" sz="1100" dirty="0">
                <a:solidFill>
                  <a:schemeClr val="accent5"/>
                </a:solidFill>
              </a:rPr>
              <a:t>api.bastaa.in → API</a:t>
            </a:r>
            <a:endParaRPr lang="en-US" sz="1100" dirty="0"/>
          </a:p>
          <a:p>
            <a:pPr indent="0" marL="0">
              <a:buNone/>
            </a:pPr>
            <a:endParaRPr lang="en-US" sz="1100" dirty="0"/>
          </a:p>
          <a:p>
            <a:pPr indent="0" marL="0">
              <a:buNone/>
            </a:pPr>
            <a:r>
              <a:rPr lang="en-US" sz="1100" dirty="0">
                <a:solidFill>
                  <a:schemeClr val="accent5"/>
                </a:solidFill>
              </a:rPr>
              <a:t>Edge secret closes the raw Cloud Run URLs</a:t>
            </a:r>
            <a:endParaRPr lang="en-US" sz="1100" dirty="0"/>
          </a:p>
        </p:txBody>
      </p:sp>
      <p:sp>
        <p:nvSpPr>
          <p:cNvPr id="17" name="Web (Next.js 16)"/>
          <p:cNvSpPr/>
          <p:nvPr/>
        </p:nvSpPr>
        <p:spPr>
          <a:xfrm>
            <a:off x="5303520" y="1828800"/>
            <a:ext cx="2377440" cy="1188720"/>
          </a:xfrm>
          <a:prstGeom prst="roundRect">
            <a:avLst>
              <a:gd name="adj" fmla="val 7692"/>
            </a:avLst>
          </a:prstGeom>
          <a:solidFill>
            <a:srgbClr val="F3F6FC"/>
          </a:solidFill>
          <a:ln w="9525">
            <a:solidFill>
              <a:srgbClr val="F3F6FC"/>
            </a:solidFill>
            <a:prstDash val="solid"/>
          </a:ln>
        </p:spPr>
      </p:sp>
      <p:sp>
        <p:nvSpPr>
          <p:cNvPr id="18" name="Text 16"/>
          <p:cNvSpPr txBox="1"/>
          <p:nvPr/>
        </p:nvSpPr>
        <p:spPr>
          <a:xfrm>
            <a:off x="5440680" y="1938528"/>
            <a:ext cx="2103120" cy="292608"/>
          </a:xfrm>
          <a:prstGeom prst="rect">
            <a:avLst/>
          </a:prstGeom>
          <a:noFill/>
          <a:ln/>
        </p:spPr>
        <p:txBody>
          <a:bodyPr wrap="square" lIns="0" tIns="0" rIns="0" bIns="0" rtlCol="0" anchor="ctr"/>
          <a:lstStyle/>
          <a:p>
            <a:pPr indent="0" marL="0">
              <a:buNone/>
            </a:pPr>
            <a:r>
              <a:rPr lang="en-US" sz="1400" b="1" dirty="0">
                <a:solidFill>
                  <a:schemeClr val="tx1"/>
                </a:solidFill>
              </a:rPr>
              <a:t>Web (Next.js 16)</a:t>
            </a:r>
            <a:endParaRPr lang="en-US" sz="1400" dirty="0"/>
          </a:p>
        </p:txBody>
      </p:sp>
      <p:sp>
        <p:nvSpPr>
          <p:cNvPr id="19" name="Text 17"/>
          <p:cNvSpPr txBox="1"/>
          <p:nvPr/>
        </p:nvSpPr>
        <p:spPr>
          <a:xfrm>
            <a:off x="5440680" y="2231136"/>
            <a:ext cx="2103120" cy="731520"/>
          </a:xfrm>
          <a:prstGeom prst="rect">
            <a:avLst/>
          </a:prstGeom>
          <a:noFill/>
          <a:ln/>
        </p:spPr>
        <p:txBody>
          <a:bodyPr wrap="square" lIns="0" tIns="0" rIns="0" bIns="0" rtlCol="0" anchor="t"/>
          <a:lstStyle/>
          <a:p>
            <a:pPr indent="0" marL="0">
              <a:buNone/>
            </a:pPr>
            <a:r>
              <a:rPr lang="en-US" sz="1100" dirty="0">
                <a:solidFill>
                  <a:schemeClr val="accent4"/>
                </a:solidFill>
              </a:rPr>
              <a:t>React 19 · BFF with httpOnly cookies · public website</a:t>
            </a:r>
            <a:endParaRPr lang="en-US" sz="1100" dirty="0"/>
          </a:p>
        </p:txBody>
      </p:sp>
      <p:sp>
        <p:nvSpPr>
          <p:cNvPr id="20" name="API (NestJS 12)"/>
          <p:cNvSpPr/>
          <p:nvPr/>
        </p:nvSpPr>
        <p:spPr>
          <a:xfrm>
            <a:off x="5303520" y="3291840"/>
            <a:ext cx="2377440" cy="1691640"/>
          </a:xfrm>
          <a:prstGeom prst="roundRect">
            <a:avLst>
              <a:gd name="adj" fmla="val 5405"/>
            </a:avLst>
          </a:prstGeom>
          <a:solidFill>
            <a:srgbClr val="2F6FEB"/>
          </a:solidFill>
          <a:ln w="9525">
            <a:solidFill>
              <a:srgbClr val="2F6FEB"/>
            </a:solidFill>
            <a:prstDash val="solid"/>
          </a:ln>
        </p:spPr>
      </p:sp>
      <p:sp>
        <p:nvSpPr>
          <p:cNvPr id="21" name="Text 19"/>
          <p:cNvSpPr txBox="1"/>
          <p:nvPr/>
        </p:nvSpPr>
        <p:spPr>
          <a:xfrm>
            <a:off x="5440680" y="3401568"/>
            <a:ext cx="2103120" cy="292608"/>
          </a:xfrm>
          <a:prstGeom prst="rect">
            <a:avLst/>
          </a:prstGeom>
          <a:noFill/>
          <a:ln/>
        </p:spPr>
        <p:txBody>
          <a:bodyPr wrap="square" lIns="0" tIns="0" rIns="0" bIns="0" rtlCol="0" anchor="ctr"/>
          <a:lstStyle/>
          <a:p>
            <a:pPr indent="0" marL="0">
              <a:buNone/>
            </a:pPr>
            <a:r>
              <a:rPr lang="en-US" sz="1400" b="1" dirty="0">
                <a:solidFill>
                  <a:schemeClr val="bg1"/>
                </a:solidFill>
              </a:rPr>
              <a:t>API (NestJS 12)</a:t>
            </a:r>
            <a:endParaRPr lang="en-US" sz="1400" dirty="0"/>
          </a:p>
        </p:txBody>
      </p:sp>
      <p:sp>
        <p:nvSpPr>
          <p:cNvPr id="22" name="Text 20"/>
          <p:cNvSpPr txBox="1"/>
          <p:nvPr/>
        </p:nvSpPr>
        <p:spPr>
          <a:xfrm>
            <a:off x="5440680" y="3694176"/>
            <a:ext cx="2103120" cy="1234440"/>
          </a:xfrm>
          <a:prstGeom prst="rect">
            <a:avLst/>
          </a:prstGeom>
          <a:noFill/>
          <a:ln/>
        </p:spPr>
        <p:txBody>
          <a:bodyPr wrap="square" lIns="0" tIns="0" rIns="0" bIns="0" rtlCol="0" anchor="t"/>
          <a:lstStyle/>
          <a:p>
            <a:pPr indent="0" marL="0">
              <a:buNone/>
            </a:pPr>
            <a:r>
              <a:rPr lang="en-US" sz="1100" dirty="0">
                <a:solidFill>
                  <a:schemeClr val="bg1"/>
                </a:solidFill>
              </a:rPr>
              <a:t>30 modules · 289 endpoints</a:t>
            </a:r>
            <a:endParaRPr lang="en-US" sz="1100" dirty="0"/>
          </a:p>
          <a:p>
            <a:pPr indent="0" marL="0">
              <a:buNone/>
            </a:pPr>
            <a:r>
              <a:rPr lang="en-US" sz="1100" dirty="0">
                <a:solidFill>
                  <a:schemeClr val="bg1"/>
                </a:solidFill>
              </a:rPr>
              <a:t>Zod contracts shared with web and app</a:t>
            </a:r>
            <a:endParaRPr lang="en-US" sz="1100" dirty="0"/>
          </a:p>
          <a:p>
            <a:pPr indent="0" marL="0">
              <a:buNone/>
            </a:pPr>
            <a:r>
              <a:rPr lang="en-US" sz="1100" dirty="0">
                <a:solidFill>
                  <a:schemeClr val="bg1"/>
                </a:solidFill>
              </a:rPr>
              <a:t>Permission check on every route</a:t>
            </a:r>
            <a:endParaRPr lang="en-US" sz="1100" dirty="0"/>
          </a:p>
        </p:txBody>
      </p:sp>
      <p:sp>
        <p:nvSpPr>
          <p:cNvPr id="23" name="Workers"/>
          <p:cNvSpPr/>
          <p:nvPr/>
        </p:nvSpPr>
        <p:spPr>
          <a:xfrm>
            <a:off x="8092440" y="3291840"/>
            <a:ext cx="1828800" cy="1691640"/>
          </a:xfrm>
          <a:prstGeom prst="roundRect">
            <a:avLst>
              <a:gd name="adj" fmla="val 5405"/>
            </a:avLst>
          </a:prstGeom>
          <a:solidFill>
            <a:srgbClr val="F3F6FC"/>
          </a:solidFill>
          <a:ln w="9525">
            <a:solidFill>
              <a:srgbClr val="F3F6FC"/>
            </a:solidFill>
            <a:prstDash val="solid"/>
          </a:ln>
        </p:spPr>
      </p:sp>
      <p:sp>
        <p:nvSpPr>
          <p:cNvPr id="24" name="Text 22"/>
          <p:cNvSpPr txBox="1"/>
          <p:nvPr/>
        </p:nvSpPr>
        <p:spPr>
          <a:xfrm>
            <a:off x="8229600" y="3401568"/>
            <a:ext cx="1554480" cy="292608"/>
          </a:xfrm>
          <a:prstGeom prst="rect">
            <a:avLst/>
          </a:prstGeom>
          <a:noFill/>
          <a:ln/>
        </p:spPr>
        <p:txBody>
          <a:bodyPr wrap="square" lIns="0" tIns="0" rIns="0" bIns="0" rtlCol="0" anchor="ctr"/>
          <a:lstStyle/>
          <a:p>
            <a:pPr indent="0" marL="0">
              <a:buNone/>
            </a:pPr>
            <a:r>
              <a:rPr lang="en-US" sz="1400" b="1" dirty="0">
                <a:solidFill>
                  <a:schemeClr val="tx1"/>
                </a:solidFill>
              </a:rPr>
              <a:t>Workers</a:t>
            </a:r>
            <a:endParaRPr lang="en-US" sz="1400" dirty="0"/>
          </a:p>
        </p:txBody>
      </p:sp>
      <p:sp>
        <p:nvSpPr>
          <p:cNvPr id="25" name="Text 23"/>
          <p:cNvSpPr txBox="1"/>
          <p:nvPr/>
        </p:nvSpPr>
        <p:spPr>
          <a:xfrm>
            <a:off x="8229600" y="3694176"/>
            <a:ext cx="1554480" cy="1234440"/>
          </a:xfrm>
          <a:prstGeom prst="rect">
            <a:avLst/>
          </a:prstGeom>
          <a:noFill/>
          <a:ln/>
        </p:spPr>
        <p:txBody>
          <a:bodyPr wrap="square" lIns="0" tIns="0" rIns="0" bIns="0" rtlCol="0" anchor="t"/>
          <a:lstStyle/>
          <a:p>
            <a:pPr indent="0" marL="0">
              <a:buNone/>
            </a:pPr>
            <a:r>
              <a:rPr lang="en-US" sz="1100" dirty="0">
                <a:solidFill>
                  <a:schemeClr val="accent4"/>
                </a:solidFill>
              </a:rPr>
              <a:t>Queues on Postgres: PDFs, notifications, reports, scheduled jobs</a:t>
            </a:r>
            <a:endParaRPr lang="en-US" sz="1100" dirty="0"/>
          </a:p>
        </p:txBody>
      </p:sp>
      <p:sp>
        <p:nvSpPr>
          <p:cNvPr id="26" name="PostgreSQL 17"/>
          <p:cNvSpPr/>
          <p:nvPr/>
        </p:nvSpPr>
        <p:spPr>
          <a:xfrm>
            <a:off x="10287000" y="1828800"/>
            <a:ext cx="1371600" cy="1463040"/>
          </a:xfrm>
          <a:prstGeom prst="roundRect">
            <a:avLst>
              <a:gd name="adj" fmla="val 6667"/>
            </a:avLst>
          </a:prstGeom>
          <a:solidFill>
            <a:srgbClr val="0E1630"/>
          </a:solidFill>
          <a:ln w="9525">
            <a:solidFill>
              <a:srgbClr val="0E1630"/>
            </a:solidFill>
            <a:prstDash val="solid"/>
          </a:ln>
        </p:spPr>
      </p:sp>
      <p:sp>
        <p:nvSpPr>
          <p:cNvPr id="27" name="Text 25"/>
          <p:cNvSpPr txBox="1"/>
          <p:nvPr/>
        </p:nvSpPr>
        <p:spPr>
          <a:xfrm>
            <a:off x="10424160" y="1938528"/>
            <a:ext cx="1097280" cy="292608"/>
          </a:xfrm>
          <a:prstGeom prst="rect">
            <a:avLst/>
          </a:prstGeom>
          <a:noFill/>
          <a:ln/>
        </p:spPr>
        <p:txBody>
          <a:bodyPr wrap="square" lIns="0" tIns="0" rIns="0" bIns="0" rtlCol="0" anchor="ctr"/>
          <a:lstStyle/>
          <a:p>
            <a:pPr indent="0" marL="0">
              <a:buNone/>
            </a:pPr>
            <a:r>
              <a:rPr lang="en-US" sz="1400" b="1" dirty="0">
                <a:solidFill>
                  <a:schemeClr val="bg1"/>
                </a:solidFill>
              </a:rPr>
              <a:t>PostgreSQL 17</a:t>
            </a:r>
            <a:endParaRPr lang="en-US" sz="1400" dirty="0"/>
          </a:p>
        </p:txBody>
      </p:sp>
      <p:sp>
        <p:nvSpPr>
          <p:cNvPr id="28" name="Text 26"/>
          <p:cNvSpPr txBox="1"/>
          <p:nvPr/>
        </p:nvSpPr>
        <p:spPr>
          <a:xfrm>
            <a:off x="10424160" y="2231136"/>
            <a:ext cx="1097280" cy="1005840"/>
          </a:xfrm>
          <a:prstGeom prst="rect">
            <a:avLst/>
          </a:prstGeom>
          <a:noFill/>
          <a:ln/>
        </p:spPr>
        <p:txBody>
          <a:bodyPr wrap="square" lIns="0" tIns="0" rIns="0" bIns="0" rtlCol="0" anchor="t"/>
          <a:lstStyle/>
          <a:p>
            <a:pPr indent="0" marL="0">
              <a:buNone/>
            </a:pPr>
            <a:r>
              <a:rPr lang="en-US" sz="1100" dirty="0">
                <a:solidFill>
                  <a:schemeClr val="accent5"/>
                </a:solidFill>
              </a:rPr>
              <a:t>Row-level security on 86 tables</a:t>
            </a:r>
            <a:endParaRPr lang="en-US" sz="1100" dirty="0"/>
          </a:p>
        </p:txBody>
      </p:sp>
      <p:sp>
        <p:nvSpPr>
          <p:cNvPr id="29" name="Cloud Storage"/>
          <p:cNvSpPr/>
          <p:nvPr/>
        </p:nvSpPr>
        <p:spPr>
          <a:xfrm>
            <a:off x="10287000" y="3520440"/>
            <a:ext cx="1371600" cy="1463040"/>
          </a:xfrm>
          <a:prstGeom prst="roundRect">
            <a:avLst>
              <a:gd name="adj" fmla="val 6667"/>
            </a:avLst>
          </a:prstGeom>
          <a:solidFill>
            <a:srgbClr val="F3F6FC"/>
          </a:solidFill>
          <a:ln w="9525">
            <a:solidFill>
              <a:srgbClr val="F3F6FC"/>
            </a:solidFill>
            <a:prstDash val="solid"/>
          </a:ln>
        </p:spPr>
      </p:sp>
      <p:sp>
        <p:nvSpPr>
          <p:cNvPr id="30" name="Text 28"/>
          <p:cNvSpPr txBox="1"/>
          <p:nvPr/>
        </p:nvSpPr>
        <p:spPr>
          <a:xfrm>
            <a:off x="10424160" y="3630168"/>
            <a:ext cx="1097280" cy="292608"/>
          </a:xfrm>
          <a:prstGeom prst="rect">
            <a:avLst/>
          </a:prstGeom>
          <a:noFill/>
          <a:ln/>
        </p:spPr>
        <p:txBody>
          <a:bodyPr wrap="square" lIns="0" tIns="0" rIns="0" bIns="0" rtlCol="0" anchor="ctr"/>
          <a:lstStyle/>
          <a:p>
            <a:pPr indent="0" marL="0">
              <a:buNone/>
            </a:pPr>
            <a:r>
              <a:rPr lang="en-US" sz="1400" b="1" dirty="0">
                <a:solidFill>
                  <a:schemeClr val="tx1"/>
                </a:solidFill>
              </a:rPr>
              <a:t>Cloud Storage</a:t>
            </a:r>
            <a:endParaRPr lang="en-US" sz="1400" dirty="0"/>
          </a:p>
        </p:txBody>
      </p:sp>
      <p:sp>
        <p:nvSpPr>
          <p:cNvPr id="31" name="Text 29"/>
          <p:cNvSpPr txBox="1"/>
          <p:nvPr/>
        </p:nvSpPr>
        <p:spPr>
          <a:xfrm>
            <a:off x="10424160" y="3922776"/>
            <a:ext cx="1097280" cy="1005840"/>
          </a:xfrm>
          <a:prstGeom prst="rect">
            <a:avLst/>
          </a:prstGeom>
          <a:noFill/>
          <a:ln/>
        </p:spPr>
        <p:txBody>
          <a:bodyPr wrap="square" lIns="0" tIns="0" rIns="0" bIns="0" rtlCol="0" anchor="t"/>
          <a:lstStyle/>
          <a:p>
            <a:pPr indent="0" marL="0">
              <a:buNone/>
            </a:pPr>
            <a:r>
              <a:rPr lang="en-US" sz="1100" dirty="0">
                <a:solidFill>
                  <a:schemeClr val="accent4"/>
                </a:solidFill>
              </a:rPr>
              <a:t>Files, signed links</a:t>
            </a:r>
            <a:endParaRPr lang="en-US" sz="1100" dirty="0"/>
          </a:p>
        </p:txBody>
      </p:sp>
      <p:sp>
        <p:nvSpPr>
          <p:cNvPr id="32" name="Shape 30"/>
          <p:cNvSpPr/>
          <p:nvPr/>
        </p:nvSpPr>
        <p:spPr>
          <a:xfrm>
            <a:off x="2743200" y="2304288"/>
            <a:ext cx="411480" cy="0"/>
          </a:xfrm>
          <a:prstGeom prst="line">
            <a:avLst/>
          </a:prstGeom>
          <a:noFill/>
          <a:ln w="15875">
            <a:solidFill>
              <a:srgbClr val="5B6478"/>
            </a:solidFill>
            <a:prstDash val="solid"/>
            <a:tailEnd type="triangle"/>
          </a:ln>
        </p:spPr>
      </p:sp>
      <p:sp>
        <p:nvSpPr>
          <p:cNvPr id="33" name="Shape 31"/>
          <p:cNvSpPr/>
          <p:nvPr/>
        </p:nvSpPr>
        <p:spPr>
          <a:xfrm>
            <a:off x="2743200" y="3401568"/>
            <a:ext cx="411480" cy="0"/>
          </a:xfrm>
          <a:prstGeom prst="line">
            <a:avLst/>
          </a:prstGeom>
          <a:noFill/>
          <a:ln w="15875">
            <a:solidFill>
              <a:srgbClr val="5B6478"/>
            </a:solidFill>
            <a:prstDash val="solid"/>
            <a:tailEnd type="triangle"/>
          </a:ln>
        </p:spPr>
      </p:sp>
      <p:sp>
        <p:nvSpPr>
          <p:cNvPr id="34" name="Shape 32"/>
          <p:cNvSpPr/>
          <p:nvPr/>
        </p:nvSpPr>
        <p:spPr>
          <a:xfrm>
            <a:off x="2743200" y="4498848"/>
            <a:ext cx="411480" cy="0"/>
          </a:xfrm>
          <a:prstGeom prst="line">
            <a:avLst/>
          </a:prstGeom>
          <a:noFill/>
          <a:ln w="15875">
            <a:solidFill>
              <a:srgbClr val="5B6478"/>
            </a:solidFill>
            <a:prstDash val="solid"/>
            <a:tailEnd type="triangle"/>
          </a:ln>
        </p:spPr>
      </p:sp>
      <p:sp>
        <p:nvSpPr>
          <p:cNvPr id="35" name="Shape 33"/>
          <p:cNvSpPr/>
          <p:nvPr/>
        </p:nvSpPr>
        <p:spPr>
          <a:xfrm>
            <a:off x="4892040" y="2423160"/>
            <a:ext cx="411480" cy="0"/>
          </a:xfrm>
          <a:prstGeom prst="line">
            <a:avLst/>
          </a:prstGeom>
          <a:noFill/>
          <a:ln w="15875">
            <a:solidFill>
              <a:srgbClr val="5B6478"/>
            </a:solidFill>
            <a:prstDash val="solid"/>
            <a:tailEnd type="triangle"/>
          </a:ln>
        </p:spPr>
      </p:sp>
      <p:sp>
        <p:nvSpPr>
          <p:cNvPr id="36" name="Shape 34"/>
          <p:cNvSpPr/>
          <p:nvPr/>
        </p:nvSpPr>
        <p:spPr>
          <a:xfrm>
            <a:off x="4892040" y="4114800"/>
            <a:ext cx="411480" cy="0"/>
          </a:xfrm>
          <a:prstGeom prst="line">
            <a:avLst/>
          </a:prstGeom>
          <a:noFill/>
          <a:ln w="15875">
            <a:solidFill>
              <a:srgbClr val="5B6478"/>
            </a:solidFill>
            <a:prstDash val="solid"/>
            <a:tailEnd type="triangle"/>
          </a:ln>
        </p:spPr>
      </p:sp>
      <p:sp>
        <p:nvSpPr>
          <p:cNvPr id="37" name="Shape 35"/>
          <p:cNvSpPr/>
          <p:nvPr/>
        </p:nvSpPr>
        <p:spPr>
          <a:xfrm>
            <a:off x="6492240" y="3017520"/>
            <a:ext cx="0" cy="274320"/>
          </a:xfrm>
          <a:prstGeom prst="line">
            <a:avLst/>
          </a:prstGeom>
          <a:noFill/>
          <a:ln w="15875">
            <a:solidFill>
              <a:srgbClr val="5B6478"/>
            </a:solidFill>
            <a:prstDash val="solid"/>
            <a:tailEnd type="triangle"/>
          </a:ln>
        </p:spPr>
      </p:sp>
      <p:sp>
        <p:nvSpPr>
          <p:cNvPr id="38" name="Shape 36"/>
          <p:cNvSpPr/>
          <p:nvPr/>
        </p:nvSpPr>
        <p:spPr>
          <a:xfrm>
            <a:off x="7680960" y="4114800"/>
            <a:ext cx="411480" cy="0"/>
          </a:xfrm>
          <a:prstGeom prst="line">
            <a:avLst/>
          </a:prstGeom>
          <a:noFill/>
          <a:ln w="15875">
            <a:solidFill>
              <a:srgbClr val="5B6478"/>
            </a:solidFill>
            <a:prstDash val="solid"/>
            <a:tailEnd type="triangle"/>
          </a:ln>
        </p:spPr>
      </p:sp>
      <p:sp>
        <p:nvSpPr>
          <p:cNvPr id="39" name="Shape 37"/>
          <p:cNvSpPr/>
          <p:nvPr/>
        </p:nvSpPr>
        <p:spPr>
          <a:xfrm>
            <a:off x="9921240" y="3749040"/>
            <a:ext cx="365760" cy="-1188720"/>
          </a:xfrm>
          <a:prstGeom prst="line">
            <a:avLst/>
          </a:prstGeom>
          <a:noFill/>
          <a:ln w="15875">
            <a:solidFill>
              <a:srgbClr val="5B6478"/>
            </a:solidFill>
            <a:prstDash val="solid"/>
            <a:tailEnd type="triangle"/>
          </a:ln>
        </p:spPr>
      </p:sp>
      <p:sp>
        <p:nvSpPr>
          <p:cNvPr id="40" name="Shape 38"/>
          <p:cNvSpPr/>
          <p:nvPr/>
        </p:nvSpPr>
        <p:spPr>
          <a:xfrm>
            <a:off x="9921240" y="4297680"/>
            <a:ext cx="365760" cy="-45720"/>
          </a:xfrm>
          <a:prstGeom prst="line">
            <a:avLst/>
          </a:prstGeom>
          <a:noFill/>
          <a:ln w="15875">
            <a:solidFill>
              <a:srgbClr val="5B6478"/>
            </a:solidFill>
            <a:prstDash val="solid"/>
            <a:tailEnd type="triangle"/>
          </a:ln>
        </p:spPr>
      </p:sp>
      <p:sp>
        <p:nvSpPr>
          <p:cNvPr id="41" name="External services"/>
          <p:cNvSpPr/>
          <p:nvPr/>
        </p:nvSpPr>
        <p:spPr>
          <a:xfrm>
            <a:off x="548640" y="5257800"/>
            <a:ext cx="11109960" cy="566928"/>
          </a:xfrm>
          <a:prstGeom prst="roundRect">
            <a:avLst>
              <a:gd name="adj" fmla="val 16129"/>
            </a:avLst>
          </a:prstGeom>
          <a:solidFill>
            <a:srgbClr val="FFF4DB"/>
          </a:solidFill>
          <a:ln w="12700">
            <a:solidFill>
              <a:srgbClr val="FFF4DB"/>
            </a:solidFill>
            <a:prstDash val="solid"/>
          </a:ln>
        </p:spPr>
      </p:sp>
      <p:sp>
        <p:nvSpPr>
          <p:cNvPr id="42" name="Text 40"/>
          <p:cNvSpPr txBox="1"/>
          <p:nvPr/>
        </p:nvSpPr>
        <p:spPr>
          <a:xfrm>
            <a:off x="731520" y="5285232"/>
            <a:ext cx="10789920" cy="512064"/>
          </a:xfrm>
          <a:prstGeom prst="rect">
            <a:avLst/>
          </a:prstGeom>
          <a:noFill/>
          <a:ln/>
        </p:spPr>
        <p:txBody>
          <a:bodyPr wrap="square" lIns="0" tIns="0" rIns="0" bIns="0" rtlCol="0" anchor="ctr"/>
          <a:lstStyle/>
          <a:p>
            <a:pPr indent="0" marL="0">
              <a:buNone/>
            </a:pPr>
            <a:r>
              <a:rPr lang="en-US" sz="1300" b="1" dirty="0">
                <a:solidFill>
                  <a:schemeClr val="tx1"/>
                </a:solidFill>
              </a:rPr>
              <a:t>Plugged-in services  </a:t>
            </a:r>
            <a:pPr indent="0" marL="0">
              <a:buNone/>
            </a:pPr>
            <a:r>
              <a:rPr lang="en-US" sz="1300" dirty="0">
                <a:solidFill>
                  <a:schemeClr val="tx1"/>
                </a:solidFill>
              </a:rPr>
              <a:t>Razorpay (each school's own account) · MSG91 SMS · Firebase push · Gemini AI · Jitsi video · Sentry errors · Chromium PDF rendering</a:t>
            </a:r>
            <a:endParaRPr lang="en-US" sz="1300" dirty="0"/>
          </a:p>
        </p:txBody>
      </p:sp>
      <p:sp>
        <p:nvSpPr>
          <p:cNvPr id="43" name="Text 41"/>
          <p:cNvSpPr txBox="1"/>
          <p:nvPr/>
        </p:nvSpPr>
        <p:spPr>
          <a:xfrm>
            <a:off x="548640" y="5925312"/>
            <a:ext cx="11064240" cy="320040"/>
          </a:xfrm>
          <a:prstGeom prst="rect">
            <a:avLst/>
          </a:prstGeom>
          <a:noFill/>
          <a:ln/>
        </p:spPr>
        <p:txBody>
          <a:bodyPr wrap="square" lIns="0" tIns="0" rIns="0" bIns="0" rtlCol="0" anchor="t"/>
          <a:lstStyle/>
          <a:p>
            <a:pPr indent="0" marL="0">
              <a:buNone/>
            </a:pPr>
            <a:r>
              <a:rPr lang="en-US" sz="1100" dirty="0">
                <a:solidFill>
                  <a:schemeClr val="accent4"/>
                </a:solidFill>
              </a:rPr>
              <a:t>Hosting: Google Cloud Run + Cloud SQL in Mumbai (asia-south1), fully scripted in infra/; first deployment pending the cloud account and domain.</a:t>
            </a:r>
            <a:endParaRPr lang="en-US" sz="11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TRUST AND SECURITY</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One school can never see another school's data</a:t>
            </a:r>
            <a:endParaRPr lang="en-US" sz="3000" dirty="0"/>
          </a:p>
        </p:txBody>
      </p:sp>
      <p:sp>
        <p:nvSpPr>
          <p:cNvPr id="4" name="Isolation layer 1"/>
          <p:cNvSpPr/>
          <p:nvPr/>
        </p:nvSpPr>
        <p:spPr>
          <a:xfrm>
            <a:off x="548640" y="1645920"/>
            <a:ext cx="6035040" cy="1024128"/>
          </a:xfrm>
          <a:prstGeom prst="roundRect">
            <a:avLst>
              <a:gd name="adj" fmla="val 10714"/>
            </a:avLst>
          </a:prstGeom>
          <a:solidFill>
            <a:srgbClr val="1C2747"/>
          </a:solidFill>
          <a:ln w="12700">
            <a:solidFill>
              <a:srgbClr val="1C2747"/>
            </a:solidFill>
            <a:prstDash val="solid"/>
          </a:ln>
        </p:spPr>
      </p:sp>
      <p:sp>
        <p:nvSpPr>
          <p:cNvPr id="5" name="Shape 3"/>
          <p:cNvSpPr/>
          <p:nvPr/>
        </p:nvSpPr>
        <p:spPr>
          <a:xfrm>
            <a:off x="777240" y="1901952"/>
            <a:ext cx="512064" cy="512064"/>
          </a:xfrm>
          <a:prstGeom prst="ellipse">
            <a:avLst/>
          </a:prstGeom>
          <a:solidFill>
            <a:srgbClr val="F7A400"/>
          </a:solidFill>
          <a:ln w="12700">
            <a:solidFill>
              <a:srgbClr val="F7A400"/>
            </a:solidFill>
            <a:prstDash val="solid"/>
          </a:ln>
        </p:spPr>
      </p:sp>
      <p:pic>
        <p:nvPicPr>
          <p:cNvPr id="6" name="Image 0" descr="preencoded.png">    </p:cNvPr>
          <p:cNvPicPr>
            <a:picLocks noChangeAspect="1"/>
          </p:cNvPicPr>
          <p:nvPr/>
        </p:nvPicPr>
        <p:blipFill>
          <a:blip r:embed="rId1"/>
          <a:stretch>
            <a:fillRect/>
          </a:stretch>
        </p:blipFill>
        <p:spPr>
          <a:xfrm>
            <a:off x="900135" y="2024847"/>
            <a:ext cx="266273" cy="266273"/>
          </a:xfrm>
          <a:prstGeom prst="rect">
            <a:avLst/>
          </a:prstGeom>
        </p:spPr>
      </p:pic>
      <p:sp>
        <p:nvSpPr>
          <p:cNvPr id="7" name="Text 4"/>
          <p:cNvSpPr txBox="1"/>
          <p:nvPr/>
        </p:nvSpPr>
        <p:spPr>
          <a:xfrm>
            <a:off x="1508760" y="1773936"/>
            <a:ext cx="4937760" cy="320040"/>
          </a:xfrm>
          <a:prstGeom prst="rect">
            <a:avLst/>
          </a:prstGeom>
          <a:noFill/>
          <a:ln/>
        </p:spPr>
        <p:txBody>
          <a:bodyPr wrap="square" lIns="0" tIns="0" rIns="0" bIns="0" rtlCol="0" anchor="ctr"/>
          <a:lstStyle/>
          <a:p>
            <a:pPr indent="0" marL="0">
              <a:buNone/>
            </a:pPr>
            <a:r>
              <a:rPr lang="en-US" sz="1600" b="1" dirty="0">
                <a:solidFill>
                  <a:schemeClr val="bg1"/>
                </a:solidFill>
              </a:rPr>
              <a:t>Database</a:t>
            </a:r>
            <a:endParaRPr lang="en-US" sz="1600" dirty="0"/>
          </a:p>
        </p:txBody>
      </p:sp>
      <p:sp>
        <p:nvSpPr>
          <p:cNvPr id="8" name="Text 5"/>
          <p:cNvSpPr txBox="1"/>
          <p:nvPr/>
        </p:nvSpPr>
        <p:spPr>
          <a:xfrm>
            <a:off x="1508760" y="2084832"/>
            <a:ext cx="4937760" cy="548640"/>
          </a:xfrm>
          <a:prstGeom prst="rect">
            <a:avLst/>
          </a:prstGeom>
          <a:noFill/>
          <a:ln/>
        </p:spPr>
        <p:txBody>
          <a:bodyPr wrap="square" lIns="0" tIns="0" rIns="0" bIns="0" rtlCol="0" anchor="t"/>
          <a:lstStyle/>
          <a:p>
            <a:pPr indent="0" marL="0">
              <a:buNone/>
            </a:pPr>
            <a:r>
              <a:rPr lang="en-US" sz="1300" dirty="0">
                <a:solidFill>
                  <a:schemeClr val="accent5"/>
                </a:solidFill>
              </a:rPr>
              <a:t>Row-level security on 86 tenant tables. Even a buggy query returns only the current school's rows.</a:t>
            </a:r>
            <a:endParaRPr lang="en-US" sz="1300" dirty="0"/>
          </a:p>
        </p:txBody>
      </p:sp>
      <p:sp>
        <p:nvSpPr>
          <p:cNvPr id="9" name="Isolation layer 2"/>
          <p:cNvSpPr/>
          <p:nvPr/>
        </p:nvSpPr>
        <p:spPr>
          <a:xfrm>
            <a:off x="548640" y="2834640"/>
            <a:ext cx="6035040" cy="1024128"/>
          </a:xfrm>
          <a:prstGeom prst="roundRect">
            <a:avLst>
              <a:gd name="adj" fmla="val 10714"/>
            </a:avLst>
          </a:prstGeom>
          <a:solidFill>
            <a:srgbClr val="1C2747"/>
          </a:solidFill>
          <a:ln w="12700">
            <a:solidFill>
              <a:srgbClr val="1C2747"/>
            </a:solidFill>
            <a:prstDash val="solid"/>
          </a:ln>
        </p:spPr>
      </p:sp>
      <p:sp>
        <p:nvSpPr>
          <p:cNvPr id="10" name="Shape 7"/>
          <p:cNvSpPr/>
          <p:nvPr/>
        </p:nvSpPr>
        <p:spPr>
          <a:xfrm>
            <a:off x="777240" y="3090672"/>
            <a:ext cx="512064" cy="512064"/>
          </a:xfrm>
          <a:prstGeom prst="ellipse">
            <a:avLst/>
          </a:prstGeom>
          <a:solidFill>
            <a:srgbClr val="F7A400"/>
          </a:solidFill>
          <a:ln w="12700">
            <a:solidFill>
              <a:srgbClr val="F7A400"/>
            </a:solidFill>
            <a:prstDash val="solid"/>
          </a:ln>
        </p:spPr>
      </p:sp>
      <p:pic>
        <p:nvPicPr>
          <p:cNvPr id="11" name="Image 1" descr="preencoded.png">    </p:cNvPr>
          <p:cNvPicPr>
            <a:picLocks noChangeAspect="1"/>
          </p:cNvPicPr>
          <p:nvPr/>
        </p:nvPicPr>
        <p:blipFill>
          <a:blip r:embed="rId2"/>
          <a:stretch>
            <a:fillRect/>
          </a:stretch>
        </p:blipFill>
        <p:spPr>
          <a:xfrm>
            <a:off x="900135" y="3213567"/>
            <a:ext cx="266273" cy="266273"/>
          </a:xfrm>
          <a:prstGeom prst="rect">
            <a:avLst/>
          </a:prstGeom>
        </p:spPr>
      </p:pic>
      <p:sp>
        <p:nvSpPr>
          <p:cNvPr id="12" name="Text 8"/>
          <p:cNvSpPr txBox="1"/>
          <p:nvPr/>
        </p:nvSpPr>
        <p:spPr>
          <a:xfrm>
            <a:off x="1508760" y="2962656"/>
            <a:ext cx="4937760" cy="320040"/>
          </a:xfrm>
          <a:prstGeom prst="rect">
            <a:avLst/>
          </a:prstGeom>
          <a:noFill/>
          <a:ln/>
        </p:spPr>
        <p:txBody>
          <a:bodyPr wrap="square" lIns="0" tIns="0" rIns="0" bIns="0" rtlCol="0" anchor="ctr"/>
          <a:lstStyle/>
          <a:p>
            <a:pPr indent="0" marL="0">
              <a:buNone/>
            </a:pPr>
            <a:r>
              <a:rPr lang="en-US" sz="1600" b="1" dirty="0">
                <a:solidFill>
                  <a:schemeClr val="bg1"/>
                </a:solidFill>
              </a:rPr>
              <a:t>Every request</a:t>
            </a:r>
            <a:endParaRPr lang="en-US" sz="1600" dirty="0"/>
          </a:p>
        </p:txBody>
      </p:sp>
      <p:sp>
        <p:nvSpPr>
          <p:cNvPr id="13" name="Text 9"/>
          <p:cNvSpPr txBox="1"/>
          <p:nvPr/>
        </p:nvSpPr>
        <p:spPr>
          <a:xfrm>
            <a:off x="1508760" y="3273552"/>
            <a:ext cx="4937760" cy="548640"/>
          </a:xfrm>
          <a:prstGeom prst="rect">
            <a:avLst/>
          </a:prstGeom>
          <a:noFill/>
          <a:ln/>
        </p:spPr>
        <p:txBody>
          <a:bodyPr wrap="square" lIns="0" tIns="0" rIns="0" bIns="0" rtlCol="0" anchor="t"/>
          <a:lstStyle/>
          <a:p>
            <a:pPr indent="0" marL="0">
              <a:buNone/>
            </a:pPr>
            <a:r>
              <a:rPr lang="en-US" sz="1300" dirty="0">
                <a:solidFill>
                  <a:schemeClr val="accent5"/>
                </a:solidFill>
              </a:rPr>
              <a:t>School resolved from the web address; 69 permission keys at 4 scopes (all, assigned, own children, self).</a:t>
            </a:r>
            <a:endParaRPr lang="en-US" sz="1300" dirty="0"/>
          </a:p>
        </p:txBody>
      </p:sp>
      <p:sp>
        <p:nvSpPr>
          <p:cNvPr id="14" name="Isolation layer 3"/>
          <p:cNvSpPr/>
          <p:nvPr/>
        </p:nvSpPr>
        <p:spPr>
          <a:xfrm>
            <a:off x="548640" y="4023360"/>
            <a:ext cx="6035040" cy="1024128"/>
          </a:xfrm>
          <a:prstGeom prst="roundRect">
            <a:avLst>
              <a:gd name="adj" fmla="val 10714"/>
            </a:avLst>
          </a:prstGeom>
          <a:solidFill>
            <a:srgbClr val="1C2747"/>
          </a:solidFill>
          <a:ln w="12700">
            <a:solidFill>
              <a:srgbClr val="1C2747"/>
            </a:solidFill>
            <a:prstDash val="solid"/>
          </a:ln>
        </p:spPr>
      </p:sp>
      <p:sp>
        <p:nvSpPr>
          <p:cNvPr id="15" name="Shape 11"/>
          <p:cNvSpPr/>
          <p:nvPr/>
        </p:nvSpPr>
        <p:spPr>
          <a:xfrm>
            <a:off x="777240" y="4279392"/>
            <a:ext cx="512064" cy="512064"/>
          </a:xfrm>
          <a:prstGeom prst="ellipse">
            <a:avLst/>
          </a:prstGeom>
          <a:solidFill>
            <a:srgbClr val="F7A400"/>
          </a:solidFill>
          <a:ln w="12700">
            <a:solidFill>
              <a:srgbClr val="F7A400"/>
            </a:solidFill>
            <a:prstDash val="solid"/>
          </a:ln>
        </p:spPr>
      </p:sp>
      <p:pic>
        <p:nvPicPr>
          <p:cNvPr id="16" name="Image 2" descr="preencoded.png">    </p:cNvPr>
          <p:cNvPicPr>
            <a:picLocks noChangeAspect="1"/>
          </p:cNvPicPr>
          <p:nvPr/>
        </p:nvPicPr>
        <p:blipFill>
          <a:blip r:embed="rId3"/>
          <a:stretch>
            <a:fillRect/>
          </a:stretch>
        </p:blipFill>
        <p:spPr>
          <a:xfrm>
            <a:off x="900135" y="4402287"/>
            <a:ext cx="266273" cy="266273"/>
          </a:xfrm>
          <a:prstGeom prst="rect">
            <a:avLst/>
          </a:prstGeom>
        </p:spPr>
      </p:pic>
      <p:sp>
        <p:nvSpPr>
          <p:cNvPr id="17" name="Text 12"/>
          <p:cNvSpPr txBox="1"/>
          <p:nvPr/>
        </p:nvSpPr>
        <p:spPr>
          <a:xfrm>
            <a:off x="1508760" y="4151376"/>
            <a:ext cx="4937760" cy="320040"/>
          </a:xfrm>
          <a:prstGeom prst="rect">
            <a:avLst/>
          </a:prstGeom>
          <a:noFill/>
          <a:ln/>
        </p:spPr>
        <p:txBody>
          <a:bodyPr wrap="square" lIns="0" tIns="0" rIns="0" bIns="0" rtlCol="0" anchor="ctr"/>
          <a:lstStyle/>
          <a:p>
            <a:pPr indent="0" marL="0">
              <a:buNone/>
            </a:pPr>
            <a:r>
              <a:rPr lang="en-US" sz="1600" b="1" dirty="0">
                <a:solidFill>
                  <a:schemeClr val="bg1"/>
                </a:solidFill>
              </a:rPr>
              <a:t>Every build</a:t>
            </a:r>
            <a:endParaRPr lang="en-US" sz="1600" dirty="0"/>
          </a:p>
        </p:txBody>
      </p:sp>
      <p:sp>
        <p:nvSpPr>
          <p:cNvPr id="18" name="Text 13"/>
          <p:cNvSpPr txBox="1"/>
          <p:nvPr/>
        </p:nvSpPr>
        <p:spPr>
          <a:xfrm>
            <a:off x="1508760" y="4462272"/>
            <a:ext cx="4937760" cy="548640"/>
          </a:xfrm>
          <a:prstGeom prst="rect">
            <a:avLst/>
          </a:prstGeom>
          <a:noFill/>
          <a:ln/>
        </p:spPr>
        <p:txBody>
          <a:bodyPr wrap="square" lIns="0" tIns="0" rIns="0" bIns="0" rtlCol="0" anchor="t"/>
          <a:lstStyle/>
          <a:p>
            <a:pPr indent="0" marL="0">
              <a:buNone/>
            </a:pPr>
            <a:r>
              <a:rPr lang="en-US" sz="1300" dirty="0">
                <a:solidFill>
                  <a:schemeClr val="accent5"/>
                </a:solidFill>
              </a:rPr>
              <a:t>An automated probe hits each record route with another school's IDs and must get "not found".</a:t>
            </a:r>
            <a:endParaRPr lang="en-US" sz="1300" dirty="0"/>
          </a:p>
        </p:txBody>
      </p:sp>
      <p:sp>
        <p:nvSpPr>
          <p:cNvPr id="19" name="Text 14"/>
          <p:cNvSpPr txBox="1"/>
          <p:nvPr/>
        </p:nvSpPr>
        <p:spPr>
          <a:xfrm>
            <a:off x="7040880" y="1645920"/>
            <a:ext cx="45720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ALSO BUILT IN</a:t>
            </a:r>
            <a:endParaRPr lang="en-US" sz="1200" dirty="0"/>
          </a:p>
        </p:txBody>
      </p:sp>
      <p:sp>
        <p:nvSpPr>
          <p:cNvPr id="20" name="Text 15"/>
          <p:cNvSpPr txBox="1"/>
          <p:nvPr/>
        </p:nvSpPr>
        <p:spPr>
          <a:xfrm>
            <a:off x="7040880" y="2011680"/>
            <a:ext cx="4617720" cy="329184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bg1"/>
                </a:solidFill>
              </a:rPr>
              <a:t>Tokens in httpOnly cookies; refresh tokens rotate, and reuse is detected</a:t>
            </a:r>
            <a:endParaRPr lang="en-US" sz="1400" dirty="0"/>
          </a:p>
          <a:p>
            <a:pPr marL="203200" indent="-203200">
              <a:spcAft>
                <a:spcPts val="700"/>
              </a:spcAft>
              <a:buSzPct val="100000"/>
              <a:buChar char="●"/>
            </a:pPr>
            <a:r>
              <a:rPr lang="en-US" sz="1400" dirty="0">
                <a:solidFill>
                  <a:schemeClr val="bg1"/>
                </a:solidFill>
              </a:rPr>
              <a:t>Lockout and rate limits on sign-in, shared across servers</a:t>
            </a:r>
            <a:endParaRPr lang="en-US" sz="1400" dirty="0"/>
          </a:p>
          <a:p>
            <a:pPr marL="203200" indent="-203200">
              <a:spcAft>
                <a:spcPts val="700"/>
              </a:spcAft>
              <a:buSzPct val="100000"/>
              <a:buChar char="●"/>
            </a:pPr>
            <a:r>
              <a:rPr lang="en-US" sz="1400" dirty="0">
                <a:solidFill>
                  <a:schemeClr val="bg1"/>
                </a:solidFill>
              </a:rPr>
              <a:t>Audit log of every sensitive change, visible to the school</a:t>
            </a:r>
            <a:endParaRPr lang="en-US" sz="1400" dirty="0"/>
          </a:p>
          <a:p>
            <a:pPr marL="203200" indent="-203200">
              <a:spcAft>
                <a:spcPts val="700"/>
              </a:spcAft>
              <a:buSzPct val="100000"/>
              <a:buChar char="●"/>
            </a:pPr>
            <a:r>
              <a:rPr lang="en-US" sz="1400" dirty="0">
                <a:solidFill>
                  <a:schemeClr val="bg1"/>
                </a:solidFill>
              </a:rPr>
              <a:t>Bastaa support sees a school only after its admin approves: read-only, time-limited, logged</a:t>
            </a:r>
            <a:endParaRPr lang="en-US" sz="1400" dirty="0"/>
          </a:p>
          <a:p>
            <a:pPr marL="203200" indent="-203200">
              <a:spcAft>
                <a:spcPts val="700"/>
              </a:spcAft>
              <a:buSzPct val="100000"/>
              <a:buChar char="●"/>
            </a:pPr>
            <a:r>
              <a:rPr lang="en-US" sz="1400" dirty="0">
                <a:solidFill>
                  <a:schemeClr val="bg1"/>
                </a:solidFill>
              </a:rPr>
              <a:t>AI never receives names; PDFs render with scripts and network off</a:t>
            </a:r>
            <a:endParaRPr lang="en-US" sz="1400" dirty="0"/>
          </a:p>
          <a:p>
            <a:pPr marL="203200" indent="-203200">
              <a:spcAft>
                <a:spcPts val="700"/>
              </a:spcAft>
              <a:buSzPct val="100000"/>
              <a:buChar char="●"/>
            </a:pPr>
            <a:r>
              <a:rPr lang="en-US" sz="1400" dirty="0">
                <a:solidFill>
                  <a:schemeClr val="bg1"/>
                </a:solidFill>
              </a:rPr>
              <a:t>Uploads checked by content, downloads through short-lived links</a:t>
            </a:r>
            <a:endParaRPr lang="en-US" sz="1400" dirty="0"/>
          </a:p>
        </p:txBody>
      </p:sp>
      <p:sp>
        <p:nvSpPr>
          <p:cNvPr id="21" name="Text 16"/>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300" i="1" dirty="0">
                <a:solidFill>
                  <a:schemeClr val="accent5"/>
                </a:solidFill>
              </a:rPr>
              <a:t>Under India's DPDP Act the school is the data fiduciary and Bastaa the processor. Legal review is scheduled before the first live school.</a:t>
            </a:r>
            <a:endParaRPr lang="en-US" sz="13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ENGINEERING QUALITY</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Built like a product, tested like one</a:t>
            </a:r>
            <a:endParaRPr lang="en-US" sz="3000" dirty="0"/>
          </a:p>
        </p:txBody>
      </p:sp>
      <p:sp>
        <p:nvSpPr>
          <p:cNvPr id="4" name="Text 2"/>
          <p:cNvSpPr txBox="1"/>
          <p:nvPr/>
        </p:nvSpPr>
        <p:spPr>
          <a:xfrm>
            <a:off x="548640" y="164592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289</a:t>
            </a:r>
            <a:endParaRPr lang="en-US" sz="5400" dirty="0"/>
          </a:p>
        </p:txBody>
      </p:sp>
      <p:sp>
        <p:nvSpPr>
          <p:cNvPr id="5" name="Text 3"/>
          <p:cNvSpPr txBox="1"/>
          <p:nvPr/>
        </p:nvSpPr>
        <p:spPr>
          <a:xfrm>
            <a:off x="548640" y="2560320"/>
            <a:ext cx="2468880" cy="548640"/>
          </a:xfrm>
          <a:prstGeom prst="rect">
            <a:avLst/>
          </a:prstGeom>
          <a:noFill/>
          <a:ln/>
        </p:spPr>
        <p:txBody>
          <a:bodyPr wrap="square" lIns="0" tIns="0" rIns="0" bIns="0" rtlCol="0" anchor="t"/>
          <a:lstStyle/>
          <a:p>
            <a:pPr indent="0" marL="0">
              <a:buNone/>
            </a:pPr>
            <a:r>
              <a:rPr lang="en-US" sz="1400" dirty="0">
                <a:solidFill>
                  <a:schemeClr val="accent4"/>
                </a:solidFill>
              </a:rPr>
              <a:t>API endpoints, each with declared access</a:t>
            </a:r>
            <a:endParaRPr lang="en-US" sz="1400" dirty="0"/>
          </a:p>
        </p:txBody>
      </p:sp>
      <p:sp>
        <p:nvSpPr>
          <p:cNvPr id="6" name="Text 4"/>
          <p:cNvSpPr txBox="1"/>
          <p:nvPr/>
        </p:nvSpPr>
        <p:spPr>
          <a:xfrm>
            <a:off x="3346704" y="164592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95</a:t>
            </a:r>
            <a:endParaRPr lang="en-US" sz="5400" dirty="0"/>
          </a:p>
        </p:txBody>
      </p:sp>
      <p:sp>
        <p:nvSpPr>
          <p:cNvPr id="7" name="Text 5"/>
          <p:cNvSpPr txBox="1"/>
          <p:nvPr/>
        </p:nvSpPr>
        <p:spPr>
          <a:xfrm>
            <a:off x="3346704" y="2560320"/>
            <a:ext cx="2468880" cy="548640"/>
          </a:xfrm>
          <a:prstGeom prst="rect">
            <a:avLst/>
          </a:prstGeom>
          <a:noFill/>
          <a:ln/>
        </p:spPr>
        <p:txBody>
          <a:bodyPr wrap="square" lIns="0" tIns="0" rIns="0" bIns="0" rtlCol="0" anchor="t"/>
          <a:lstStyle/>
          <a:p>
            <a:pPr indent="0" marL="0">
              <a:buNone/>
            </a:pPr>
            <a:r>
              <a:rPr lang="en-US" sz="1400" dirty="0">
                <a:solidFill>
                  <a:schemeClr val="accent4"/>
                </a:solidFill>
              </a:rPr>
              <a:t>data models, 13 migrations</a:t>
            </a:r>
            <a:endParaRPr lang="en-US" sz="1400" dirty="0"/>
          </a:p>
        </p:txBody>
      </p:sp>
      <p:sp>
        <p:nvSpPr>
          <p:cNvPr id="8" name="Text 6"/>
          <p:cNvSpPr txBox="1"/>
          <p:nvPr/>
        </p:nvSpPr>
        <p:spPr>
          <a:xfrm>
            <a:off x="6144768" y="164592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30</a:t>
            </a:r>
            <a:endParaRPr lang="en-US" sz="5400" dirty="0"/>
          </a:p>
        </p:txBody>
      </p:sp>
      <p:sp>
        <p:nvSpPr>
          <p:cNvPr id="9" name="Text 7"/>
          <p:cNvSpPr txBox="1"/>
          <p:nvPr/>
        </p:nvSpPr>
        <p:spPr>
          <a:xfrm>
            <a:off x="6144768" y="2560320"/>
            <a:ext cx="2468880" cy="548640"/>
          </a:xfrm>
          <a:prstGeom prst="rect">
            <a:avLst/>
          </a:prstGeom>
          <a:noFill/>
          <a:ln/>
        </p:spPr>
        <p:txBody>
          <a:bodyPr wrap="square" lIns="0" tIns="0" rIns="0" bIns="0" rtlCol="0" anchor="t"/>
          <a:lstStyle/>
          <a:p>
            <a:pPr indent="0" marL="0">
              <a:buNone/>
            </a:pPr>
            <a:r>
              <a:rPr lang="en-US" sz="1400" dirty="0">
                <a:solidFill>
                  <a:schemeClr val="accent4"/>
                </a:solidFill>
              </a:rPr>
              <a:t>API modules, each with a README</a:t>
            </a:r>
            <a:endParaRPr lang="en-US" sz="1400" dirty="0"/>
          </a:p>
        </p:txBody>
      </p:sp>
      <p:sp>
        <p:nvSpPr>
          <p:cNvPr id="10" name="Text 8"/>
          <p:cNvSpPr txBox="1"/>
          <p:nvPr/>
        </p:nvSpPr>
        <p:spPr>
          <a:xfrm>
            <a:off x="8942832" y="164592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595</a:t>
            </a:r>
            <a:endParaRPr lang="en-US" sz="5400" dirty="0"/>
          </a:p>
        </p:txBody>
      </p:sp>
      <p:sp>
        <p:nvSpPr>
          <p:cNvPr id="11" name="Text 9"/>
          <p:cNvSpPr txBox="1"/>
          <p:nvPr/>
        </p:nvSpPr>
        <p:spPr>
          <a:xfrm>
            <a:off x="8942832" y="2560320"/>
            <a:ext cx="2468880" cy="548640"/>
          </a:xfrm>
          <a:prstGeom prst="rect">
            <a:avLst/>
          </a:prstGeom>
          <a:noFill/>
          <a:ln/>
        </p:spPr>
        <p:txBody>
          <a:bodyPr wrap="square" lIns="0" tIns="0" rIns="0" bIns="0" rtlCol="0" anchor="t"/>
          <a:lstStyle/>
          <a:p>
            <a:pPr indent="0" marL="0">
              <a:buNone/>
            </a:pPr>
            <a:r>
              <a:rPr lang="en-US" sz="1400" dirty="0">
                <a:solidFill>
                  <a:schemeClr val="accent4"/>
                </a:solidFill>
              </a:rPr>
              <a:t>automated tests across API, app and browser</a:t>
            </a:r>
            <a:endParaRPr lang="en-US" sz="1400" dirty="0"/>
          </a:p>
        </p:txBody>
      </p:sp>
      <p:graphicFrame>
        <p:nvGraphicFramePr>
          <p:cNvPr id="12" name="Chart 0" descr=""/>
          <p:cNvGraphicFramePr/>
          <p:nvPr/>
        </p:nvGraphicFramePr>
        <p:xfrm>
          <a:off x="548640" y="3337560"/>
          <a:ext cx="6583680" cy="28346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7589520" y="3429000"/>
            <a:ext cx="4023360" cy="320040"/>
          </a:xfrm>
          <a:prstGeom prst="rect">
            <a:avLst/>
          </a:prstGeom>
          <a:noFill/>
          <a:ln/>
        </p:spPr>
        <p:txBody>
          <a:bodyPr wrap="square" lIns="0" tIns="0" rIns="0" bIns="0" rtlCol="0" anchor="t"/>
          <a:lstStyle/>
          <a:p>
            <a:pPr indent="0" marL="0">
              <a:buNone/>
            </a:pPr>
            <a:r>
              <a:rPr lang="en-US" sz="1600" b="1" dirty="0">
                <a:solidFill>
                  <a:schemeClr val="tx1"/>
                </a:solidFill>
              </a:rPr>
              <a:t>Every pull request runs</a:t>
            </a:r>
            <a:endParaRPr lang="en-US" sz="1600" dirty="0"/>
          </a:p>
        </p:txBody>
      </p:sp>
      <p:pic>
        <p:nvPicPr>
          <p:cNvPr id="14" name="Image 0" descr="preencoded.png">    </p:cNvPr>
          <p:cNvPicPr>
            <a:picLocks noChangeAspect="1"/>
          </p:cNvPicPr>
          <p:nvPr/>
        </p:nvPicPr>
        <p:blipFill>
          <a:blip r:embed="rId2"/>
          <a:stretch>
            <a:fillRect/>
          </a:stretch>
        </p:blipFill>
        <p:spPr>
          <a:xfrm>
            <a:off x="7589520" y="3922776"/>
            <a:ext cx="256032" cy="256032"/>
          </a:xfrm>
          <a:prstGeom prst="rect">
            <a:avLst/>
          </a:prstGeom>
        </p:spPr>
      </p:pic>
      <p:sp>
        <p:nvSpPr>
          <p:cNvPr id="15" name="Text 11"/>
          <p:cNvSpPr txBox="1"/>
          <p:nvPr/>
        </p:nvSpPr>
        <p:spPr>
          <a:xfrm>
            <a:off x="7973568" y="3886200"/>
            <a:ext cx="3657600" cy="329184"/>
          </a:xfrm>
          <a:prstGeom prst="rect">
            <a:avLst/>
          </a:prstGeom>
          <a:noFill/>
          <a:ln/>
        </p:spPr>
        <p:txBody>
          <a:bodyPr wrap="square" lIns="0" tIns="0" rIns="0" bIns="0" rtlCol="0" anchor="t"/>
          <a:lstStyle/>
          <a:p>
            <a:pPr indent="0" marL="0">
              <a:buNone/>
            </a:pPr>
            <a:r>
              <a:rPr lang="en-US" sz="1400" dirty="0">
                <a:solidFill>
                  <a:schemeClr val="tx1"/>
                </a:solidFill>
              </a:rPr>
              <a:t>Lint and type checks</a:t>
            </a:r>
            <a:endParaRPr lang="en-US" sz="1400" dirty="0"/>
          </a:p>
        </p:txBody>
      </p:sp>
      <p:pic>
        <p:nvPicPr>
          <p:cNvPr id="16" name="Image 1" descr="preencoded.png">    </p:cNvPr>
          <p:cNvPicPr>
            <a:picLocks noChangeAspect="1"/>
          </p:cNvPicPr>
          <p:nvPr/>
        </p:nvPicPr>
        <p:blipFill>
          <a:blip r:embed="rId3"/>
          <a:stretch>
            <a:fillRect/>
          </a:stretch>
        </p:blipFill>
        <p:spPr>
          <a:xfrm>
            <a:off x="7589520" y="4361688"/>
            <a:ext cx="256032" cy="256032"/>
          </a:xfrm>
          <a:prstGeom prst="rect">
            <a:avLst/>
          </a:prstGeom>
        </p:spPr>
      </p:pic>
      <p:sp>
        <p:nvSpPr>
          <p:cNvPr id="17" name="Text 12"/>
          <p:cNvSpPr txBox="1"/>
          <p:nvPr/>
        </p:nvSpPr>
        <p:spPr>
          <a:xfrm>
            <a:off x="7973568" y="4325112"/>
            <a:ext cx="3657600" cy="329184"/>
          </a:xfrm>
          <a:prstGeom prst="rect">
            <a:avLst/>
          </a:prstGeom>
          <a:noFill/>
          <a:ln/>
        </p:spPr>
        <p:txBody>
          <a:bodyPr wrap="square" lIns="0" tIns="0" rIns="0" bIns="0" rtlCol="0" anchor="t"/>
          <a:lstStyle/>
          <a:p>
            <a:pPr indent="0" marL="0">
              <a:buNone/>
            </a:pPr>
            <a:r>
              <a:rPr lang="en-US" sz="1400" dirty="0">
                <a:solidFill>
                  <a:schemeClr val="tx1"/>
                </a:solidFill>
              </a:rPr>
              <a:t>API, app and browser tests</a:t>
            </a:r>
            <a:endParaRPr lang="en-US" sz="1400" dirty="0"/>
          </a:p>
        </p:txBody>
      </p:sp>
      <p:pic>
        <p:nvPicPr>
          <p:cNvPr id="18" name="Image 2" descr="preencoded.png">    </p:cNvPr>
          <p:cNvPicPr>
            <a:picLocks noChangeAspect="1"/>
          </p:cNvPicPr>
          <p:nvPr/>
        </p:nvPicPr>
        <p:blipFill>
          <a:blip r:embed="rId4"/>
          <a:stretch>
            <a:fillRect/>
          </a:stretch>
        </p:blipFill>
        <p:spPr>
          <a:xfrm>
            <a:off x="7589520" y="4800600"/>
            <a:ext cx="256032" cy="256032"/>
          </a:xfrm>
          <a:prstGeom prst="rect">
            <a:avLst/>
          </a:prstGeom>
        </p:spPr>
      </p:pic>
      <p:sp>
        <p:nvSpPr>
          <p:cNvPr id="19" name="Text 13"/>
          <p:cNvSpPr txBox="1"/>
          <p:nvPr/>
        </p:nvSpPr>
        <p:spPr>
          <a:xfrm>
            <a:off x="7973568" y="4764024"/>
            <a:ext cx="3657600" cy="329184"/>
          </a:xfrm>
          <a:prstGeom prst="rect">
            <a:avLst/>
          </a:prstGeom>
          <a:noFill/>
          <a:ln/>
        </p:spPr>
        <p:txBody>
          <a:bodyPr wrap="square" lIns="0" tIns="0" rIns="0" bIns="0" rtlCol="0" anchor="t"/>
          <a:lstStyle/>
          <a:p>
            <a:pPr indent="0" marL="0">
              <a:buNone/>
            </a:pPr>
            <a:r>
              <a:rPr lang="en-US" sz="1400" dirty="0">
                <a:solidFill>
                  <a:schemeClr val="tx1"/>
                </a:solidFill>
              </a:rPr>
              <a:t>Docker images for API, web and migrations</a:t>
            </a:r>
            <a:endParaRPr lang="en-US" sz="1400" dirty="0"/>
          </a:p>
        </p:txBody>
      </p:sp>
      <p:pic>
        <p:nvPicPr>
          <p:cNvPr id="20" name="Image 3" descr="preencoded.png">    </p:cNvPr>
          <p:cNvPicPr>
            <a:picLocks noChangeAspect="1"/>
          </p:cNvPicPr>
          <p:nvPr/>
        </p:nvPicPr>
        <p:blipFill>
          <a:blip r:embed="rId5"/>
          <a:stretch>
            <a:fillRect/>
          </a:stretch>
        </p:blipFill>
        <p:spPr>
          <a:xfrm>
            <a:off x="7589520" y="5239512"/>
            <a:ext cx="256032" cy="256032"/>
          </a:xfrm>
          <a:prstGeom prst="rect">
            <a:avLst/>
          </a:prstGeom>
        </p:spPr>
      </p:pic>
      <p:sp>
        <p:nvSpPr>
          <p:cNvPr id="21" name="Text 14"/>
          <p:cNvSpPr txBox="1"/>
          <p:nvPr/>
        </p:nvSpPr>
        <p:spPr>
          <a:xfrm>
            <a:off x="7973568" y="5202936"/>
            <a:ext cx="3657600" cy="329184"/>
          </a:xfrm>
          <a:prstGeom prst="rect">
            <a:avLst/>
          </a:prstGeom>
          <a:noFill/>
          <a:ln/>
        </p:spPr>
        <p:txBody>
          <a:bodyPr wrap="square" lIns="0" tIns="0" rIns="0" bIns="0" rtlCol="0" anchor="t"/>
          <a:lstStyle/>
          <a:p>
            <a:pPr indent="0" marL="0">
              <a:buNone/>
            </a:pPr>
            <a:r>
              <a:rPr lang="en-US" sz="1400" dirty="0">
                <a:solidFill>
                  <a:schemeClr val="tx1"/>
                </a:solidFill>
              </a:rPr>
              <a:t>Android build</a:t>
            </a:r>
            <a:endParaRPr lang="en-US" sz="1400" dirty="0"/>
          </a:p>
        </p:txBody>
      </p:sp>
      <p:pic>
        <p:nvPicPr>
          <p:cNvPr id="22" name="Image 4" descr="preencoded.png">    </p:cNvPr>
          <p:cNvPicPr>
            <a:picLocks noChangeAspect="1"/>
          </p:cNvPicPr>
          <p:nvPr/>
        </p:nvPicPr>
        <p:blipFill>
          <a:blip r:embed="rId6"/>
          <a:stretch>
            <a:fillRect/>
          </a:stretch>
        </p:blipFill>
        <p:spPr>
          <a:xfrm>
            <a:off x="7589520" y="5678424"/>
            <a:ext cx="256032" cy="256032"/>
          </a:xfrm>
          <a:prstGeom prst="rect">
            <a:avLst/>
          </a:prstGeom>
        </p:spPr>
      </p:pic>
      <p:sp>
        <p:nvSpPr>
          <p:cNvPr id="23" name="Text 15"/>
          <p:cNvSpPr txBox="1"/>
          <p:nvPr/>
        </p:nvSpPr>
        <p:spPr>
          <a:xfrm>
            <a:off x="7973568" y="5641848"/>
            <a:ext cx="3657600" cy="329184"/>
          </a:xfrm>
          <a:prstGeom prst="rect">
            <a:avLst/>
          </a:prstGeom>
          <a:noFill/>
          <a:ln/>
        </p:spPr>
        <p:txBody>
          <a:bodyPr wrap="square" lIns="0" tIns="0" rIns="0" bIns="0" rtlCol="0" anchor="t"/>
          <a:lstStyle/>
          <a:p>
            <a:pPr indent="0" marL="0">
              <a:buNone/>
            </a:pPr>
            <a:r>
              <a:rPr lang="en-US" sz="1400" dirty="0">
                <a:solidFill>
                  <a:schemeClr val="tx1"/>
                </a:solidFill>
              </a:rPr>
              <a:t>OpenAPI spec must match the code</a:t>
            </a:r>
            <a:endParaRPr lang="en-US" sz="14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TECHNOLOGY STACK</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Modern, mainstream, and cheap to run</a:t>
            </a:r>
            <a:endParaRPr lang="en-US" sz="3000" dirty="0"/>
          </a:p>
        </p:txBody>
      </p:sp>
      <p:sp>
        <p:nvSpPr>
          <p:cNvPr id="4" name="Stack Mobile"/>
          <p:cNvSpPr/>
          <p:nvPr/>
        </p:nvSpPr>
        <p:spPr>
          <a:xfrm>
            <a:off x="548640" y="1691640"/>
            <a:ext cx="2066544" cy="3291840"/>
          </a:xfrm>
          <a:prstGeom prst="roundRect">
            <a:avLst>
              <a:gd name="adj" fmla="val 5310"/>
            </a:avLst>
          </a:prstGeom>
          <a:solidFill>
            <a:srgbClr val="F3F6FC"/>
          </a:solidFill>
          <a:ln w="12700">
            <a:solidFill>
              <a:srgbClr val="F3F6FC"/>
            </a:solidFill>
            <a:prstDash val="solid"/>
          </a:ln>
        </p:spPr>
      </p:sp>
      <p:sp>
        <p:nvSpPr>
          <p:cNvPr id="5" name="Shape 3"/>
          <p:cNvSpPr/>
          <p:nvPr/>
        </p:nvSpPr>
        <p:spPr>
          <a:xfrm>
            <a:off x="777240" y="1920240"/>
            <a:ext cx="475488" cy="475488"/>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891357" y="2034357"/>
            <a:ext cx="247254" cy="247254"/>
          </a:xfrm>
          <a:prstGeom prst="rect">
            <a:avLst/>
          </a:prstGeom>
        </p:spPr>
      </p:pic>
      <p:sp>
        <p:nvSpPr>
          <p:cNvPr id="7" name="Text 4"/>
          <p:cNvSpPr txBox="1"/>
          <p:nvPr/>
        </p:nvSpPr>
        <p:spPr>
          <a:xfrm>
            <a:off x="777240" y="2560320"/>
            <a:ext cx="1737360" cy="347472"/>
          </a:xfrm>
          <a:prstGeom prst="rect">
            <a:avLst/>
          </a:prstGeom>
          <a:noFill/>
          <a:ln/>
        </p:spPr>
        <p:txBody>
          <a:bodyPr wrap="square" lIns="0" tIns="0" rIns="0" bIns="0" rtlCol="0" anchor="t"/>
          <a:lstStyle/>
          <a:p>
            <a:pPr indent="0" marL="0">
              <a:buNone/>
            </a:pPr>
            <a:r>
              <a:rPr lang="en-US" sz="1700" b="1" dirty="0">
                <a:solidFill>
                  <a:schemeClr val="tx1"/>
                </a:solidFill>
              </a:rPr>
              <a:t>Mobile</a:t>
            </a:r>
            <a:endParaRPr lang="en-US" sz="1700" dirty="0"/>
          </a:p>
        </p:txBody>
      </p:sp>
      <p:sp>
        <p:nvSpPr>
          <p:cNvPr id="8" name="Text 5"/>
          <p:cNvSpPr txBox="1"/>
          <p:nvPr/>
        </p:nvSpPr>
        <p:spPr>
          <a:xfrm>
            <a:off x="777240" y="3017520"/>
            <a:ext cx="1737360" cy="347472"/>
          </a:xfrm>
          <a:prstGeom prst="rect">
            <a:avLst/>
          </a:prstGeom>
          <a:noFill/>
          <a:ln/>
        </p:spPr>
        <p:txBody>
          <a:bodyPr wrap="square" lIns="0" tIns="0" rIns="0" bIns="0" rtlCol="0" anchor="t"/>
          <a:lstStyle/>
          <a:p>
            <a:pPr indent="0" marL="0">
              <a:buNone/>
            </a:pPr>
            <a:r>
              <a:rPr lang="en-US" sz="1400" dirty="0">
                <a:solidFill>
                  <a:schemeClr val="accent4"/>
                </a:solidFill>
              </a:rPr>
              <a:t>Flutter 3.47</a:t>
            </a:r>
            <a:endParaRPr lang="en-US" sz="1400" dirty="0"/>
          </a:p>
        </p:txBody>
      </p:sp>
      <p:sp>
        <p:nvSpPr>
          <p:cNvPr id="9" name="Text 6"/>
          <p:cNvSpPr txBox="1"/>
          <p:nvPr/>
        </p:nvSpPr>
        <p:spPr>
          <a:xfrm>
            <a:off x="777240" y="3456432"/>
            <a:ext cx="1737360" cy="347472"/>
          </a:xfrm>
          <a:prstGeom prst="rect">
            <a:avLst/>
          </a:prstGeom>
          <a:noFill/>
          <a:ln/>
        </p:spPr>
        <p:txBody>
          <a:bodyPr wrap="square" lIns="0" tIns="0" rIns="0" bIns="0" rtlCol="0" anchor="t"/>
          <a:lstStyle/>
          <a:p>
            <a:pPr indent="0" marL="0">
              <a:buNone/>
            </a:pPr>
            <a:r>
              <a:rPr lang="en-US" sz="1400" dirty="0">
                <a:solidFill>
                  <a:schemeClr val="accent4"/>
                </a:solidFill>
              </a:rPr>
              <a:t>Riverpod 3</a:t>
            </a:r>
            <a:endParaRPr lang="en-US" sz="1400" dirty="0"/>
          </a:p>
        </p:txBody>
      </p:sp>
      <p:sp>
        <p:nvSpPr>
          <p:cNvPr id="10" name="Text 7"/>
          <p:cNvSpPr txBox="1"/>
          <p:nvPr/>
        </p:nvSpPr>
        <p:spPr>
          <a:xfrm>
            <a:off x="777240" y="3895344"/>
            <a:ext cx="1737360" cy="347472"/>
          </a:xfrm>
          <a:prstGeom prst="rect">
            <a:avLst/>
          </a:prstGeom>
          <a:noFill/>
          <a:ln/>
        </p:spPr>
        <p:txBody>
          <a:bodyPr wrap="square" lIns="0" tIns="0" rIns="0" bIns="0" rtlCol="0" anchor="t"/>
          <a:lstStyle/>
          <a:p>
            <a:pPr indent="0" marL="0">
              <a:buNone/>
            </a:pPr>
            <a:r>
              <a:rPr lang="en-US" sz="1400" dirty="0">
                <a:solidFill>
                  <a:schemeClr val="accent4"/>
                </a:solidFill>
              </a:rPr>
              <a:t>Offline queue</a:t>
            </a:r>
            <a:endParaRPr lang="en-US" sz="1400" dirty="0"/>
          </a:p>
        </p:txBody>
      </p:sp>
      <p:sp>
        <p:nvSpPr>
          <p:cNvPr id="11" name="Text 8"/>
          <p:cNvSpPr txBox="1"/>
          <p:nvPr/>
        </p:nvSpPr>
        <p:spPr>
          <a:xfrm>
            <a:off x="777240" y="4334256"/>
            <a:ext cx="1737360" cy="347472"/>
          </a:xfrm>
          <a:prstGeom prst="rect">
            <a:avLst/>
          </a:prstGeom>
          <a:noFill/>
          <a:ln/>
        </p:spPr>
        <p:txBody>
          <a:bodyPr wrap="square" lIns="0" tIns="0" rIns="0" bIns="0" rtlCol="0" anchor="t"/>
          <a:lstStyle/>
          <a:p>
            <a:pPr indent="0" marL="0">
              <a:buNone/>
            </a:pPr>
            <a:r>
              <a:rPr lang="en-US" sz="1400" dirty="0">
                <a:solidFill>
                  <a:schemeClr val="accent4"/>
                </a:solidFill>
              </a:rPr>
              <a:t>Firebase push</a:t>
            </a:r>
            <a:endParaRPr lang="en-US" sz="1400" dirty="0"/>
          </a:p>
        </p:txBody>
      </p:sp>
      <p:sp>
        <p:nvSpPr>
          <p:cNvPr id="12" name="Stack Web"/>
          <p:cNvSpPr/>
          <p:nvPr/>
        </p:nvSpPr>
        <p:spPr>
          <a:xfrm>
            <a:off x="2798064" y="1691640"/>
            <a:ext cx="2066544" cy="3291840"/>
          </a:xfrm>
          <a:prstGeom prst="roundRect">
            <a:avLst>
              <a:gd name="adj" fmla="val 5310"/>
            </a:avLst>
          </a:prstGeom>
          <a:solidFill>
            <a:srgbClr val="F3F6FC"/>
          </a:solidFill>
          <a:ln w="12700">
            <a:solidFill>
              <a:srgbClr val="F3F6FC"/>
            </a:solidFill>
            <a:prstDash val="solid"/>
          </a:ln>
        </p:spPr>
      </p:sp>
      <p:sp>
        <p:nvSpPr>
          <p:cNvPr id="13" name="Shape 10"/>
          <p:cNvSpPr/>
          <p:nvPr/>
        </p:nvSpPr>
        <p:spPr>
          <a:xfrm>
            <a:off x="3026664" y="1920240"/>
            <a:ext cx="475488" cy="475488"/>
          </a:xfrm>
          <a:prstGeom prst="ellipse">
            <a:avLst/>
          </a:prstGeom>
          <a:solidFill>
            <a:srgbClr val="2F6FEB"/>
          </a:solidFill>
          <a:ln w="12700">
            <a:solidFill>
              <a:srgbClr val="2F6FEB"/>
            </a:solidFill>
            <a:prstDash val="solid"/>
          </a:ln>
        </p:spPr>
      </p:sp>
      <p:pic>
        <p:nvPicPr>
          <p:cNvPr id="14" name="Image 1" descr="preencoded.png">    </p:cNvPr>
          <p:cNvPicPr>
            <a:picLocks noChangeAspect="1"/>
          </p:cNvPicPr>
          <p:nvPr/>
        </p:nvPicPr>
        <p:blipFill>
          <a:blip r:embed="rId2"/>
          <a:stretch>
            <a:fillRect/>
          </a:stretch>
        </p:blipFill>
        <p:spPr>
          <a:xfrm>
            <a:off x="3140781" y="2034357"/>
            <a:ext cx="247254" cy="247254"/>
          </a:xfrm>
          <a:prstGeom prst="rect">
            <a:avLst/>
          </a:prstGeom>
        </p:spPr>
      </p:pic>
      <p:sp>
        <p:nvSpPr>
          <p:cNvPr id="15" name="Text 11"/>
          <p:cNvSpPr txBox="1"/>
          <p:nvPr/>
        </p:nvSpPr>
        <p:spPr>
          <a:xfrm>
            <a:off x="3026664" y="2560320"/>
            <a:ext cx="1737360" cy="347472"/>
          </a:xfrm>
          <a:prstGeom prst="rect">
            <a:avLst/>
          </a:prstGeom>
          <a:noFill/>
          <a:ln/>
        </p:spPr>
        <p:txBody>
          <a:bodyPr wrap="square" lIns="0" tIns="0" rIns="0" bIns="0" rtlCol="0" anchor="t"/>
          <a:lstStyle/>
          <a:p>
            <a:pPr indent="0" marL="0">
              <a:buNone/>
            </a:pPr>
            <a:r>
              <a:rPr lang="en-US" sz="1700" b="1" dirty="0">
                <a:solidFill>
                  <a:schemeClr val="tx1"/>
                </a:solidFill>
              </a:rPr>
              <a:t>Web</a:t>
            </a:r>
            <a:endParaRPr lang="en-US" sz="1700" dirty="0"/>
          </a:p>
        </p:txBody>
      </p:sp>
      <p:sp>
        <p:nvSpPr>
          <p:cNvPr id="16" name="Text 12"/>
          <p:cNvSpPr txBox="1"/>
          <p:nvPr/>
        </p:nvSpPr>
        <p:spPr>
          <a:xfrm>
            <a:off x="3026664" y="3017520"/>
            <a:ext cx="1737360" cy="347472"/>
          </a:xfrm>
          <a:prstGeom prst="rect">
            <a:avLst/>
          </a:prstGeom>
          <a:noFill/>
          <a:ln/>
        </p:spPr>
        <p:txBody>
          <a:bodyPr wrap="square" lIns="0" tIns="0" rIns="0" bIns="0" rtlCol="0" anchor="t"/>
          <a:lstStyle/>
          <a:p>
            <a:pPr indent="0" marL="0">
              <a:buNone/>
            </a:pPr>
            <a:r>
              <a:rPr lang="en-US" sz="1400" dirty="0">
                <a:solidFill>
                  <a:schemeClr val="accent4"/>
                </a:solidFill>
              </a:rPr>
              <a:t>Next.js 16</a:t>
            </a:r>
            <a:endParaRPr lang="en-US" sz="1400" dirty="0"/>
          </a:p>
        </p:txBody>
      </p:sp>
      <p:sp>
        <p:nvSpPr>
          <p:cNvPr id="17" name="Text 13"/>
          <p:cNvSpPr txBox="1"/>
          <p:nvPr/>
        </p:nvSpPr>
        <p:spPr>
          <a:xfrm>
            <a:off x="3026664" y="3456432"/>
            <a:ext cx="1737360" cy="347472"/>
          </a:xfrm>
          <a:prstGeom prst="rect">
            <a:avLst/>
          </a:prstGeom>
          <a:noFill/>
          <a:ln/>
        </p:spPr>
        <p:txBody>
          <a:bodyPr wrap="square" lIns="0" tIns="0" rIns="0" bIns="0" rtlCol="0" anchor="t"/>
          <a:lstStyle/>
          <a:p>
            <a:pPr indent="0" marL="0">
              <a:buNone/>
            </a:pPr>
            <a:r>
              <a:rPr lang="en-US" sz="1400" dirty="0">
                <a:solidFill>
                  <a:schemeClr val="accent4"/>
                </a:solidFill>
              </a:rPr>
              <a:t>React 19</a:t>
            </a:r>
            <a:endParaRPr lang="en-US" sz="1400" dirty="0"/>
          </a:p>
        </p:txBody>
      </p:sp>
      <p:sp>
        <p:nvSpPr>
          <p:cNvPr id="18" name="Text 14"/>
          <p:cNvSpPr txBox="1"/>
          <p:nvPr/>
        </p:nvSpPr>
        <p:spPr>
          <a:xfrm>
            <a:off x="3026664" y="3895344"/>
            <a:ext cx="1737360" cy="347472"/>
          </a:xfrm>
          <a:prstGeom prst="rect">
            <a:avLst/>
          </a:prstGeom>
          <a:noFill/>
          <a:ln/>
        </p:spPr>
        <p:txBody>
          <a:bodyPr wrap="square" lIns="0" tIns="0" rIns="0" bIns="0" rtlCol="0" anchor="t"/>
          <a:lstStyle/>
          <a:p>
            <a:pPr indent="0" marL="0">
              <a:buNone/>
            </a:pPr>
            <a:r>
              <a:rPr lang="en-US" sz="1400" dirty="0">
                <a:solidFill>
                  <a:schemeClr val="accent4"/>
                </a:solidFill>
              </a:rPr>
              <a:t>Tailwind 4</a:t>
            </a:r>
            <a:endParaRPr lang="en-US" sz="1400" dirty="0"/>
          </a:p>
        </p:txBody>
      </p:sp>
      <p:sp>
        <p:nvSpPr>
          <p:cNvPr id="19" name="Text 15"/>
          <p:cNvSpPr txBox="1"/>
          <p:nvPr/>
        </p:nvSpPr>
        <p:spPr>
          <a:xfrm>
            <a:off x="3026664" y="4334256"/>
            <a:ext cx="1737360" cy="347472"/>
          </a:xfrm>
          <a:prstGeom prst="rect">
            <a:avLst/>
          </a:prstGeom>
          <a:noFill/>
          <a:ln/>
        </p:spPr>
        <p:txBody>
          <a:bodyPr wrap="square" lIns="0" tIns="0" rIns="0" bIns="0" rtlCol="0" anchor="t"/>
          <a:lstStyle/>
          <a:p>
            <a:pPr indent="0" marL="0">
              <a:buNone/>
            </a:pPr>
            <a:r>
              <a:rPr lang="en-US" sz="1400" dirty="0">
                <a:solidFill>
                  <a:schemeClr val="accent4"/>
                </a:solidFill>
              </a:rPr>
              <a:t>TanStack Query</a:t>
            </a:r>
            <a:endParaRPr lang="en-US" sz="1400" dirty="0"/>
          </a:p>
        </p:txBody>
      </p:sp>
      <p:sp>
        <p:nvSpPr>
          <p:cNvPr id="20" name="Stack API"/>
          <p:cNvSpPr/>
          <p:nvPr/>
        </p:nvSpPr>
        <p:spPr>
          <a:xfrm>
            <a:off x="5047488" y="1691640"/>
            <a:ext cx="2066544" cy="3291840"/>
          </a:xfrm>
          <a:prstGeom prst="roundRect">
            <a:avLst>
              <a:gd name="adj" fmla="val 5310"/>
            </a:avLst>
          </a:prstGeom>
          <a:solidFill>
            <a:srgbClr val="F3F6FC"/>
          </a:solidFill>
          <a:ln w="12700">
            <a:solidFill>
              <a:srgbClr val="F3F6FC"/>
            </a:solidFill>
            <a:prstDash val="solid"/>
          </a:ln>
        </p:spPr>
      </p:sp>
      <p:sp>
        <p:nvSpPr>
          <p:cNvPr id="21" name="Shape 17"/>
          <p:cNvSpPr/>
          <p:nvPr/>
        </p:nvSpPr>
        <p:spPr>
          <a:xfrm>
            <a:off x="5276088" y="1920240"/>
            <a:ext cx="475488" cy="475488"/>
          </a:xfrm>
          <a:prstGeom prst="ellipse">
            <a:avLst/>
          </a:prstGeom>
          <a:solidFill>
            <a:srgbClr val="2F6FEB"/>
          </a:solidFill>
          <a:ln w="12700">
            <a:solidFill>
              <a:srgbClr val="2F6FEB"/>
            </a:solidFill>
            <a:prstDash val="solid"/>
          </a:ln>
        </p:spPr>
      </p:sp>
      <p:pic>
        <p:nvPicPr>
          <p:cNvPr id="22" name="Image 2" descr="preencoded.png">    </p:cNvPr>
          <p:cNvPicPr>
            <a:picLocks noChangeAspect="1"/>
          </p:cNvPicPr>
          <p:nvPr/>
        </p:nvPicPr>
        <p:blipFill>
          <a:blip r:embed="rId3"/>
          <a:stretch>
            <a:fillRect/>
          </a:stretch>
        </p:blipFill>
        <p:spPr>
          <a:xfrm>
            <a:off x="5390205" y="2034357"/>
            <a:ext cx="247254" cy="247254"/>
          </a:xfrm>
          <a:prstGeom prst="rect">
            <a:avLst/>
          </a:prstGeom>
        </p:spPr>
      </p:pic>
      <p:sp>
        <p:nvSpPr>
          <p:cNvPr id="23" name="Text 18"/>
          <p:cNvSpPr txBox="1"/>
          <p:nvPr/>
        </p:nvSpPr>
        <p:spPr>
          <a:xfrm>
            <a:off x="5276088" y="2560320"/>
            <a:ext cx="1737360" cy="347472"/>
          </a:xfrm>
          <a:prstGeom prst="rect">
            <a:avLst/>
          </a:prstGeom>
          <a:noFill/>
          <a:ln/>
        </p:spPr>
        <p:txBody>
          <a:bodyPr wrap="square" lIns="0" tIns="0" rIns="0" bIns="0" rtlCol="0" anchor="t"/>
          <a:lstStyle/>
          <a:p>
            <a:pPr indent="0" marL="0">
              <a:buNone/>
            </a:pPr>
            <a:r>
              <a:rPr lang="en-US" sz="1700" b="1" dirty="0">
                <a:solidFill>
                  <a:schemeClr val="tx1"/>
                </a:solidFill>
              </a:rPr>
              <a:t>API</a:t>
            </a:r>
            <a:endParaRPr lang="en-US" sz="1700" dirty="0"/>
          </a:p>
        </p:txBody>
      </p:sp>
      <p:sp>
        <p:nvSpPr>
          <p:cNvPr id="24" name="Text 19"/>
          <p:cNvSpPr txBox="1"/>
          <p:nvPr/>
        </p:nvSpPr>
        <p:spPr>
          <a:xfrm>
            <a:off x="5276088" y="3017520"/>
            <a:ext cx="1737360" cy="347472"/>
          </a:xfrm>
          <a:prstGeom prst="rect">
            <a:avLst/>
          </a:prstGeom>
          <a:noFill/>
          <a:ln/>
        </p:spPr>
        <p:txBody>
          <a:bodyPr wrap="square" lIns="0" tIns="0" rIns="0" bIns="0" rtlCol="0" anchor="t"/>
          <a:lstStyle/>
          <a:p>
            <a:pPr indent="0" marL="0">
              <a:buNone/>
            </a:pPr>
            <a:r>
              <a:rPr lang="en-US" sz="1400" dirty="0">
                <a:solidFill>
                  <a:schemeClr val="accent4"/>
                </a:solidFill>
              </a:rPr>
              <a:t>NestJS 12</a:t>
            </a:r>
            <a:endParaRPr lang="en-US" sz="1400" dirty="0"/>
          </a:p>
        </p:txBody>
      </p:sp>
      <p:sp>
        <p:nvSpPr>
          <p:cNvPr id="25" name="Text 20"/>
          <p:cNvSpPr txBox="1"/>
          <p:nvPr/>
        </p:nvSpPr>
        <p:spPr>
          <a:xfrm>
            <a:off x="5276088" y="3456432"/>
            <a:ext cx="1737360" cy="347472"/>
          </a:xfrm>
          <a:prstGeom prst="rect">
            <a:avLst/>
          </a:prstGeom>
          <a:noFill/>
          <a:ln/>
        </p:spPr>
        <p:txBody>
          <a:bodyPr wrap="square" lIns="0" tIns="0" rIns="0" bIns="0" rtlCol="0" anchor="t"/>
          <a:lstStyle/>
          <a:p>
            <a:pPr indent="0" marL="0">
              <a:buNone/>
            </a:pPr>
            <a:r>
              <a:rPr lang="en-US" sz="1400" dirty="0">
                <a:solidFill>
                  <a:schemeClr val="accent4"/>
                </a:solidFill>
              </a:rPr>
              <a:t>TypeScript</a:t>
            </a:r>
            <a:endParaRPr lang="en-US" sz="1400" dirty="0"/>
          </a:p>
        </p:txBody>
      </p:sp>
      <p:sp>
        <p:nvSpPr>
          <p:cNvPr id="26" name="Text 21"/>
          <p:cNvSpPr txBox="1"/>
          <p:nvPr/>
        </p:nvSpPr>
        <p:spPr>
          <a:xfrm>
            <a:off x="5276088" y="3895344"/>
            <a:ext cx="1737360" cy="347472"/>
          </a:xfrm>
          <a:prstGeom prst="rect">
            <a:avLst/>
          </a:prstGeom>
          <a:noFill/>
          <a:ln/>
        </p:spPr>
        <p:txBody>
          <a:bodyPr wrap="square" lIns="0" tIns="0" rIns="0" bIns="0" rtlCol="0" anchor="t"/>
          <a:lstStyle/>
          <a:p>
            <a:pPr indent="0" marL="0">
              <a:buNone/>
            </a:pPr>
            <a:r>
              <a:rPr lang="en-US" sz="1400" dirty="0">
                <a:solidFill>
                  <a:schemeClr val="accent4"/>
                </a:solidFill>
              </a:rPr>
              <a:t>Zod 4 contracts</a:t>
            </a:r>
            <a:endParaRPr lang="en-US" sz="1400" dirty="0"/>
          </a:p>
        </p:txBody>
      </p:sp>
      <p:sp>
        <p:nvSpPr>
          <p:cNvPr id="27" name="Text 22"/>
          <p:cNvSpPr txBox="1"/>
          <p:nvPr/>
        </p:nvSpPr>
        <p:spPr>
          <a:xfrm>
            <a:off x="5276088" y="4334256"/>
            <a:ext cx="1737360" cy="347472"/>
          </a:xfrm>
          <a:prstGeom prst="rect">
            <a:avLst/>
          </a:prstGeom>
          <a:noFill/>
          <a:ln/>
        </p:spPr>
        <p:txBody>
          <a:bodyPr wrap="square" lIns="0" tIns="0" rIns="0" bIns="0" rtlCol="0" anchor="t"/>
          <a:lstStyle/>
          <a:p>
            <a:pPr indent="0" marL="0">
              <a:buNone/>
            </a:pPr>
            <a:r>
              <a:rPr lang="en-US" sz="1400" dirty="0">
                <a:solidFill>
                  <a:schemeClr val="accent4"/>
                </a:solidFill>
              </a:rPr>
              <a:t>BullMQ on Postgres</a:t>
            </a:r>
            <a:endParaRPr lang="en-US" sz="1400" dirty="0"/>
          </a:p>
        </p:txBody>
      </p:sp>
      <p:sp>
        <p:nvSpPr>
          <p:cNvPr id="28" name="Stack Data"/>
          <p:cNvSpPr/>
          <p:nvPr/>
        </p:nvSpPr>
        <p:spPr>
          <a:xfrm>
            <a:off x="7296912" y="1691640"/>
            <a:ext cx="2066544" cy="3291840"/>
          </a:xfrm>
          <a:prstGeom prst="roundRect">
            <a:avLst>
              <a:gd name="adj" fmla="val 5310"/>
            </a:avLst>
          </a:prstGeom>
          <a:solidFill>
            <a:srgbClr val="F3F6FC"/>
          </a:solidFill>
          <a:ln w="12700">
            <a:solidFill>
              <a:srgbClr val="F3F6FC"/>
            </a:solidFill>
            <a:prstDash val="solid"/>
          </a:ln>
        </p:spPr>
      </p:sp>
      <p:sp>
        <p:nvSpPr>
          <p:cNvPr id="29" name="Shape 24"/>
          <p:cNvSpPr/>
          <p:nvPr/>
        </p:nvSpPr>
        <p:spPr>
          <a:xfrm>
            <a:off x="7525512" y="1920240"/>
            <a:ext cx="475488" cy="475488"/>
          </a:xfrm>
          <a:prstGeom prst="ellipse">
            <a:avLst/>
          </a:prstGeom>
          <a:solidFill>
            <a:srgbClr val="2F6FEB"/>
          </a:solidFill>
          <a:ln w="12700">
            <a:solidFill>
              <a:srgbClr val="2F6FEB"/>
            </a:solidFill>
            <a:prstDash val="solid"/>
          </a:ln>
        </p:spPr>
      </p:sp>
      <p:pic>
        <p:nvPicPr>
          <p:cNvPr id="30" name="Image 3" descr="preencoded.png">    </p:cNvPr>
          <p:cNvPicPr>
            <a:picLocks noChangeAspect="1"/>
          </p:cNvPicPr>
          <p:nvPr/>
        </p:nvPicPr>
        <p:blipFill>
          <a:blip r:embed="rId4"/>
          <a:stretch>
            <a:fillRect/>
          </a:stretch>
        </p:blipFill>
        <p:spPr>
          <a:xfrm>
            <a:off x="7639629" y="2034357"/>
            <a:ext cx="247254" cy="247254"/>
          </a:xfrm>
          <a:prstGeom prst="rect">
            <a:avLst/>
          </a:prstGeom>
        </p:spPr>
      </p:pic>
      <p:sp>
        <p:nvSpPr>
          <p:cNvPr id="31" name="Text 25"/>
          <p:cNvSpPr txBox="1"/>
          <p:nvPr/>
        </p:nvSpPr>
        <p:spPr>
          <a:xfrm>
            <a:off x="7525512" y="2560320"/>
            <a:ext cx="1737360" cy="347472"/>
          </a:xfrm>
          <a:prstGeom prst="rect">
            <a:avLst/>
          </a:prstGeom>
          <a:noFill/>
          <a:ln/>
        </p:spPr>
        <p:txBody>
          <a:bodyPr wrap="square" lIns="0" tIns="0" rIns="0" bIns="0" rtlCol="0" anchor="t"/>
          <a:lstStyle/>
          <a:p>
            <a:pPr indent="0" marL="0">
              <a:buNone/>
            </a:pPr>
            <a:r>
              <a:rPr lang="en-US" sz="1700" b="1" dirty="0">
                <a:solidFill>
                  <a:schemeClr val="tx1"/>
                </a:solidFill>
              </a:rPr>
              <a:t>Data</a:t>
            </a:r>
            <a:endParaRPr lang="en-US" sz="1700" dirty="0"/>
          </a:p>
        </p:txBody>
      </p:sp>
      <p:sp>
        <p:nvSpPr>
          <p:cNvPr id="32" name="Text 26"/>
          <p:cNvSpPr txBox="1"/>
          <p:nvPr/>
        </p:nvSpPr>
        <p:spPr>
          <a:xfrm>
            <a:off x="7525512" y="3017520"/>
            <a:ext cx="1737360" cy="347472"/>
          </a:xfrm>
          <a:prstGeom prst="rect">
            <a:avLst/>
          </a:prstGeom>
          <a:noFill/>
          <a:ln/>
        </p:spPr>
        <p:txBody>
          <a:bodyPr wrap="square" lIns="0" tIns="0" rIns="0" bIns="0" rtlCol="0" anchor="t"/>
          <a:lstStyle/>
          <a:p>
            <a:pPr indent="0" marL="0">
              <a:buNone/>
            </a:pPr>
            <a:r>
              <a:rPr lang="en-US" sz="1400" dirty="0">
                <a:solidFill>
                  <a:schemeClr val="accent4"/>
                </a:solidFill>
              </a:rPr>
              <a:t>PostgreSQL 17</a:t>
            </a:r>
            <a:endParaRPr lang="en-US" sz="1400" dirty="0"/>
          </a:p>
        </p:txBody>
      </p:sp>
      <p:sp>
        <p:nvSpPr>
          <p:cNvPr id="33" name="Text 27"/>
          <p:cNvSpPr txBox="1"/>
          <p:nvPr/>
        </p:nvSpPr>
        <p:spPr>
          <a:xfrm>
            <a:off x="7525512" y="3456432"/>
            <a:ext cx="1737360" cy="347472"/>
          </a:xfrm>
          <a:prstGeom prst="rect">
            <a:avLst/>
          </a:prstGeom>
          <a:noFill/>
          <a:ln/>
        </p:spPr>
        <p:txBody>
          <a:bodyPr wrap="square" lIns="0" tIns="0" rIns="0" bIns="0" rtlCol="0" anchor="t"/>
          <a:lstStyle/>
          <a:p>
            <a:pPr indent="0" marL="0">
              <a:buNone/>
            </a:pPr>
            <a:r>
              <a:rPr lang="en-US" sz="1400" dirty="0">
                <a:solidFill>
                  <a:schemeClr val="accent4"/>
                </a:solidFill>
              </a:rPr>
              <a:t>Row-level security</a:t>
            </a:r>
            <a:endParaRPr lang="en-US" sz="1400" dirty="0"/>
          </a:p>
        </p:txBody>
      </p:sp>
      <p:sp>
        <p:nvSpPr>
          <p:cNvPr id="34" name="Text 28"/>
          <p:cNvSpPr txBox="1"/>
          <p:nvPr/>
        </p:nvSpPr>
        <p:spPr>
          <a:xfrm>
            <a:off x="7525512" y="3895344"/>
            <a:ext cx="1737360" cy="347472"/>
          </a:xfrm>
          <a:prstGeom prst="rect">
            <a:avLst/>
          </a:prstGeom>
          <a:noFill/>
          <a:ln/>
        </p:spPr>
        <p:txBody>
          <a:bodyPr wrap="square" lIns="0" tIns="0" rIns="0" bIns="0" rtlCol="0" anchor="t"/>
          <a:lstStyle/>
          <a:p>
            <a:pPr indent="0" marL="0">
              <a:buNone/>
            </a:pPr>
            <a:r>
              <a:rPr lang="en-US" sz="1400" dirty="0">
                <a:solidFill>
                  <a:schemeClr val="accent4"/>
                </a:solidFill>
              </a:rPr>
              <a:t>Prisma 7</a:t>
            </a:r>
            <a:endParaRPr lang="en-US" sz="1400" dirty="0"/>
          </a:p>
        </p:txBody>
      </p:sp>
      <p:sp>
        <p:nvSpPr>
          <p:cNvPr id="35" name="Text 29"/>
          <p:cNvSpPr txBox="1"/>
          <p:nvPr/>
        </p:nvSpPr>
        <p:spPr>
          <a:xfrm>
            <a:off x="7525512" y="4334256"/>
            <a:ext cx="1737360" cy="347472"/>
          </a:xfrm>
          <a:prstGeom prst="rect">
            <a:avLst/>
          </a:prstGeom>
          <a:noFill/>
          <a:ln/>
        </p:spPr>
        <p:txBody>
          <a:bodyPr wrap="square" lIns="0" tIns="0" rIns="0" bIns="0" rtlCol="0" anchor="t"/>
          <a:lstStyle/>
          <a:p>
            <a:pPr indent="0" marL="0">
              <a:buNone/>
            </a:pPr>
            <a:r>
              <a:rPr lang="en-US" sz="1400" dirty="0">
                <a:solidFill>
                  <a:schemeClr val="accent4"/>
                </a:solidFill>
              </a:rPr>
              <a:t>Cloud Storage</a:t>
            </a:r>
            <a:endParaRPr lang="en-US" sz="1400" dirty="0"/>
          </a:p>
        </p:txBody>
      </p:sp>
      <p:sp>
        <p:nvSpPr>
          <p:cNvPr id="36" name="Stack Cloud &amp; ops"/>
          <p:cNvSpPr/>
          <p:nvPr/>
        </p:nvSpPr>
        <p:spPr>
          <a:xfrm>
            <a:off x="9546336" y="1691640"/>
            <a:ext cx="2066544" cy="3291840"/>
          </a:xfrm>
          <a:prstGeom prst="roundRect">
            <a:avLst>
              <a:gd name="adj" fmla="val 5310"/>
            </a:avLst>
          </a:prstGeom>
          <a:solidFill>
            <a:srgbClr val="F3F6FC"/>
          </a:solidFill>
          <a:ln w="12700">
            <a:solidFill>
              <a:srgbClr val="F3F6FC"/>
            </a:solidFill>
            <a:prstDash val="solid"/>
          </a:ln>
        </p:spPr>
      </p:sp>
      <p:sp>
        <p:nvSpPr>
          <p:cNvPr id="37" name="Shape 31"/>
          <p:cNvSpPr/>
          <p:nvPr/>
        </p:nvSpPr>
        <p:spPr>
          <a:xfrm>
            <a:off x="9774936" y="1920240"/>
            <a:ext cx="475488" cy="475488"/>
          </a:xfrm>
          <a:prstGeom prst="ellipse">
            <a:avLst/>
          </a:prstGeom>
          <a:solidFill>
            <a:srgbClr val="2F6FEB"/>
          </a:solidFill>
          <a:ln w="12700">
            <a:solidFill>
              <a:srgbClr val="2F6FEB"/>
            </a:solidFill>
            <a:prstDash val="solid"/>
          </a:ln>
        </p:spPr>
      </p:sp>
      <p:pic>
        <p:nvPicPr>
          <p:cNvPr id="38" name="Image 4" descr="preencoded.png">    </p:cNvPr>
          <p:cNvPicPr>
            <a:picLocks noChangeAspect="1"/>
          </p:cNvPicPr>
          <p:nvPr/>
        </p:nvPicPr>
        <p:blipFill>
          <a:blip r:embed="rId5"/>
          <a:stretch>
            <a:fillRect/>
          </a:stretch>
        </p:blipFill>
        <p:spPr>
          <a:xfrm>
            <a:off x="9889053" y="2034357"/>
            <a:ext cx="247254" cy="247254"/>
          </a:xfrm>
          <a:prstGeom prst="rect">
            <a:avLst/>
          </a:prstGeom>
        </p:spPr>
      </p:pic>
      <p:sp>
        <p:nvSpPr>
          <p:cNvPr id="39" name="Text 32"/>
          <p:cNvSpPr txBox="1"/>
          <p:nvPr/>
        </p:nvSpPr>
        <p:spPr>
          <a:xfrm>
            <a:off x="9774936" y="2560320"/>
            <a:ext cx="1737360" cy="347472"/>
          </a:xfrm>
          <a:prstGeom prst="rect">
            <a:avLst/>
          </a:prstGeom>
          <a:noFill/>
          <a:ln/>
        </p:spPr>
        <p:txBody>
          <a:bodyPr wrap="square" lIns="0" tIns="0" rIns="0" bIns="0" rtlCol="0" anchor="t"/>
          <a:lstStyle/>
          <a:p>
            <a:pPr indent="0" marL="0">
              <a:buNone/>
            </a:pPr>
            <a:r>
              <a:rPr lang="en-US" sz="1700" b="1" dirty="0">
                <a:solidFill>
                  <a:schemeClr val="tx1"/>
                </a:solidFill>
              </a:rPr>
              <a:t>Cloud &amp; ops</a:t>
            </a:r>
            <a:endParaRPr lang="en-US" sz="1700" dirty="0"/>
          </a:p>
        </p:txBody>
      </p:sp>
      <p:sp>
        <p:nvSpPr>
          <p:cNvPr id="40" name="Text 33"/>
          <p:cNvSpPr txBox="1"/>
          <p:nvPr/>
        </p:nvSpPr>
        <p:spPr>
          <a:xfrm>
            <a:off x="9774936" y="3017520"/>
            <a:ext cx="1737360" cy="347472"/>
          </a:xfrm>
          <a:prstGeom prst="rect">
            <a:avLst/>
          </a:prstGeom>
          <a:noFill/>
          <a:ln/>
        </p:spPr>
        <p:txBody>
          <a:bodyPr wrap="square" lIns="0" tIns="0" rIns="0" bIns="0" rtlCol="0" anchor="t"/>
          <a:lstStyle/>
          <a:p>
            <a:pPr indent="0" marL="0">
              <a:buNone/>
            </a:pPr>
            <a:r>
              <a:rPr lang="en-US" sz="1400" dirty="0">
                <a:solidFill>
                  <a:schemeClr val="accent4"/>
                </a:solidFill>
              </a:rPr>
              <a:t>Cloud Run</a:t>
            </a:r>
            <a:endParaRPr lang="en-US" sz="1400" dirty="0"/>
          </a:p>
        </p:txBody>
      </p:sp>
      <p:sp>
        <p:nvSpPr>
          <p:cNvPr id="41" name="Text 34"/>
          <p:cNvSpPr txBox="1"/>
          <p:nvPr/>
        </p:nvSpPr>
        <p:spPr>
          <a:xfrm>
            <a:off x="9774936" y="3456432"/>
            <a:ext cx="1737360" cy="347472"/>
          </a:xfrm>
          <a:prstGeom prst="rect">
            <a:avLst/>
          </a:prstGeom>
          <a:noFill/>
          <a:ln/>
        </p:spPr>
        <p:txBody>
          <a:bodyPr wrap="square" lIns="0" tIns="0" rIns="0" bIns="0" rtlCol="0" anchor="t"/>
          <a:lstStyle/>
          <a:p>
            <a:pPr indent="0" marL="0">
              <a:buNone/>
            </a:pPr>
            <a:r>
              <a:rPr lang="en-US" sz="1400" dirty="0">
                <a:solidFill>
                  <a:schemeClr val="accent4"/>
                </a:solidFill>
              </a:rPr>
              <a:t>Cloudflare</a:t>
            </a:r>
            <a:endParaRPr lang="en-US" sz="1400" dirty="0"/>
          </a:p>
        </p:txBody>
      </p:sp>
      <p:sp>
        <p:nvSpPr>
          <p:cNvPr id="42" name="Text 35"/>
          <p:cNvSpPr txBox="1"/>
          <p:nvPr/>
        </p:nvSpPr>
        <p:spPr>
          <a:xfrm>
            <a:off x="9774936" y="3895344"/>
            <a:ext cx="1737360" cy="347472"/>
          </a:xfrm>
          <a:prstGeom prst="rect">
            <a:avLst/>
          </a:prstGeom>
          <a:noFill/>
          <a:ln/>
        </p:spPr>
        <p:txBody>
          <a:bodyPr wrap="square" lIns="0" tIns="0" rIns="0" bIns="0" rtlCol="0" anchor="t"/>
          <a:lstStyle/>
          <a:p>
            <a:pPr indent="0" marL="0">
              <a:buNone/>
            </a:pPr>
            <a:r>
              <a:rPr lang="en-US" sz="1400" dirty="0">
                <a:solidFill>
                  <a:schemeClr val="accent4"/>
                </a:solidFill>
              </a:rPr>
              <a:t>GitHub Actions</a:t>
            </a:r>
            <a:endParaRPr lang="en-US" sz="1400" dirty="0"/>
          </a:p>
        </p:txBody>
      </p:sp>
      <p:sp>
        <p:nvSpPr>
          <p:cNvPr id="43" name="Text 36"/>
          <p:cNvSpPr txBox="1"/>
          <p:nvPr/>
        </p:nvSpPr>
        <p:spPr>
          <a:xfrm>
            <a:off x="9774936" y="4334256"/>
            <a:ext cx="1737360" cy="347472"/>
          </a:xfrm>
          <a:prstGeom prst="rect">
            <a:avLst/>
          </a:prstGeom>
          <a:noFill/>
          <a:ln/>
        </p:spPr>
        <p:txBody>
          <a:bodyPr wrap="square" lIns="0" tIns="0" rIns="0" bIns="0" rtlCol="0" anchor="t"/>
          <a:lstStyle/>
          <a:p>
            <a:pPr indent="0" marL="0">
              <a:buNone/>
            </a:pPr>
            <a:r>
              <a:rPr lang="en-US" sz="1400" dirty="0">
                <a:solidFill>
                  <a:schemeClr val="accent4"/>
                </a:solidFill>
              </a:rPr>
              <a:t>Sentry</a:t>
            </a:r>
            <a:endParaRPr lang="en-US" sz="1400" dirty="0"/>
          </a:p>
        </p:txBody>
      </p:sp>
      <p:sp>
        <p:nvSpPr>
          <p:cNvPr id="44" name="Running cost"/>
          <p:cNvSpPr/>
          <p:nvPr/>
        </p:nvSpPr>
        <p:spPr>
          <a:xfrm>
            <a:off x="548640" y="5257800"/>
            <a:ext cx="11082528" cy="868680"/>
          </a:xfrm>
          <a:prstGeom prst="roundRect">
            <a:avLst>
              <a:gd name="adj" fmla="val 12632"/>
            </a:avLst>
          </a:prstGeom>
          <a:solidFill>
            <a:srgbClr val="0E1630"/>
          </a:solidFill>
          <a:ln w="12700">
            <a:solidFill>
              <a:srgbClr val="0E1630"/>
            </a:solidFill>
            <a:prstDash val="solid"/>
          </a:ln>
        </p:spPr>
      </p:sp>
      <p:sp>
        <p:nvSpPr>
          <p:cNvPr id="45" name="Text 38"/>
          <p:cNvSpPr txBox="1"/>
          <p:nvPr/>
        </p:nvSpPr>
        <p:spPr>
          <a:xfrm>
            <a:off x="822960" y="5303520"/>
            <a:ext cx="10607040" cy="777240"/>
          </a:xfrm>
          <a:prstGeom prst="rect">
            <a:avLst/>
          </a:prstGeom>
          <a:noFill/>
          <a:ln/>
        </p:spPr>
        <p:txBody>
          <a:bodyPr wrap="square" lIns="0" tIns="0" rIns="0" bIns="0" rtlCol="0" anchor="ctr"/>
          <a:lstStyle/>
          <a:p>
            <a:pPr indent="0" marL="0">
              <a:buNone/>
            </a:pPr>
            <a:r>
              <a:rPr lang="en-US" sz="2000" b="1" dirty="0">
                <a:solidFill>
                  <a:schemeClr val="accent2"/>
                </a:solidFill>
              </a:rPr>
              <a:t>About $25–45 a month</a:t>
            </a:r>
            <a:pPr indent="0" marL="0">
              <a:buNone/>
            </a:pPr>
            <a:r>
              <a:rPr lang="en-US" sz="1400" dirty="0">
                <a:solidFill>
                  <a:schemeClr val="bg1"/>
                </a:solidFill>
              </a:rPr>
              <a:t>   to run a staging environment in "lean mode": scales to zero when idle, no Redis, queues inside Postgres.</a:t>
            </a:r>
            <a:endParaRPr lang="en-US" sz="20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BUSINESS MODEL</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yearly subscription per school, sized by students</a:t>
            </a:r>
            <a:endParaRPr lang="en-US" sz="3000" dirty="0"/>
          </a:p>
        </p:txBody>
      </p:sp>
      <p:sp>
        <p:nvSpPr>
          <p:cNvPr id="4" name="Plan Basic"/>
          <p:cNvSpPr/>
          <p:nvPr/>
        </p:nvSpPr>
        <p:spPr>
          <a:xfrm>
            <a:off x="548640" y="1691640"/>
            <a:ext cx="2423160" cy="2743200"/>
          </a:xfrm>
          <a:prstGeom prst="roundRect">
            <a:avLst>
              <a:gd name="adj" fmla="val 4528"/>
            </a:avLst>
          </a:prstGeom>
          <a:solidFill>
            <a:srgbClr val="F3F6FC"/>
          </a:solidFill>
          <a:ln w="12700">
            <a:solidFill>
              <a:srgbClr val="F3F6FC"/>
            </a:solidFill>
            <a:prstDash val="solid"/>
          </a:ln>
        </p:spPr>
      </p:sp>
      <p:sp>
        <p:nvSpPr>
          <p:cNvPr id="5" name="Text 3"/>
          <p:cNvSpPr txBox="1"/>
          <p:nvPr/>
        </p:nvSpPr>
        <p:spPr>
          <a:xfrm>
            <a:off x="777240" y="1920240"/>
            <a:ext cx="201168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Basic</a:t>
            </a:r>
            <a:endParaRPr lang="en-US" sz="2200" dirty="0"/>
          </a:p>
        </p:txBody>
      </p:sp>
      <p:sp>
        <p:nvSpPr>
          <p:cNvPr id="6" name="Text 4"/>
          <p:cNvSpPr txBox="1"/>
          <p:nvPr/>
        </p:nvSpPr>
        <p:spPr>
          <a:xfrm>
            <a:off x="777240" y="2377440"/>
            <a:ext cx="2011680" cy="320040"/>
          </a:xfrm>
          <a:prstGeom prst="rect">
            <a:avLst/>
          </a:prstGeom>
          <a:noFill/>
          <a:ln/>
        </p:spPr>
        <p:txBody>
          <a:bodyPr wrap="square" lIns="0" tIns="0" rIns="0" bIns="0" rtlCol="0" anchor="ctr"/>
          <a:lstStyle/>
          <a:p>
            <a:pPr indent="0" marL="0">
              <a:buNone/>
            </a:pPr>
            <a:r>
              <a:rPr lang="en-US" sz="1400" b="1" dirty="0">
                <a:solidFill>
                  <a:schemeClr val="accent1"/>
                </a:solidFill>
              </a:rPr>
              <a:t>Up to 500 students</a:t>
            </a:r>
            <a:endParaRPr lang="en-US" sz="1400" dirty="0"/>
          </a:p>
        </p:txBody>
      </p:sp>
      <p:sp>
        <p:nvSpPr>
          <p:cNvPr id="7" name="Text 5"/>
          <p:cNvSpPr txBox="1"/>
          <p:nvPr/>
        </p:nvSpPr>
        <p:spPr>
          <a:xfrm>
            <a:off x="777240" y="2880360"/>
            <a:ext cx="205740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Core school management</a:t>
            </a:r>
            <a:endParaRPr lang="en-US" sz="1300" dirty="0"/>
          </a:p>
          <a:p>
            <a:pPr marL="177800" indent="-177800">
              <a:spcAft>
                <a:spcPts val="600"/>
              </a:spcAft>
              <a:buSzPct val="100000"/>
              <a:buChar char="●"/>
            </a:pPr>
            <a:r>
              <a:rPr lang="en-US" sz="1300" dirty="0">
                <a:solidFill>
                  <a:schemeClr val="tx1"/>
                </a:solidFill>
              </a:rPr>
              <a:t>2,000 SMS / month</a:t>
            </a:r>
            <a:endParaRPr lang="en-US" sz="1300" dirty="0"/>
          </a:p>
          <a:p>
            <a:pPr marL="177800" indent="-177800">
              <a:spcAft>
                <a:spcPts val="600"/>
              </a:spcAft>
              <a:buSzPct val="100000"/>
              <a:buChar char="●"/>
            </a:pPr>
            <a:r>
              <a:rPr lang="en-US" sz="1300" dirty="0">
                <a:solidFill>
                  <a:schemeClr val="tx1"/>
                </a:solidFill>
              </a:rPr>
              <a:t>5 GB storage</a:t>
            </a:r>
            <a:endParaRPr lang="en-US" sz="1300" dirty="0"/>
          </a:p>
        </p:txBody>
      </p:sp>
      <p:sp>
        <p:nvSpPr>
          <p:cNvPr id="8" name="Plan Professional"/>
          <p:cNvSpPr/>
          <p:nvPr/>
        </p:nvSpPr>
        <p:spPr>
          <a:xfrm>
            <a:off x="3154680" y="1691640"/>
            <a:ext cx="2423160" cy="2743200"/>
          </a:xfrm>
          <a:prstGeom prst="roundRect">
            <a:avLst>
              <a:gd name="adj" fmla="val 4528"/>
            </a:avLst>
          </a:prstGeom>
          <a:solidFill>
            <a:srgbClr val="2F6FEB"/>
          </a:solidFill>
          <a:ln w="12700">
            <a:solidFill>
              <a:srgbClr val="2F6FEB"/>
            </a:solidFill>
            <a:prstDash val="solid"/>
          </a:ln>
        </p:spPr>
      </p:sp>
      <p:sp>
        <p:nvSpPr>
          <p:cNvPr id="9" name="Text 7"/>
          <p:cNvSpPr txBox="1"/>
          <p:nvPr/>
        </p:nvSpPr>
        <p:spPr>
          <a:xfrm>
            <a:off x="3383280" y="1920240"/>
            <a:ext cx="2011680" cy="41148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Professional</a:t>
            </a:r>
            <a:endParaRPr lang="en-US" sz="2200" dirty="0"/>
          </a:p>
        </p:txBody>
      </p:sp>
      <p:sp>
        <p:nvSpPr>
          <p:cNvPr id="10" name="Text 8"/>
          <p:cNvSpPr txBox="1"/>
          <p:nvPr/>
        </p:nvSpPr>
        <p:spPr>
          <a:xfrm>
            <a:off x="3383280" y="2377440"/>
            <a:ext cx="2011680" cy="320040"/>
          </a:xfrm>
          <a:prstGeom prst="rect">
            <a:avLst/>
          </a:prstGeom>
          <a:noFill/>
          <a:ln/>
        </p:spPr>
        <p:txBody>
          <a:bodyPr wrap="square" lIns="0" tIns="0" rIns="0" bIns="0" rtlCol="0" anchor="ctr"/>
          <a:lstStyle/>
          <a:p>
            <a:pPr indent="0" marL="0">
              <a:buNone/>
            </a:pPr>
            <a:r>
              <a:rPr lang="en-US" sz="1400" b="1" dirty="0">
                <a:solidFill>
                  <a:schemeClr val="bg1"/>
                </a:solidFill>
              </a:rPr>
              <a:t>Up to 2,000 students</a:t>
            </a:r>
            <a:endParaRPr lang="en-US" sz="1400" dirty="0"/>
          </a:p>
        </p:txBody>
      </p:sp>
      <p:sp>
        <p:nvSpPr>
          <p:cNvPr id="11" name="Text 9"/>
          <p:cNvSpPr txBox="1"/>
          <p:nvPr/>
        </p:nvSpPr>
        <p:spPr>
          <a:xfrm>
            <a:off x="3383280" y="2880360"/>
            <a:ext cx="205740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Online fee payments</a:t>
            </a:r>
            <a:endParaRPr lang="en-US" sz="1300" dirty="0"/>
          </a:p>
          <a:p>
            <a:pPr marL="177800" indent="-177800">
              <a:spcAft>
                <a:spcPts val="600"/>
              </a:spcAft>
              <a:buSzPct val="100000"/>
              <a:buChar char="●"/>
            </a:pPr>
            <a:r>
              <a:rPr lang="en-US" sz="1300" dirty="0">
                <a:solidFill>
                  <a:schemeClr val="bg1"/>
                </a:solidFill>
              </a:rPr>
              <a:t>Report builder</a:t>
            </a:r>
            <a:endParaRPr lang="en-US" sz="1300" dirty="0"/>
          </a:p>
          <a:p>
            <a:pPr marL="177800" indent="-177800">
              <a:spcAft>
                <a:spcPts val="600"/>
              </a:spcAft>
              <a:buSzPct val="100000"/>
              <a:buChar char="●"/>
            </a:pPr>
            <a:r>
              <a:rPr lang="en-US" sz="1300" dirty="0">
                <a:solidFill>
                  <a:schemeClr val="bg1"/>
                </a:solidFill>
              </a:rPr>
              <a:t>10,000 SMS · 500 AI questions / month</a:t>
            </a:r>
            <a:endParaRPr lang="en-US" sz="1300" dirty="0"/>
          </a:p>
        </p:txBody>
      </p:sp>
      <p:sp>
        <p:nvSpPr>
          <p:cNvPr id="12" name="Plan Enterprise"/>
          <p:cNvSpPr/>
          <p:nvPr/>
        </p:nvSpPr>
        <p:spPr>
          <a:xfrm>
            <a:off x="5760720" y="1691640"/>
            <a:ext cx="2423160" cy="2743200"/>
          </a:xfrm>
          <a:prstGeom prst="roundRect">
            <a:avLst>
              <a:gd name="adj" fmla="val 4528"/>
            </a:avLst>
          </a:prstGeom>
          <a:solidFill>
            <a:srgbClr val="F3F6FC"/>
          </a:solidFill>
          <a:ln w="12700">
            <a:solidFill>
              <a:srgbClr val="F3F6FC"/>
            </a:solidFill>
            <a:prstDash val="solid"/>
          </a:ln>
        </p:spPr>
      </p:sp>
      <p:sp>
        <p:nvSpPr>
          <p:cNvPr id="13" name="Text 11"/>
          <p:cNvSpPr txBox="1"/>
          <p:nvPr/>
        </p:nvSpPr>
        <p:spPr>
          <a:xfrm>
            <a:off x="5989320" y="1920240"/>
            <a:ext cx="201168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Enterprise</a:t>
            </a:r>
            <a:endParaRPr lang="en-US" sz="2200" dirty="0"/>
          </a:p>
        </p:txBody>
      </p:sp>
      <p:sp>
        <p:nvSpPr>
          <p:cNvPr id="14" name="Text 12"/>
          <p:cNvSpPr txBox="1"/>
          <p:nvPr/>
        </p:nvSpPr>
        <p:spPr>
          <a:xfrm>
            <a:off x="5989320" y="2377440"/>
            <a:ext cx="2011680" cy="320040"/>
          </a:xfrm>
          <a:prstGeom prst="rect">
            <a:avLst/>
          </a:prstGeom>
          <a:noFill/>
          <a:ln/>
        </p:spPr>
        <p:txBody>
          <a:bodyPr wrap="square" lIns="0" tIns="0" rIns="0" bIns="0" rtlCol="0" anchor="ctr"/>
          <a:lstStyle/>
          <a:p>
            <a:pPr indent="0" marL="0">
              <a:buNone/>
            </a:pPr>
            <a:r>
              <a:rPr lang="en-US" sz="1400" b="1" dirty="0">
                <a:solidFill>
                  <a:schemeClr val="accent1"/>
                </a:solidFill>
              </a:rPr>
              <a:t>No student limit</a:t>
            </a:r>
            <a:endParaRPr lang="en-US" sz="1400" dirty="0"/>
          </a:p>
        </p:txBody>
      </p:sp>
      <p:sp>
        <p:nvSpPr>
          <p:cNvPr id="15" name="Text 13"/>
          <p:cNvSpPr txBox="1"/>
          <p:nvPr/>
        </p:nvSpPr>
        <p:spPr>
          <a:xfrm>
            <a:off x="5989320" y="2880360"/>
            <a:ext cx="205740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Everything, incl. AI assistant</a:t>
            </a:r>
            <a:endParaRPr lang="en-US" sz="1300" dirty="0"/>
          </a:p>
          <a:p>
            <a:pPr marL="177800" indent="-177800">
              <a:spcAft>
                <a:spcPts val="600"/>
              </a:spcAft>
              <a:buSzPct val="100000"/>
              <a:buChar char="●"/>
            </a:pPr>
            <a:r>
              <a:rPr lang="en-US" sz="1300" dirty="0">
                <a:solidFill>
                  <a:schemeClr val="tx1"/>
                </a:solidFill>
              </a:rPr>
              <a:t>5,000 AI questions / month</a:t>
            </a:r>
            <a:endParaRPr lang="en-US" sz="1300" dirty="0"/>
          </a:p>
          <a:p>
            <a:pPr marL="177800" indent="-177800">
              <a:spcAft>
                <a:spcPts val="600"/>
              </a:spcAft>
              <a:buSzPct val="100000"/>
              <a:buChar char="●"/>
            </a:pPr>
            <a:r>
              <a:rPr lang="en-US" sz="1300" dirty="0">
                <a:solidFill>
                  <a:schemeClr val="tx1"/>
                </a:solidFill>
              </a:rPr>
              <a:t>Custom terms</a:t>
            </a:r>
            <a:endParaRPr lang="en-US" sz="1300" dirty="0"/>
          </a:p>
        </p:txBody>
      </p:sp>
      <p:sp>
        <p:nvSpPr>
          <p:cNvPr id="16" name="Text 14"/>
          <p:cNvSpPr txBox="1"/>
          <p:nvPr/>
        </p:nvSpPr>
        <p:spPr>
          <a:xfrm>
            <a:off x="548640" y="4663440"/>
            <a:ext cx="7498080" cy="594360"/>
          </a:xfrm>
          <a:prstGeom prst="rect">
            <a:avLst/>
          </a:prstGeom>
          <a:noFill/>
          <a:ln/>
        </p:spPr>
        <p:txBody>
          <a:bodyPr wrap="square" lIns="0" tIns="0" rIns="0" bIns="0" rtlCol="0" anchor="t"/>
          <a:lstStyle/>
          <a:p>
            <a:pPr indent="0" marL="0">
              <a:buNone/>
            </a:pPr>
            <a:r>
              <a:rPr lang="en-US" sz="1300" dirty="0">
                <a:solidFill>
                  <a:schemeClr val="accent4"/>
                </a:solidFill>
              </a:rPr>
              <a:t>Plan limits are enforced in the product today (students, SMS, AI, storage). Prices are set per school in the console; launch pricing will be fixed after pilots.</a:t>
            </a:r>
            <a:endParaRPr lang="en-US" sz="1300" dirty="0"/>
          </a:p>
        </p:txBody>
      </p:sp>
      <p:sp>
        <p:nvSpPr>
          <p:cNvPr id="17" name="Text 15"/>
          <p:cNvSpPr txBox="1"/>
          <p:nvPr/>
        </p:nvSpPr>
        <p:spPr>
          <a:xfrm>
            <a:off x="8549640" y="16916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Go to market</a:t>
            </a:r>
            <a:endParaRPr lang="en-US" sz="1800" dirty="0"/>
          </a:p>
        </p:txBody>
      </p:sp>
      <p:sp>
        <p:nvSpPr>
          <p:cNvPr id="18" name="Shape 16"/>
          <p:cNvSpPr/>
          <p:nvPr/>
        </p:nvSpPr>
        <p:spPr>
          <a:xfrm>
            <a:off x="8549640" y="2194560"/>
            <a:ext cx="420624" cy="420624"/>
          </a:xfrm>
          <a:prstGeom prst="ellipse">
            <a:avLst/>
          </a:prstGeom>
          <a:solidFill>
            <a:srgbClr val="F7A400"/>
          </a:solidFill>
          <a:ln w="12700">
            <a:solidFill>
              <a:srgbClr val="F7A400"/>
            </a:solidFill>
            <a:prstDash val="solid"/>
          </a:ln>
        </p:spPr>
      </p:sp>
      <p:pic>
        <p:nvPicPr>
          <p:cNvPr id="19" name="Image 0" descr="preencoded.png">    </p:cNvPr>
          <p:cNvPicPr>
            <a:picLocks noChangeAspect="1"/>
          </p:cNvPicPr>
          <p:nvPr/>
        </p:nvPicPr>
        <p:blipFill>
          <a:blip r:embed="rId1"/>
          <a:stretch>
            <a:fillRect/>
          </a:stretch>
        </p:blipFill>
        <p:spPr>
          <a:xfrm>
            <a:off x="8650590" y="2295510"/>
            <a:ext cx="218724" cy="218724"/>
          </a:xfrm>
          <a:prstGeom prst="rect">
            <a:avLst/>
          </a:prstGeom>
        </p:spPr>
      </p:pic>
      <p:sp>
        <p:nvSpPr>
          <p:cNvPr id="20" name="Text 17"/>
          <p:cNvSpPr txBox="1"/>
          <p:nvPr/>
        </p:nvSpPr>
        <p:spPr>
          <a:xfrm>
            <a:off x="9098280" y="2221992"/>
            <a:ext cx="2560320" cy="640080"/>
          </a:xfrm>
          <a:prstGeom prst="rect">
            <a:avLst/>
          </a:prstGeom>
          <a:noFill/>
          <a:ln/>
        </p:spPr>
        <p:txBody>
          <a:bodyPr wrap="square" lIns="0" tIns="0" rIns="0" bIns="0" rtlCol="0" anchor="t"/>
          <a:lstStyle/>
          <a:p>
            <a:pPr indent="0" marL="0">
              <a:buNone/>
            </a:pPr>
            <a:r>
              <a:rPr lang="en-US" sz="1400" dirty="0">
                <a:solidFill>
                  <a:schemeClr val="tx1"/>
                </a:solidFill>
              </a:rPr>
              <a:t>Demo app on Google Play to show any principal</a:t>
            </a:r>
            <a:endParaRPr lang="en-US" sz="1400" dirty="0"/>
          </a:p>
        </p:txBody>
      </p:sp>
      <p:sp>
        <p:nvSpPr>
          <p:cNvPr id="21" name="Shape 18"/>
          <p:cNvSpPr/>
          <p:nvPr/>
        </p:nvSpPr>
        <p:spPr>
          <a:xfrm>
            <a:off x="8549640" y="2971800"/>
            <a:ext cx="420624" cy="420624"/>
          </a:xfrm>
          <a:prstGeom prst="ellipse">
            <a:avLst/>
          </a:prstGeom>
          <a:solidFill>
            <a:srgbClr val="F7A400"/>
          </a:solidFill>
          <a:ln w="12700">
            <a:solidFill>
              <a:srgbClr val="F7A400"/>
            </a:solidFill>
            <a:prstDash val="solid"/>
          </a:ln>
        </p:spPr>
      </p:sp>
      <p:pic>
        <p:nvPicPr>
          <p:cNvPr id="22" name="Image 1" descr="preencoded.png">    </p:cNvPr>
          <p:cNvPicPr>
            <a:picLocks noChangeAspect="1"/>
          </p:cNvPicPr>
          <p:nvPr/>
        </p:nvPicPr>
        <p:blipFill>
          <a:blip r:embed="rId2"/>
          <a:stretch>
            <a:fillRect/>
          </a:stretch>
        </p:blipFill>
        <p:spPr>
          <a:xfrm>
            <a:off x="8650590" y="3072750"/>
            <a:ext cx="218724" cy="218724"/>
          </a:xfrm>
          <a:prstGeom prst="rect">
            <a:avLst/>
          </a:prstGeom>
        </p:spPr>
      </p:pic>
      <p:sp>
        <p:nvSpPr>
          <p:cNvPr id="23" name="Text 19"/>
          <p:cNvSpPr txBox="1"/>
          <p:nvPr/>
        </p:nvSpPr>
        <p:spPr>
          <a:xfrm>
            <a:off x="9098280" y="2999232"/>
            <a:ext cx="2560320" cy="640080"/>
          </a:xfrm>
          <a:prstGeom prst="rect">
            <a:avLst/>
          </a:prstGeom>
          <a:noFill/>
          <a:ln/>
        </p:spPr>
        <p:txBody>
          <a:bodyPr wrap="square" lIns="0" tIns="0" rIns="0" bIns="0" rtlCol="0" anchor="t"/>
          <a:lstStyle/>
          <a:p>
            <a:pPr indent="0" marL="0">
              <a:buNone/>
            </a:pPr>
            <a:r>
              <a:rPr lang="en-US" sz="1400" dirty="0">
                <a:solidFill>
                  <a:schemeClr val="tx1"/>
                </a:solidFill>
              </a:rPr>
              <a:t>Start with private schools in one city</a:t>
            </a:r>
            <a:endParaRPr lang="en-US" sz="1400" dirty="0"/>
          </a:p>
        </p:txBody>
      </p:sp>
      <p:sp>
        <p:nvSpPr>
          <p:cNvPr id="24" name="Shape 20"/>
          <p:cNvSpPr/>
          <p:nvPr/>
        </p:nvSpPr>
        <p:spPr>
          <a:xfrm>
            <a:off x="8549640" y="3749040"/>
            <a:ext cx="420624" cy="420624"/>
          </a:xfrm>
          <a:prstGeom prst="ellipse">
            <a:avLst/>
          </a:prstGeom>
          <a:solidFill>
            <a:srgbClr val="F7A400"/>
          </a:solidFill>
          <a:ln w="12700">
            <a:solidFill>
              <a:srgbClr val="F7A400"/>
            </a:solidFill>
            <a:prstDash val="solid"/>
          </a:ln>
        </p:spPr>
      </p:sp>
      <p:pic>
        <p:nvPicPr>
          <p:cNvPr id="25" name="Image 2" descr="preencoded.png">    </p:cNvPr>
          <p:cNvPicPr>
            <a:picLocks noChangeAspect="1"/>
          </p:cNvPicPr>
          <p:nvPr/>
        </p:nvPicPr>
        <p:blipFill>
          <a:blip r:embed="rId3"/>
          <a:stretch>
            <a:fillRect/>
          </a:stretch>
        </p:blipFill>
        <p:spPr>
          <a:xfrm>
            <a:off x="8650590" y="3849990"/>
            <a:ext cx="218724" cy="218724"/>
          </a:xfrm>
          <a:prstGeom prst="rect">
            <a:avLst/>
          </a:prstGeom>
        </p:spPr>
      </p:pic>
      <p:sp>
        <p:nvSpPr>
          <p:cNvPr id="26" name="Text 21"/>
          <p:cNvSpPr txBox="1"/>
          <p:nvPr/>
        </p:nvSpPr>
        <p:spPr>
          <a:xfrm>
            <a:off x="9098280" y="3776472"/>
            <a:ext cx="2560320" cy="640080"/>
          </a:xfrm>
          <a:prstGeom prst="rect">
            <a:avLst/>
          </a:prstGeom>
          <a:noFill/>
          <a:ln/>
        </p:spPr>
        <p:txBody>
          <a:bodyPr wrap="square" lIns="0" tIns="0" rIns="0" bIns="0" rtlCol="0" anchor="t"/>
          <a:lstStyle/>
          <a:p>
            <a:pPr indent="0" marL="0">
              <a:buNone/>
            </a:pPr>
            <a:r>
              <a:rPr lang="en-US" sz="1400" dirty="0">
                <a:solidFill>
                  <a:schemeClr val="tx1"/>
                </a:solidFill>
              </a:rPr>
              <a:t>Pilot, then a yearly contract</a:t>
            </a:r>
            <a:endParaRPr lang="en-US" sz="1400" dirty="0"/>
          </a:p>
        </p:txBody>
      </p:sp>
      <p:sp>
        <p:nvSpPr>
          <p:cNvPr id="27" name="Shape 22"/>
          <p:cNvSpPr/>
          <p:nvPr/>
        </p:nvSpPr>
        <p:spPr>
          <a:xfrm>
            <a:off x="8549640" y="4526280"/>
            <a:ext cx="420624" cy="420624"/>
          </a:xfrm>
          <a:prstGeom prst="ellipse">
            <a:avLst/>
          </a:prstGeom>
          <a:solidFill>
            <a:srgbClr val="F7A400"/>
          </a:solidFill>
          <a:ln w="12700">
            <a:solidFill>
              <a:srgbClr val="F7A400"/>
            </a:solidFill>
            <a:prstDash val="solid"/>
          </a:ln>
        </p:spPr>
      </p:sp>
      <p:pic>
        <p:nvPicPr>
          <p:cNvPr id="28" name="Image 3" descr="preencoded.png">    </p:cNvPr>
          <p:cNvPicPr>
            <a:picLocks noChangeAspect="1"/>
          </p:cNvPicPr>
          <p:nvPr/>
        </p:nvPicPr>
        <p:blipFill>
          <a:blip r:embed="rId4"/>
          <a:stretch>
            <a:fillRect/>
          </a:stretch>
        </p:blipFill>
        <p:spPr>
          <a:xfrm>
            <a:off x="8650590" y="4627230"/>
            <a:ext cx="218724" cy="218724"/>
          </a:xfrm>
          <a:prstGeom prst="rect">
            <a:avLst/>
          </a:prstGeom>
        </p:spPr>
      </p:pic>
      <p:sp>
        <p:nvSpPr>
          <p:cNvPr id="29" name="Text 23"/>
          <p:cNvSpPr txBox="1"/>
          <p:nvPr/>
        </p:nvSpPr>
        <p:spPr>
          <a:xfrm>
            <a:off x="9098280" y="4553712"/>
            <a:ext cx="2560320" cy="640080"/>
          </a:xfrm>
          <a:prstGeom prst="rect">
            <a:avLst/>
          </a:prstGeom>
          <a:noFill/>
          <a:ln/>
        </p:spPr>
        <p:txBody>
          <a:bodyPr wrap="square" lIns="0" tIns="0" rIns="0" bIns="0" rtlCol="0" anchor="t"/>
          <a:lstStyle/>
          <a:p>
            <a:pPr indent="0" marL="0">
              <a:buNone/>
            </a:pPr>
            <a:r>
              <a:rPr lang="en-US" sz="1400" dirty="0">
                <a:solidFill>
                  <a:schemeClr val="tx1"/>
                </a:solidFill>
              </a:rPr>
              <a:t>Website with "book a demo"</a:t>
            </a:r>
            <a:endParaRPr lang="en-US" sz="14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WHERE WE ARE</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Built and tested today, and what turns it on</a:t>
            </a:r>
            <a:endParaRPr lang="en-US" sz="3000" dirty="0"/>
          </a:p>
        </p:txBody>
      </p:sp>
      <p:sp>
        <p:nvSpPr>
          <p:cNvPr id="4" name="Built and tested"/>
          <p:cNvSpPr/>
          <p:nvPr/>
        </p:nvSpPr>
        <p:spPr>
          <a:xfrm>
            <a:off x="548640" y="1691640"/>
            <a:ext cx="3566160" cy="3429000"/>
          </a:xfrm>
          <a:prstGeom prst="roundRect">
            <a:avLst>
              <a:gd name="adj" fmla="val 3200"/>
            </a:avLst>
          </a:prstGeom>
          <a:solidFill>
            <a:srgbClr val="F3F6FC"/>
          </a:solidFill>
          <a:ln w="12700">
            <a:solidFill>
              <a:srgbClr val="F3F6FC"/>
            </a:solidFill>
            <a:prstDash val="solid"/>
          </a:ln>
        </p:spPr>
      </p:sp>
      <p:sp>
        <p:nvSpPr>
          <p:cNvPr id="5" name="Shape 3"/>
          <p:cNvSpPr/>
          <p:nvPr/>
        </p:nvSpPr>
        <p:spPr>
          <a:xfrm>
            <a:off x="777240" y="1920240"/>
            <a:ext cx="3108960" cy="274320"/>
          </a:xfrm>
          <a:prstGeom prst="roundRect">
            <a:avLst>
              <a:gd name="adj" fmla="val 50000"/>
            </a:avLst>
          </a:prstGeom>
          <a:solidFill>
            <a:srgbClr val="13804B"/>
          </a:solidFill>
          <a:ln w="12700">
            <a:solidFill>
              <a:srgbClr val="13804B"/>
            </a:solidFill>
            <a:prstDash val="solid"/>
          </a:ln>
        </p:spPr>
      </p:sp>
      <p:sp>
        <p:nvSpPr>
          <p:cNvPr id="6" name="Text 4"/>
          <p:cNvSpPr txBox="1"/>
          <p:nvPr/>
        </p:nvSpPr>
        <p:spPr>
          <a:xfrm>
            <a:off x="777240" y="1920240"/>
            <a:ext cx="3108960" cy="274320"/>
          </a:xfrm>
          <a:prstGeom prst="rect">
            <a:avLst/>
          </a:prstGeom>
          <a:noFill/>
          <a:ln/>
        </p:spPr>
        <p:txBody>
          <a:bodyPr wrap="square" lIns="0" tIns="0" rIns="0" bIns="0" rtlCol="0" anchor="ctr"/>
          <a:lstStyle/>
          <a:p>
            <a:pPr algn="ctr" indent="0" marL="0">
              <a:buNone/>
            </a:pPr>
            <a:r>
              <a:rPr lang="en-US" sz="1200" b="1" dirty="0">
                <a:solidFill>
                  <a:srgbClr val="FFFFFF"/>
                </a:solidFill>
              </a:rPr>
              <a:t>Built and tested</a:t>
            </a:r>
            <a:endParaRPr lang="en-US" sz="1200" dirty="0"/>
          </a:p>
        </p:txBody>
      </p:sp>
      <p:sp>
        <p:nvSpPr>
          <p:cNvPr id="7" name="Text 5"/>
          <p:cNvSpPr txBox="1"/>
          <p:nvPr/>
        </p:nvSpPr>
        <p:spPr>
          <a:xfrm>
            <a:off x="777240" y="2423160"/>
            <a:ext cx="3154680" cy="3474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All school modules shown today</a:t>
            </a:r>
            <a:endParaRPr lang="en-US" sz="1400" dirty="0"/>
          </a:p>
          <a:p>
            <a:pPr marL="177800" indent="-177800">
              <a:spcAft>
                <a:spcPts val="800"/>
              </a:spcAft>
              <a:buSzPct val="100000"/>
              <a:buChar char="●"/>
            </a:pPr>
            <a:r>
              <a:rPr lang="en-US" sz="1400" dirty="0">
                <a:solidFill>
                  <a:schemeClr val="tx1"/>
                </a:solidFill>
              </a:rPr>
              <a:t>Student ID cards</a:t>
            </a:r>
            <a:endParaRPr lang="en-US" sz="1400" dirty="0"/>
          </a:p>
          <a:p>
            <a:pPr marL="177800" indent="-177800">
              <a:spcAft>
                <a:spcPts val="800"/>
              </a:spcAft>
              <a:buSzPct val="100000"/>
              <a:buChar char="●"/>
            </a:pPr>
            <a:r>
              <a:rPr lang="en-US" sz="1400" dirty="0">
                <a:solidFill>
                  <a:schemeClr val="tx1"/>
                </a:solidFill>
              </a:rPr>
              <a:t>Web portal, Android app, console</a:t>
            </a:r>
            <a:endParaRPr lang="en-US" sz="1400" dirty="0"/>
          </a:p>
          <a:p>
            <a:pPr marL="177800" indent="-177800">
              <a:spcAft>
                <a:spcPts val="800"/>
              </a:spcAft>
              <a:buSzPct val="100000"/>
              <a:buChar char="●"/>
            </a:pPr>
            <a:r>
              <a:rPr lang="en-US" sz="1400" dirty="0">
                <a:solidFill>
                  <a:schemeClr val="tx1"/>
                </a:solidFill>
              </a:rPr>
              <a:t>Public website, privacy and terms</a:t>
            </a:r>
            <a:endParaRPr lang="en-US" sz="1400" dirty="0"/>
          </a:p>
          <a:p>
            <a:pPr marL="177800" indent="-177800">
              <a:spcAft>
                <a:spcPts val="800"/>
              </a:spcAft>
              <a:buSzPct val="100000"/>
              <a:buChar char="●"/>
            </a:pPr>
            <a:r>
              <a:rPr lang="en-US" sz="1400" dirty="0">
                <a:solidFill>
                  <a:schemeClr val="tx1"/>
                </a:solidFill>
              </a:rPr>
              <a:t>Multi-school isolation and permissions</a:t>
            </a:r>
            <a:endParaRPr lang="en-US" sz="1400" dirty="0"/>
          </a:p>
          <a:p>
            <a:pPr marL="177800" indent="-177800">
              <a:spcAft>
                <a:spcPts val="800"/>
              </a:spcAft>
              <a:buSzPct val="100000"/>
              <a:buChar char="●"/>
            </a:pPr>
            <a:r>
              <a:rPr lang="en-US" sz="1400" dirty="0">
                <a:solidFill>
                  <a:schemeClr val="tx1"/>
                </a:solidFill>
              </a:rPr>
              <a:t>Demo app for Google Play</a:t>
            </a:r>
            <a:endParaRPr lang="en-US" sz="1400" dirty="0"/>
          </a:p>
        </p:txBody>
      </p:sp>
      <p:sp>
        <p:nvSpPr>
          <p:cNvPr id="8" name="Ready, waiting on an account"/>
          <p:cNvSpPr/>
          <p:nvPr/>
        </p:nvSpPr>
        <p:spPr>
          <a:xfrm>
            <a:off x="4297680" y="1691640"/>
            <a:ext cx="3566160" cy="3429000"/>
          </a:xfrm>
          <a:prstGeom prst="roundRect">
            <a:avLst>
              <a:gd name="adj" fmla="val 3200"/>
            </a:avLst>
          </a:prstGeom>
          <a:solidFill>
            <a:srgbClr val="F3F6FC"/>
          </a:solidFill>
          <a:ln w="12700">
            <a:solidFill>
              <a:srgbClr val="F3F6FC"/>
            </a:solidFill>
            <a:prstDash val="solid"/>
          </a:ln>
        </p:spPr>
      </p:sp>
      <p:sp>
        <p:nvSpPr>
          <p:cNvPr id="9" name="Shape 7"/>
          <p:cNvSpPr/>
          <p:nvPr/>
        </p:nvSpPr>
        <p:spPr>
          <a:xfrm>
            <a:off x="4526280" y="1920240"/>
            <a:ext cx="3108960" cy="274320"/>
          </a:xfrm>
          <a:prstGeom prst="roundRect">
            <a:avLst>
              <a:gd name="adj" fmla="val 50000"/>
            </a:avLst>
          </a:prstGeom>
          <a:solidFill>
            <a:srgbClr val="F7A400"/>
          </a:solidFill>
          <a:ln w="12700">
            <a:solidFill>
              <a:srgbClr val="F7A400"/>
            </a:solidFill>
            <a:prstDash val="solid"/>
          </a:ln>
        </p:spPr>
      </p:sp>
      <p:sp>
        <p:nvSpPr>
          <p:cNvPr id="10" name="Text 8"/>
          <p:cNvSpPr txBox="1"/>
          <p:nvPr/>
        </p:nvSpPr>
        <p:spPr>
          <a:xfrm>
            <a:off x="4526280" y="1920240"/>
            <a:ext cx="3108960" cy="274320"/>
          </a:xfrm>
          <a:prstGeom prst="rect">
            <a:avLst/>
          </a:prstGeom>
          <a:noFill/>
          <a:ln/>
        </p:spPr>
        <p:txBody>
          <a:bodyPr wrap="square" lIns="0" tIns="0" rIns="0" bIns="0" rtlCol="0" anchor="ctr"/>
          <a:lstStyle/>
          <a:p>
            <a:pPr algn="ctr" indent="0" marL="0">
              <a:buNone/>
            </a:pPr>
            <a:r>
              <a:rPr lang="en-US" sz="1200" b="1" dirty="0">
                <a:solidFill>
                  <a:srgbClr val="0E1630"/>
                </a:solidFill>
              </a:rPr>
              <a:t>Ready, waiting on an account</a:t>
            </a:r>
            <a:endParaRPr lang="en-US" sz="1200" dirty="0"/>
          </a:p>
        </p:txBody>
      </p:sp>
      <p:sp>
        <p:nvSpPr>
          <p:cNvPr id="11" name="Text 9"/>
          <p:cNvSpPr txBox="1"/>
          <p:nvPr/>
        </p:nvSpPr>
        <p:spPr>
          <a:xfrm>
            <a:off x="4526280" y="2423160"/>
            <a:ext cx="3154680" cy="3474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Cloud deployment (Google Cloud + domain)</a:t>
            </a:r>
            <a:endParaRPr lang="en-US" sz="1400" dirty="0"/>
          </a:p>
          <a:p>
            <a:pPr marL="177800" indent="-177800">
              <a:spcAft>
                <a:spcPts val="800"/>
              </a:spcAft>
              <a:buSzPct val="100000"/>
              <a:buChar char="●"/>
            </a:pPr>
            <a:r>
              <a:rPr lang="en-US" sz="1400" dirty="0">
                <a:solidFill>
                  <a:schemeClr val="tx1"/>
                </a:solidFill>
              </a:rPr>
              <a:t>Google Play listing (developer account)</a:t>
            </a:r>
            <a:endParaRPr lang="en-US" sz="1400" dirty="0"/>
          </a:p>
          <a:p>
            <a:pPr marL="177800" indent="-177800">
              <a:spcAft>
                <a:spcPts val="800"/>
              </a:spcAft>
              <a:buSzPct val="100000"/>
              <a:buChar char="●"/>
            </a:pPr>
            <a:r>
              <a:rPr lang="en-US" sz="1400" dirty="0">
                <a:solidFill>
                  <a:schemeClr val="tx1"/>
                </a:solidFill>
              </a:rPr>
              <a:t>Push notifications (Firebase project)</a:t>
            </a:r>
            <a:endParaRPr lang="en-US" sz="1400" dirty="0"/>
          </a:p>
          <a:p>
            <a:pPr marL="177800" indent="-177800">
              <a:spcAft>
                <a:spcPts val="800"/>
              </a:spcAft>
              <a:buSzPct val="100000"/>
              <a:buChar char="●"/>
            </a:pPr>
            <a:r>
              <a:rPr lang="en-US" sz="1400" dirty="0">
                <a:solidFill>
                  <a:schemeClr val="tx1"/>
                </a:solidFill>
              </a:rPr>
              <a:t>SMS (DLT registration + MSG91)</a:t>
            </a:r>
            <a:endParaRPr lang="en-US" sz="1400" dirty="0"/>
          </a:p>
          <a:p>
            <a:pPr marL="177800" indent="-177800">
              <a:spcAft>
                <a:spcPts val="800"/>
              </a:spcAft>
              <a:buSzPct val="100000"/>
              <a:buChar char="●"/>
            </a:pPr>
            <a:r>
              <a:rPr lang="en-US" sz="1400" dirty="0">
                <a:solidFill>
                  <a:schemeClr val="tx1"/>
                </a:solidFill>
              </a:rPr>
              <a:t>Live AI (Gemini key + evaluation)</a:t>
            </a:r>
            <a:endParaRPr lang="en-US" sz="1400" dirty="0"/>
          </a:p>
          <a:p>
            <a:pPr marL="177800" indent="-177800">
              <a:spcAft>
                <a:spcPts val="800"/>
              </a:spcAft>
              <a:buSzPct val="100000"/>
              <a:buChar char="●"/>
            </a:pPr>
            <a:r>
              <a:rPr lang="en-US" sz="1400" dirty="0">
                <a:solidFill>
                  <a:schemeClr val="tx1"/>
                </a:solidFill>
              </a:rPr>
              <a:t>Error monitoring (Sentry)</a:t>
            </a:r>
            <a:endParaRPr lang="en-US" sz="1400" dirty="0"/>
          </a:p>
        </p:txBody>
      </p:sp>
      <p:sp>
        <p:nvSpPr>
          <p:cNvPr id="12" name="Planned next"/>
          <p:cNvSpPr/>
          <p:nvPr/>
        </p:nvSpPr>
        <p:spPr>
          <a:xfrm>
            <a:off x="8046720" y="1691640"/>
            <a:ext cx="3566160" cy="3429000"/>
          </a:xfrm>
          <a:prstGeom prst="roundRect">
            <a:avLst>
              <a:gd name="adj" fmla="val 3200"/>
            </a:avLst>
          </a:prstGeom>
          <a:solidFill>
            <a:srgbClr val="F3F6FC"/>
          </a:solidFill>
          <a:ln w="12700">
            <a:solidFill>
              <a:srgbClr val="F3F6FC"/>
            </a:solidFill>
            <a:prstDash val="solid"/>
          </a:ln>
        </p:spPr>
      </p:sp>
      <p:sp>
        <p:nvSpPr>
          <p:cNvPr id="13" name="Shape 11"/>
          <p:cNvSpPr/>
          <p:nvPr/>
        </p:nvSpPr>
        <p:spPr>
          <a:xfrm>
            <a:off x="8275320" y="1920240"/>
            <a:ext cx="3108960" cy="274320"/>
          </a:xfrm>
          <a:prstGeom prst="roundRect">
            <a:avLst>
              <a:gd name="adj" fmla="val 50000"/>
            </a:avLst>
          </a:prstGeom>
          <a:solidFill>
            <a:srgbClr val="5B6478"/>
          </a:solidFill>
          <a:ln w="12700">
            <a:solidFill>
              <a:srgbClr val="5B6478"/>
            </a:solidFill>
            <a:prstDash val="solid"/>
          </a:ln>
        </p:spPr>
      </p:sp>
      <p:sp>
        <p:nvSpPr>
          <p:cNvPr id="14" name="Text 12"/>
          <p:cNvSpPr txBox="1"/>
          <p:nvPr/>
        </p:nvSpPr>
        <p:spPr>
          <a:xfrm>
            <a:off x="8275320" y="1920240"/>
            <a:ext cx="3108960" cy="274320"/>
          </a:xfrm>
          <a:prstGeom prst="rect">
            <a:avLst/>
          </a:prstGeom>
          <a:noFill/>
          <a:ln/>
        </p:spPr>
        <p:txBody>
          <a:bodyPr wrap="square" lIns="0" tIns="0" rIns="0" bIns="0" rtlCol="0" anchor="ctr"/>
          <a:lstStyle/>
          <a:p>
            <a:pPr algn="ctr" indent="0" marL="0">
              <a:buNone/>
            </a:pPr>
            <a:r>
              <a:rPr lang="en-US" sz="1200" b="1" dirty="0">
                <a:solidFill>
                  <a:srgbClr val="FFFFFF"/>
                </a:solidFill>
              </a:rPr>
              <a:t>Planned next</a:t>
            </a:r>
            <a:endParaRPr lang="en-US" sz="1200" dirty="0"/>
          </a:p>
        </p:txBody>
      </p:sp>
      <p:sp>
        <p:nvSpPr>
          <p:cNvPr id="15" name="Text 13"/>
          <p:cNvSpPr txBox="1"/>
          <p:nvPr/>
        </p:nvSpPr>
        <p:spPr>
          <a:xfrm>
            <a:off x="8275320" y="2423160"/>
            <a:ext cx="3154680" cy="3474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iOS app</a:t>
            </a:r>
            <a:endParaRPr lang="en-US" sz="1400" dirty="0"/>
          </a:p>
          <a:p>
            <a:pPr marL="177800" indent="-177800">
              <a:spcAft>
                <a:spcPts val="800"/>
              </a:spcAft>
              <a:buSzPct val="100000"/>
              <a:buChar char="●"/>
            </a:pPr>
            <a:r>
              <a:rPr lang="en-US" sz="1400" dirty="0">
                <a:solidFill>
                  <a:schemeClr val="tx1"/>
                </a:solidFill>
              </a:rPr>
              <a:t>Online subscription billing</a:t>
            </a:r>
            <a:endParaRPr lang="en-US" sz="1400" dirty="0"/>
          </a:p>
          <a:p>
            <a:pPr marL="177800" indent="-177800">
              <a:spcAft>
                <a:spcPts val="800"/>
              </a:spcAft>
              <a:buSzPct val="100000"/>
              <a:buChar char="●"/>
            </a:pPr>
            <a:r>
              <a:rPr lang="en-US" sz="1400" dirty="0">
                <a:solidFill>
                  <a:schemeClr val="tx1"/>
                </a:solidFill>
              </a:rPr>
              <a:t>Bank settlement reconciliation</a:t>
            </a:r>
            <a:endParaRPr lang="en-US" sz="1400" dirty="0"/>
          </a:p>
          <a:p>
            <a:pPr marL="177800" indent="-177800">
              <a:spcAft>
                <a:spcPts val="800"/>
              </a:spcAft>
              <a:buSzPct val="100000"/>
              <a:buChar char="●"/>
            </a:pPr>
            <a:r>
              <a:rPr lang="en-US" sz="1400" dirty="0">
                <a:solidFill>
                  <a:schemeClr val="tx1"/>
                </a:solidFill>
              </a:rPr>
              <a:t>Student logins (V2)</a:t>
            </a:r>
            <a:endParaRPr lang="en-US" sz="1400" dirty="0"/>
          </a:p>
          <a:p>
            <a:pPr marL="177800" indent="-177800">
              <a:spcAft>
                <a:spcPts val="800"/>
              </a:spcAft>
              <a:buSzPct val="100000"/>
              <a:buChar char="●"/>
            </a:pPr>
            <a:r>
              <a:rPr lang="en-US" sz="1400" dirty="0">
                <a:solidFill>
                  <a:schemeClr val="tx1"/>
                </a:solidFill>
              </a:rPr>
              <a:t>Self-hosted video meetings</a:t>
            </a:r>
            <a:endParaRPr lang="en-US" sz="1400" dirty="0"/>
          </a:p>
        </p:txBody>
      </p:sp>
      <p:sp>
        <p:nvSpPr>
          <p:cNvPr id="16" name="Text 14"/>
          <p:cNvSpPr txBox="1"/>
          <p:nvPr/>
        </p:nvSpPr>
        <p:spPr>
          <a:xfrm>
            <a:off x="548640" y="5394960"/>
            <a:ext cx="11064240" cy="365760"/>
          </a:xfrm>
          <a:prstGeom prst="rect">
            <a:avLst/>
          </a:prstGeom>
          <a:noFill/>
          <a:ln/>
        </p:spPr>
        <p:txBody>
          <a:bodyPr wrap="square" lIns="0" tIns="0" rIns="0" bIns="0" rtlCol="0" anchor="t"/>
          <a:lstStyle/>
          <a:p>
            <a:pPr indent="0" marL="0">
              <a:buNone/>
            </a:pPr>
            <a:r>
              <a:rPr lang="en-US" sz="1600" i="1" dirty="0">
                <a:solidFill>
                  <a:schemeClr val="tx1"/>
                </a:solidFill>
              </a:rPr>
              <a:t>Nothing in amber needs new code: each one is an account to open or a key to add.</a:t>
            </a:r>
            <a:endParaRPr lang="en-US" sz="16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IMPACT AND FUTURE</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What changes for a school on day one, and where it goes</a:t>
            </a:r>
            <a:endParaRPr lang="en-US" sz="3000" dirty="0"/>
          </a:p>
        </p:txBody>
      </p:sp>
      <p:sp>
        <p:nvSpPr>
          <p:cNvPr id="4" name="Shape 2"/>
          <p:cNvSpPr/>
          <p:nvPr/>
        </p:nvSpPr>
        <p:spPr>
          <a:xfrm>
            <a:off x="548640" y="1691640"/>
            <a:ext cx="512064" cy="512064"/>
          </a:xfrm>
          <a:prstGeom prst="ellipse">
            <a:avLst/>
          </a:prstGeom>
          <a:solidFill>
            <a:srgbClr val="F7A400"/>
          </a:solidFill>
          <a:ln w="12700">
            <a:solidFill>
              <a:srgbClr val="F7A400"/>
            </a:solidFill>
            <a:prstDash val="solid"/>
          </a:ln>
        </p:spPr>
      </p:sp>
      <p:pic>
        <p:nvPicPr>
          <p:cNvPr id="5" name="Image 0" descr="preencoded.png">    </p:cNvPr>
          <p:cNvPicPr>
            <a:picLocks noChangeAspect="1"/>
          </p:cNvPicPr>
          <p:nvPr/>
        </p:nvPicPr>
        <p:blipFill>
          <a:blip r:embed="rId1"/>
          <a:stretch>
            <a:fillRect/>
          </a:stretch>
        </p:blipFill>
        <p:spPr>
          <a:xfrm>
            <a:off x="671535" y="1814535"/>
            <a:ext cx="266273" cy="266273"/>
          </a:xfrm>
          <a:prstGeom prst="rect">
            <a:avLst/>
          </a:prstGeom>
        </p:spPr>
      </p:pic>
      <p:sp>
        <p:nvSpPr>
          <p:cNvPr id="6" name="Text 3"/>
          <p:cNvSpPr txBox="1"/>
          <p:nvPr/>
        </p:nvSpPr>
        <p:spPr>
          <a:xfrm>
            <a:off x="548640" y="2350008"/>
            <a:ext cx="2834640" cy="347472"/>
          </a:xfrm>
          <a:prstGeom prst="rect">
            <a:avLst/>
          </a:prstGeom>
          <a:noFill/>
          <a:ln/>
        </p:spPr>
        <p:txBody>
          <a:bodyPr wrap="square" lIns="0" tIns="0" rIns="0" bIns="0" rtlCol="0" anchor="ctr"/>
          <a:lstStyle/>
          <a:p>
            <a:pPr indent="0" marL="0">
              <a:buNone/>
            </a:pPr>
            <a:r>
              <a:rPr lang="en-US" sz="1600" b="1" dirty="0">
                <a:solidFill>
                  <a:schemeClr val="bg1"/>
                </a:solidFill>
              </a:rPr>
              <a:t>Hours back for teachers</a:t>
            </a:r>
            <a:endParaRPr lang="en-US" sz="1600" dirty="0"/>
          </a:p>
        </p:txBody>
      </p:sp>
      <p:sp>
        <p:nvSpPr>
          <p:cNvPr id="7" name="Text 4"/>
          <p:cNvSpPr txBox="1"/>
          <p:nvPr/>
        </p:nvSpPr>
        <p:spPr>
          <a:xfrm>
            <a:off x="548640" y="2715768"/>
            <a:ext cx="2743200" cy="685800"/>
          </a:xfrm>
          <a:prstGeom prst="rect">
            <a:avLst/>
          </a:prstGeom>
          <a:noFill/>
          <a:ln/>
        </p:spPr>
        <p:txBody>
          <a:bodyPr wrap="square" lIns="0" tIns="0" rIns="0" bIns="0" rtlCol="0" anchor="t"/>
          <a:lstStyle/>
          <a:p>
            <a:pPr indent="0" marL="0">
              <a:buNone/>
            </a:pPr>
            <a:r>
              <a:rPr lang="en-US" sz="1300" dirty="0">
                <a:solidFill>
                  <a:schemeClr val="accent5"/>
                </a:solidFill>
              </a:rPr>
              <a:t>Registers and marks on the phone instead of paper and retyping</a:t>
            </a:r>
            <a:endParaRPr lang="en-US" sz="1300" dirty="0"/>
          </a:p>
        </p:txBody>
      </p:sp>
      <p:sp>
        <p:nvSpPr>
          <p:cNvPr id="8" name="Shape 5"/>
          <p:cNvSpPr/>
          <p:nvPr/>
        </p:nvSpPr>
        <p:spPr>
          <a:xfrm>
            <a:off x="3657600" y="1691640"/>
            <a:ext cx="512064" cy="512064"/>
          </a:xfrm>
          <a:prstGeom prst="ellipse">
            <a:avLst/>
          </a:prstGeom>
          <a:solidFill>
            <a:srgbClr val="F7A400"/>
          </a:solidFill>
          <a:ln w="12700">
            <a:solidFill>
              <a:srgbClr val="F7A400"/>
            </a:solidFill>
            <a:prstDash val="solid"/>
          </a:ln>
        </p:spPr>
      </p:sp>
      <p:pic>
        <p:nvPicPr>
          <p:cNvPr id="9" name="Image 1" descr="preencoded.png">    </p:cNvPr>
          <p:cNvPicPr>
            <a:picLocks noChangeAspect="1"/>
          </p:cNvPicPr>
          <p:nvPr/>
        </p:nvPicPr>
        <p:blipFill>
          <a:blip r:embed="rId2"/>
          <a:stretch>
            <a:fillRect/>
          </a:stretch>
        </p:blipFill>
        <p:spPr>
          <a:xfrm>
            <a:off x="3780495" y="1814535"/>
            <a:ext cx="266273" cy="266273"/>
          </a:xfrm>
          <a:prstGeom prst="rect">
            <a:avLst/>
          </a:prstGeom>
        </p:spPr>
      </p:pic>
      <p:sp>
        <p:nvSpPr>
          <p:cNvPr id="10" name="Text 6"/>
          <p:cNvSpPr txBox="1"/>
          <p:nvPr/>
        </p:nvSpPr>
        <p:spPr>
          <a:xfrm>
            <a:off x="3657600" y="2350008"/>
            <a:ext cx="2834640" cy="347472"/>
          </a:xfrm>
          <a:prstGeom prst="rect">
            <a:avLst/>
          </a:prstGeom>
          <a:noFill/>
          <a:ln/>
        </p:spPr>
        <p:txBody>
          <a:bodyPr wrap="square" lIns="0" tIns="0" rIns="0" bIns="0" rtlCol="0" anchor="ctr"/>
          <a:lstStyle/>
          <a:p>
            <a:pPr indent="0" marL="0">
              <a:buNone/>
            </a:pPr>
            <a:r>
              <a:rPr lang="en-US" sz="1600" b="1" dirty="0">
                <a:solidFill>
                  <a:schemeClr val="bg1"/>
                </a:solidFill>
              </a:rPr>
              <a:t>Fees collected on time</a:t>
            </a:r>
            <a:endParaRPr lang="en-US" sz="1600" dirty="0"/>
          </a:p>
        </p:txBody>
      </p:sp>
      <p:sp>
        <p:nvSpPr>
          <p:cNvPr id="11" name="Text 7"/>
          <p:cNvSpPr txBox="1"/>
          <p:nvPr/>
        </p:nvSpPr>
        <p:spPr>
          <a:xfrm>
            <a:off x="3657600" y="2715768"/>
            <a:ext cx="2743200" cy="685800"/>
          </a:xfrm>
          <a:prstGeom prst="rect">
            <a:avLst/>
          </a:prstGeom>
          <a:noFill/>
          <a:ln/>
        </p:spPr>
        <p:txBody>
          <a:bodyPr wrap="square" lIns="0" tIns="0" rIns="0" bIns="0" rtlCol="0" anchor="t"/>
          <a:lstStyle/>
          <a:p>
            <a:pPr indent="0" marL="0">
              <a:buNone/>
            </a:pPr>
            <a:r>
              <a:rPr lang="en-US" sz="1300" dirty="0">
                <a:solidFill>
                  <a:schemeClr val="accent5"/>
                </a:solidFill>
              </a:rPr>
              <a:t>Online payment, instant receipts, clear dues and reminders</a:t>
            </a:r>
            <a:endParaRPr lang="en-US" sz="1300" dirty="0"/>
          </a:p>
        </p:txBody>
      </p:sp>
      <p:sp>
        <p:nvSpPr>
          <p:cNvPr id="12" name="Shape 8"/>
          <p:cNvSpPr/>
          <p:nvPr/>
        </p:nvSpPr>
        <p:spPr>
          <a:xfrm>
            <a:off x="548640" y="3657600"/>
            <a:ext cx="512064" cy="512064"/>
          </a:xfrm>
          <a:prstGeom prst="ellipse">
            <a:avLst/>
          </a:prstGeom>
          <a:solidFill>
            <a:srgbClr val="F7A400"/>
          </a:solidFill>
          <a:ln w="12700">
            <a:solidFill>
              <a:srgbClr val="F7A400"/>
            </a:solidFill>
            <a:prstDash val="solid"/>
          </a:ln>
        </p:spPr>
      </p:sp>
      <p:pic>
        <p:nvPicPr>
          <p:cNvPr id="13" name="Image 2" descr="preencoded.png">    </p:cNvPr>
          <p:cNvPicPr>
            <a:picLocks noChangeAspect="1"/>
          </p:cNvPicPr>
          <p:nvPr/>
        </p:nvPicPr>
        <p:blipFill>
          <a:blip r:embed="rId3"/>
          <a:stretch>
            <a:fillRect/>
          </a:stretch>
        </p:blipFill>
        <p:spPr>
          <a:xfrm>
            <a:off x="671535" y="3780495"/>
            <a:ext cx="266273" cy="266273"/>
          </a:xfrm>
          <a:prstGeom prst="rect">
            <a:avLst/>
          </a:prstGeom>
        </p:spPr>
      </p:pic>
      <p:sp>
        <p:nvSpPr>
          <p:cNvPr id="14" name="Text 9"/>
          <p:cNvSpPr txBox="1"/>
          <p:nvPr/>
        </p:nvSpPr>
        <p:spPr>
          <a:xfrm>
            <a:off x="548640" y="4315968"/>
            <a:ext cx="2834640" cy="347472"/>
          </a:xfrm>
          <a:prstGeom prst="rect">
            <a:avLst/>
          </a:prstGeom>
          <a:noFill/>
          <a:ln/>
        </p:spPr>
        <p:txBody>
          <a:bodyPr wrap="square" lIns="0" tIns="0" rIns="0" bIns="0" rtlCol="0" anchor="ctr"/>
          <a:lstStyle/>
          <a:p>
            <a:pPr indent="0" marL="0">
              <a:buNone/>
            </a:pPr>
            <a:r>
              <a:rPr lang="en-US" sz="1600" b="1" dirty="0">
                <a:solidFill>
                  <a:schemeClr val="bg1"/>
                </a:solidFill>
              </a:rPr>
              <a:t>Parents in the loop</a:t>
            </a:r>
            <a:endParaRPr lang="en-US" sz="1600" dirty="0"/>
          </a:p>
        </p:txBody>
      </p:sp>
      <p:sp>
        <p:nvSpPr>
          <p:cNvPr id="15" name="Text 10"/>
          <p:cNvSpPr txBox="1"/>
          <p:nvPr/>
        </p:nvSpPr>
        <p:spPr>
          <a:xfrm>
            <a:off x="548640" y="4681728"/>
            <a:ext cx="2743200" cy="685800"/>
          </a:xfrm>
          <a:prstGeom prst="rect">
            <a:avLst/>
          </a:prstGeom>
          <a:noFill/>
          <a:ln/>
        </p:spPr>
        <p:txBody>
          <a:bodyPr wrap="square" lIns="0" tIns="0" rIns="0" bIns="0" rtlCol="0" anchor="t"/>
          <a:lstStyle/>
          <a:p>
            <a:pPr indent="0" marL="0">
              <a:buNone/>
            </a:pPr>
            <a:r>
              <a:rPr lang="en-US" sz="1300" dirty="0">
                <a:solidFill>
                  <a:schemeClr val="accent5"/>
                </a:solidFill>
              </a:rPr>
              <a:t>Absence alerts, homework, results and notices as they happen</a:t>
            </a:r>
            <a:endParaRPr lang="en-US" sz="1300" dirty="0"/>
          </a:p>
        </p:txBody>
      </p:sp>
      <p:sp>
        <p:nvSpPr>
          <p:cNvPr id="16" name="Shape 11"/>
          <p:cNvSpPr/>
          <p:nvPr/>
        </p:nvSpPr>
        <p:spPr>
          <a:xfrm>
            <a:off x="3657600" y="3657600"/>
            <a:ext cx="512064" cy="512064"/>
          </a:xfrm>
          <a:prstGeom prst="ellipse">
            <a:avLst/>
          </a:prstGeom>
          <a:solidFill>
            <a:srgbClr val="F7A400"/>
          </a:solidFill>
          <a:ln w="12700">
            <a:solidFill>
              <a:srgbClr val="F7A400"/>
            </a:solidFill>
            <a:prstDash val="solid"/>
          </a:ln>
        </p:spPr>
      </p:sp>
      <p:pic>
        <p:nvPicPr>
          <p:cNvPr id="17" name="Image 3" descr="preencoded.png">    </p:cNvPr>
          <p:cNvPicPr>
            <a:picLocks noChangeAspect="1"/>
          </p:cNvPicPr>
          <p:nvPr/>
        </p:nvPicPr>
        <p:blipFill>
          <a:blip r:embed="rId4"/>
          <a:stretch>
            <a:fillRect/>
          </a:stretch>
        </p:blipFill>
        <p:spPr>
          <a:xfrm>
            <a:off x="3780495" y="3780495"/>
            <a:ext cx="266273" cy="266273"/>
          </a:xfrm>
          <a:prstGeom prst="rect">
            <a:avLst/>
          </a:prstGeom>
        </p:spPr>
      </p:pic>
      <p:sp>
        <p:nvSpPr>
          <p:cNvPr id="18" name="Text 12"/>
          <p:cNvSpPr txBox="1"/>
          <p:nvPr/>
        </p:nvSpPr>
        <p:spPr>
          <a:xfrm>
            <a:off x="3657600" y="4315968"/>
            <a:ext cx="2834640" cy="347472"/>
          </a:xfrm>
          <a:prstGeom prst="rect">
            <a:avLst/>
          </a:prstGeom>
          <a:noFill/>
          <a:ln/>
        </p:spPr>
        <p:txBody>
          <a:bodyPr wrap="square" lIns="0" tIns="0" rIns="0" bIns="0" rtlCol="0" anchor="ctr"/>
          <a:lstStyle/>
          <a:p>
            <a:pPr indent="0" marL="0">
              <a:buNone/>
            </a:pPr>
            <a:r>
              <a:rPr lang="en-US" sz="1600" b="1" dirty="0">
                <a:solidFill>
                  <a:schemeClr val="bg1"/>
                </a:solidFill>
              </a:rPr>
              <a:t>No more print-shop lists</a:t>
            </a:r>
            <a:endParaRPr lang="en-US" sz="1600" dirty="0"/>
          </a:p>
        </p:txBody>
      </p:sp>
      <p:sp>
        <p:nvSpPr>
          <p:cNvPr id="19" name="Text 13"/>
          <p:cNvSpPr txBox="1"/>
          <p:nvPr/>
        </p:nvSpPr>
        <p:spPr>
          <a:xfrm>
            <a:off x="3657600" y="4681728"/>
            <a:ext cx="2743200" cy="685800"/>
          </a:xfrm>
          <a:prstGeom prst="rect">
            <a:avLst/>
          </a:prstGeom>
          <a:noFill/>
          <a:ln/>
        </p:spPr>
        <p:txBody>
          <a:bodyPr wrap="square" lIns="0" tIns="0" rIns="0" bIns="0" rtlCol="0" anchor="t"/>
          <a:lstStyle/>
          <a:p>
            <a:pPr indent="0" marL="0">
              <a:buNone/>
            </a:pPr>
            <a:r>
              <a:rPr lang="en-US" sz="1300" dirty="0">
                <a:solidFill>
                  <a:schemeClr val="accent5"/>
                </a:solidFill>
              </a:rPr>
              <a:t>ID cards and report cards straight from the records</a:t>
            </a:r>
            <a:endParaRPr lang="en-US" sz="1300" dirty="0"/>
          </a:p>
        </p:txBody>
      </p:sp>
      <p:sp>
        <p:nvSpPr>
          <p:cNvPr id="20" name="Future potential"/>
          <p:cNvSpPr/>
          <p:nvPr/>
        </p:nvSpPr>
        <p:spPr>
          <a:xfrm>
            <a:off x="7086600" y="1691640"/>
            <a:ext cx="4544568" cy="4206240"/>
          </a:xfrm>
          <a:prstGeom prst="roundRect">
            <a:avLst>
              <a:gd name="adj" fmla="val 2609"/>
            </a:avLst>
          </a:prstGeom>
          <a:solidFill>
            <a:srgbClr val="1C2747"/>
          </a:solidFill>
          <a:ln w="12700">
            <a:solidFill>
              <a:srgbClr val="1C2747"/>
            </a:solidFill>
            <a:prstDash val="solid"/>
          </a:ln>
        </p:spPr>
      </p:sp>
      <p:sp>
        <p:nvSpPr>
          <p:cNvPr id="21" name="Text 15"/>
          <p:cNvSpPr txBox="1"/>
          <p:nvPr/>
        </p:nvSpPr>
        <p:spPr>
          <a:xfrm>
            <a:off x="7360920" y="1874520"/>
            <a:ext cx="402336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FUTURE POTENTIAL</a:t>
            </a:r>
            <a:endParaRPr lang="en-US" sz="1200" dirty="0"/>
          </a:p>
        </p:txBody>
      </p:sp>
      <p:sp>
        <p:nvSpPr>
          <p:cNvPr id="22" name="Text 16"/>
          <p:cNvSpPr txBox="1"/>
          <p:nvPr/>
        </p:nvSpPr>
        <p:spPr>
          <a:xfrm>
            <a:off x="7360920" y="2286000"/>
            <a:ext cx="4069080" cy="34747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Every Indian school board, in local languages</a:t>
            </a:r>
            <a:endParaRPr lang="en-US" sz="1500" dirty="0"/>
          </a:p>
          <a:p>
            <a:pPr marL="203200" indent="-203200">
              <a:spcAft>
                <a:spcPts val="1000"/>
              </a:spcAft>
              <a:buSzPct val="100000"/>
              <a:buChar char="●"/>
            </a:pPr>
            <a:r>
              <a:rPr lang="en-US" sz="1500" dirty="0">
                <a:solidFill>
                  <a:schemeClr val="bg1"/>
                </a:solidFill>
              </a:rPr>
              <a:t>iOS and student logins</a:t>
            </a:r>
            <a:endParaRPr lang="en-US" sz="1500" dirty="0"/>
          </a:p>
          <a:p>
            <a:pPr marL="203200" indent="-203200">
              <a:spcAft>
                <a:spcPts val="1000"/>
              </a:spcAft>
              <a:buSzPct val="100000"/>
              <a:buChar char="●"/>
            </a:pPr>
            <a:r>
              <a:rPr lang="en-US" sz="1500" dirty="0">
                <a:solidFill>
                  <a:schemeClr val="bg1"/>
                </a:solidFill>
              </a:rPr>
              <a:t>Payments and billing fully online</a:t>
            </a:r>
            <a:endParaRPr lang="en-US" sz="1500" dirty="0"/>
          </a:p>
          <a:p>
            <a:pPr marL="203200" indent="-203200">
              <a:spcAft>
                <a:spcPts val="1000"/>
              </a:spcAft>
              <a:buSzPct val="100000"/>
              <a:buChar char="●"/>
            </a:pPr>
            <a:r>
              <a:rPr lang="en-US" sz="1500" dirty="0">
                <a:solidFill>
                  <a:schemeClr val="bg1"/>
                </a:solidFill>
              </a:rPr>
              <a:t>AI that drafts worksheets and flags at-risk students early</a:t>
            </a:r>
            <a:endParaRPr lang="en-US" sz="1500" dirty="0"/>
          </a:p>
          <a:p>
            <a:pPr marL="203200" indent="-203200">
              <a:spcAft>
                <a:spcPts val="1000"/>
              </a:spcAft>
              <a:buSzPct val="100000"/>
              <a:buChar char="●"/>
            </a:pPr>
            <a:r>
              <a:rPr lang="en-US" sz="1500" dirty="0">
                <a:solidFill>
                  <a:schemeClr val="bg1"/>
                </a:solidFill>
              </a:rPr>
              <a:t>A school network: one owner, many branches, one console</a:t>
            </a:r>
            <a:endParaRPr lang="en-US" sz="15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tmp/claude-0/-home-user-school-erp/e29ee0a4-43fe-57b9-bbca-796e49c4c9e9/scratchpad/deck/assets/bastaa-logo-white.png">    </p:cNvPr>
          <p:cNvPicPr>
            <a:picLocks noChangeAspect="1"/>
          </p:cNvPicPr>
          <p:nvPr/>
        </p:nvPicPr>
        <p:blipFill>
          <a:blip r:embed="rId1"/>
          <a:stretch>
            <a:fillRect/>
          </a:stretch>
        </p:blipFill>
        <p:spPr>
          <a:xfrm>
            <a:off x="731520" y="731520"/>
            <a:ext cx="2377440" cy="709684"/>
          </a:xfrm>
          <a:prstGeom prst="rect">
            <a:avLst/>
          </a:prstGeom>
        </p:spPr>
      </p:pic>
      <p:sp>
        <p:nvSpPr>
          <p:cNvPr id="3" name="Text 0"/>
          <p:cNvSpPr/>
          <p:nvPr>
            <p:ph idx="100" type="title" hasCustomPrompt="1"/>
          </p:nvPr>
        </p:nvSpPr>
        <p:spPr>
          <a:xfrm>
            <a:off x="731520" y="2331720"/>
            <a:ext cx="7498080" cy="155448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See Bastaa with your own school</a:t>
            </a:r>
            <a:endParaRPr lang="en-US" sz="4800" dirty="0"/>
          </a:p>
        </p:txBody>
      </p:sp>
      <p:sp>
        <p:nvSpPr>
          <p:cNvPr id="4" name="Text 0"/>
          <p:cNvSpPr/>
          <p:nvPr>
            <p:ph idx="101" type="body" hasCustomPrompt="1"/>
          </p:nvPr>
        </p:nvSpPr>
        <p:spPr>
          <a:xfrm>
            <a:off x="731520" y="3977640"/>
            <a:ext cx="6949440" cy="822960"/>
          </a:xfrm>
          <a:prstGeom prst="rect">
            <a:avLst/>
          </a:prstGeom>
          <a:noFill/>
          <a:ln/>
        </p:spPr>
        <p:txBody>
          <a:bodyPr wrap="square" lIns="0" tIns="0" rIns="0" bIns="0" rtlCol="0" anchor="t"/>
          <a:lstStyle/>
          <a:p>
            <a:pPr algn="l" indent="0" marL="0">
              <a:buNone/>
            </a:pPr>
            <a:r>
              <a:rPr lang="en-US" sz="2000" dirty="0">
                <a:solidFill>
                  <a:schemeClr val="accent5"/>
                </a:solidFill>
              </a:rPr>
              <a:t>We're looking for our first pilot schools, and for partners who know Indian schools.</a:t>
            </a:r>
            <a:endParaRPr lang="en-US" sz="2000" dirty="0"/>
          </a:p>
        </p:txBody>
      </p:sp>
      <p:sp>
        <p:nvSpPr>
          <p:cNvPr id="5" name="Text 2"/>
          <p:cNvSpPr txBox="1"/>
          <p:nvPr/>
        </p:nvSpPr>
        <p:spPr>
          <a:xfrm>
            <a:off x="731520" y="4983480"/>
            <a:ext cx="2286000" cy="365760"/>
          </a:xfrm>
          <a:prstGeom prst="rect">
            <a:avLst/>
          </a:prstGeom>
          <a:noFill/>
          <a:ln/>
        </p:spPr>
        <p:txBody>
          <a:bodyPr wrap="square" lIns="0" tIns="0" rIns="0" bIns="0" rtlCol="0" anchor="ctr"/>
          <a:lstStyle/>
          <a:p>
            <a:pPr indent="0" marL="0">
              <a:buNone/>
            </a:pPr>
            <a:r>
              <a:rPr lang="en-US" sz="1800" b="1" dirty="0">
                <a:solidFill>
                  <a:schemeClr val="accent2"/>
                </a:solidFill>
              </a:rPr>
              <a:t>Built</a:t>
            </a:r>
            <a:endParaRPr lang="en-US" sz="1800" dirty="0"/>
          </a:p>
        </p:txBody>
      </p:sp>
      <p:sp>
        <p:nvSpPr>
          <p:cNvPr id="6" name="Text 3"/>
          <p:cNvSpPr txBox="1"/>
          <p:nvPr/>
        </p:nvSpPr>
        <p:spPr>
          <a:xfrm>
            <a:off x="731520" y="5349240"/>
            <a:ext cx="2286000" cy="640080"/>
          </a:xfrm>
          <a:prstGeom prst="rect">
            <a:avLst/>
          </a:prstGeom>
          <a:noFill/>
          <a:ln/>
        </p:spPr>
        <p:txBody>
          <a:bodyPr wrap="square" lIns="0" tIns="0" rIns="0" bIns="0" rtlCol="0" anchor="t"/>
          <a:lstStyle/>
          <a:p>
            <a:pPr indent="0" marL="0">
              <a:buNone/>
            </a:pPr>
            <a:r>
              <a:rPr lang="en-US" sz="1300" dirty="0">
                <a:solidFill>
                  <a:schemeClr val="bg1"/>
                </a:solidFill>
              </a:rPr>
              <a:t>Every module you saw today runs and is tested</a:t>
            </a:r>
            <a:endParaRPr lang="en-US" sz="1300" dirty="0"/>
          </a:p>
        </p:txBody>
      </p:sp>
      <p:sp>
        <p:nvSpPr>
          <p:cNvPr id="7" name="Text 4"/>
          <p:cNvSpPr txBox="1"/>
          <p:nvPr/>
        </p:nvSpPr>
        <p:spPr>
          <a:xfrm>
            <a:off x="3246120" y="4983480"/>
            <a:ext cx="2286000" cy="365760"/>
          </a:xfrm>
          <a:prstGeom prst="rect">
            <a:avLst/>
          </a:prstGeom>
          <a:noFill/>
          <a:ln/>
        </p:spPr>
        <p:txBody>
          <a:bodyPr wrap="square" lIns="0" tIns="0" rIns="0" bIns="0" rtlCol="0" anchor="ctr"/>
          <a:lstStyle/>
          <a:p>
            <a:pPr indent="0" marL="0">
              <a:buNone/>
            </a:pPr>
            <a:r>
              <a:rPr lang="en-US" sz="1800" b="1" dirty="0">
                <a:solidFill>
                  <a:schemeClr val="accent2"/>
                </a:solidFill>
              </a:rPr>
              <a:t>Ready</a:t>
            </a:r>
            <a:endParaRPr lang="en-US" sz="1800" dirty="0"/>
          </a:p>
        </p:txBody>
      </p:sp>
      <p:sp>
        <p:nvSpPr>
          <p:cNvPr id="8" name="Text 5"/>
          <p:cNvSpPr txBox="1"/>
          <p:nvPr/>
        </p:nvSpPr>
        <p:spPr>
          <a:xfrm>
            <a:off x="3246120" y="5349240"/>
            <a:ext cx="2286000" cy="640080"/>
          </a:xfrm>
          <a:prstGeom prst="rect">
            <a:avLst/>
          </a:prstGeom>
          <a:noFill/>
          <a:ln/>
        </p:spPr>
        <p:txBody>
          <a:bodyPr wrap="square" lIns="0" tIns="0" rIns="0" bIns="0" rtlCol="0" anchor="t"/>
          <a:lstStyle/>
          <a:p>
            <a:pPr indent="0" marL="0">
              <a:buNone/>
            </a:pPr>
            <a:r>
              <a:rPr lang="en-US" sz="1300" dirty="0">
                <a:solidFill>
                  <a:schemeClr val="bg1"/>
                </a:solidFill>
              </a:rPr>
              <a:t>Deployment is fully scripted; accounts are next</a:t>
            </a:r>
            <a:endParaRPr lang="en-US" sz="1300" dirty="0"/>
          </a:p>
        </p:txBody>
      </p:sp>
      <p:sp>
        <p:nvSpPr>
          <p:cNvPr id="9" name="Text 6"/>
          <p:cNvSpPr txBox="1"/>
          <p:nvPr/>
        </p:nvSpPr>
        <p:spPr>
          <a:xfrm>
            <a:off x="5760720" y="4983480"/>
            <a:ext cx="2286000" cy="365760"/>
          </a:xfrm>
          <a:prstGeom prst="rect">
            <a:avLst/>
          </a:prstGeom>
          <a:noFill/>
          <a:ln/>
        </p:spPr>
        <p:txBody>
          <a:bodyPr wrap="square" lIns="0" tIns="0" rIns="0" bIns="0" rtlCol="0" anchor="ctr"/>
          <a:lstStyle/>
          <a:p>
            <a:pPr indent="0" marL="0">
              <a:buNone/>
            </a:pPr>
            <a:r>
              <a:rPr lang="en-US" sz="1800" b="1" dirty="0">
                <a:solidFill>
                  <a:schemeClr val="accent2"/>
                </a:solidFill>
              </a:rPr>
              <a:t>Ask</a:t>
            </a:r>
            <a:endParaRPr lang="en-US" sz="1800" dirty="0"/>
          </a:p>
        </p:txBody>
      </p:sp>
      <p:sp>
        <p:nvSpPr>
          <p:cNvPr id="10" name="Text 7"/>
          <p:cNvSpPr txBox="1"/>
          <p:nvPr/>
        </p:nvSpPr>
        <p:spPr>
          <a:xfrm>
            <a:off x="5760720" y="5349240"/>
            <a:ext cx="2286000" cy="640080"/>
          </a:xfrm>
          <a:prstGeom prst="rect">
            <a:avLst/>
          </a:prstGeom>
          <a:noFill/>
          <a:ln/>
        </p:spPr>
        <p:txBody>
          <a:bodyPr wrap="square" lIns="0" tIns="0" rIns="0" bIns="0" rtlCol="0" anchor="t"/>
          <a:lstStyle/>
          <a:p>
            <a:pPr indent="0" marL="0">
              <a:buNone/>
            </a:pPr>
            <a:r>
              <a:rPr lang="en-US" sz="1300" dirty="0">
                <a:solidFill>
                  <a:schemeClr val="bg1"/>
                </a:solidFill>
              </a:rPr>
              <a:t>Pilot schools, mentors and early support</a:t>
            </a:r>
            <a:endParaRPr lang="en-US" sz="1300" dirty="0"/>
          </a:p>
        </p:txBody>
      </p:sp>
      <p:pic>
        <p:nvPicPr>
          <p:cNvPr id="11" name="ID card" descr="Student ID card">    </p:cNvPr>
          <p:cNvPicPr>
            <a:picLocks noChangeAspect="1"/>
          </p:cNvPicPr>
          <p:nvPr/>
        </p:nvPicPr>
        <p:blipFill>
          <a:blip r:embed="rId2"/>
          <a:stretch>
            <a:fillRect/>
          </a:stretch>
        </p:blipFill>
        <p:spPr>
          <a:xfrm>
            <a:off x="8686800" y="1005840"/>
            <a:ext cx="2926080" cy="457890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APPENDIX · JUDGE Q&amp;A 1/2</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Questions we expect: product and market</a:t>
            </a:r>
            <a:endParaRPr lang="en-US" sz="3000" dirty="0"/>
          </a:p>
        </p:txBody>
      </p:sp>
      <p:sp>
        <p:nvSpPr>
          <p:cNvPr id="4" name="Q 1"/>
          <p:cNvSpPr/>
          <p:nvPr/>
        </p:nvSpPr>
        <p:spPr>
          <a:xfrm>
            <a:off x="548640" y="1600200"/>
            <a:ext cx="5440680" cy="1389888"/>
          </a:xfrm>
          <a:prstGeom prst="roundRect">
            <a:avLst>
              <a:gd name="adj" fmla="val 6579"/>
            </a:avLst>
          </a:prstGeom>
          <a:solidFill>
            <a:srgbClr val="F3F6FC"/>
          </a:solidFill>
          <a:ln w="12700">
            <a:solidFill>
              <a:srgbClr val="F3F6FC"/>
            </a:solidFill>
            <a:prstDash val="solid"/>
          </a:ln>
        </p:spPr>
      </p:sp>
      <p:sp>
        <p:nvSpPr>
          <p:cNvPr id="5" name="Text 3"/>
          <p:cNvSpPr txBox="1"/>
          <p:nvPr/>
        </p:nvSpPr>
        <p:spPr>
          <a:xfrm>
            <a:off x="777240" y="1728216"/>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Is any school using it yet?</a:t>
            </a:r>
            <a:endParaRPr lang="en-US" sz="1500" dirty="0"/>
          </a:p>
        </p:txBody>
      </p:sp>
      <p:sp>
        <p:nvSpPr>
          <p:cNvPr id="6" name="Text 4"/>
          <p:cNvSpPr txBox="1"/>
          <p:nvPr/>
        </p:nvSpPr>
        <p:spPr>
          <a:xfrm>
            <a:off x="777240" y="2075688"/>
            <a:ext cx="4983480" cy="868680"/>
          </a:xfrm>
          <a:prstGeom prst="rect">
            <a:avLst/>
          </a:prstGeom>
          <a:noFill/>
          <a:ln/>
        </p:spPr>
        <p:txBody>
          <a:bodyPr wrap="square" lIns="0" tIns="0" rIns="0" bIns="0" rtlCol="0" anchor="t"/>
          <a:lstStyle/>
          <a:p>
            <a:pPr indent="0" marL="0">
              <a:buNone/>
            </a:pPr>
            <a:r>
              <a:rPr lang="en-US" sz="1300" dirty="0">
                <a:solidFill>
                  <a:schemeClr val="tx1"/>
                </a:solidFill>
              </a:rPr>
              <a:t>Not yet. The product is complete and tested on a 750-student demo school; deployment is scripted. Pilots are the next step.</a:t>
            </a:r>
            <a:endParaRPr lang="en-US" sz="1300" dirty="0"/>
          </a:p>
        </p:txBody>
      </p:sp>
      <p:sp>
        <p:nvSpPr>
          <p:cNvPr id="7" name="Q 2"/>
          <p:cNvSpPr/>
          <p:nvPr/>
        </p:nvSpPr>
        <p:spPr>
          <a:xfrm>
            <a:off x="6172200" y="1600200"/>
            <a:ext cx="5440680" cy="1389888"/>
          </a:xfrm>
          <a:prstGeom prst="roundRect">
            <a:avLst>
              <a:gd name="adj" fmla="val 6579"/>
            </a:avLst>
          </a:prstGeom>
          <a:solidFill>
            <a:srgbClr val="F3F6FC"/>
          </a:solidFill>
          <a:ln w="12700">
            <a:solidFill>
              <a:srgbClr val="F3F6FC"/>
            </a:solidFill>
            <a:prstDash val="solid"/>
          </a:ln>
        </p:spPr>
      </p:sp>
      <p:sp>
        <p:nvSpPr>
          <p:cNvPr id="8" name="Text 6"/>
          <p:cNvSpPr txBox="1"/>
          <p:nvPr/>
        </p:nvSpPr>
        <p:spPr>
          <a:xfrm>
            <a:off x="6400800" y="1728216"/>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Why another school ERP?</a:t>
            </a:r>
            <a:endParaRPr lang="en-US" sz="1500" dirty="0"/>
          </a:p>
        </p:txBody>
      </p:sp>
      <p:sp>
        <p:nvSpPr>
          <p:cNvPr id="9" name="Text 7"/>
          <p:cNvSpPr txBox="1"/>
          <p:nvPr/>
        </p:nvSpPr>
        <p:spPr>
          <a:xfrm>
            <a:off x="6400800" y="2075688"/>
            <a:ext cx="4983480" cy="868680"/>
          </a:xfrm>
          <a:prstGeom prst="rect">
            <a:avLst/>
          </a:prstGeom>
          <a:noFill/>
          <a:ln/>
        </p:spPr>
        <p:txBody>
          <a:bodyPr wrap="square" lIns="0" tIns="0" rIns="0" bIns="0" rtlCol="0" anchor="t"/>
          <a:lstStyle/>
          <a:p>
            <a:pPr indent="0" marL="0">
              <a:buNone/>
            </a:pPr>
            <a:r>
              <a:rPr lang="en-US" sz="1300" dirty="0">
                <a:solidFill>
                  <a:schemeClr val="tx1"/>
                </a:solidFill>
              </a:rPr>
              <a:t>Built for how Indian schools work: works without SMS (office sign-in codes), offline attendance, each school's own Razorpay, Excel import, multi-school from day one.</a:t>
            </a:r>
            <a:endParaRPr lang="en-US" sz="1300" dirty="0"/>
          </a:p>
        </p:txBody>
      </p:sp>
      <p:sp>
        <p:nvSpPr>
          <p:cNvPr id="10" name="Q 3"/>
          <p:cNvSpPr/>
          <p:nvPr/>
        </p:nvSpPr>
        <p:spPr>
          <a:xfrm>
            <a:off x="548640" y="3136392"/>
            <a:ext cx="5440680" cy="1389888"/>
          </a:xfrm>
          <a:prstGeom prst="roundRect">
            <a:avLst>
              <a:gd name="adj" fmla="val 6579"/>
            </a:avLst>
          </a:prstGeom>
          <a:solidFill>
            <a:srgbClr val="F3F6FC"/>
          </a:solidFill>
          <a:ln w="12700">
            <a:solidFill>
              <a:srgbClr val="F3F6FC"/>
            </a:solidFill>
            <a:prstDash val="solid"/>
          </a:ln>
        </p:spPr>
      </p:sp>
      <p:sp>
        <p:nvSpPr>
          <p:cNvPr id="11" name="Text 9"/>
          <p:cNvSpPr txBox="1"/>
          <p:nvPr/>
        </p:nvSpPr>
        <p:spPr>
          <a:xfrm>
            <a:off x="777240" y="3264408"/>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How do you stop data leaks between schools?</a:t>
            </a:r>
            <a:endParaRPr lang="en-US" sz="1500" dirty="0"/>
          </a:p>
        </p:txBody>
      </p:sp>
      <p:sp>
        <p:nvSpPr>
          <p:cNvPr id="12" name="Text 10"/>
          <p:cNvSpPr txBox="1"/>
          <p:nvPr/>
        </p:nvSpPr>
        <p:spPr>
          <a:xfrm>
            <a:off x="777240" y="3611880"/>
            <a:ext cx="4983480" cy="868680"/>
          </a:xfrm>
          <a:prstGeom prst="rect">
            <a:avLst/>
          </a:prstGeom>
          <a:noFill/>
          <a:ln/>
        </p:spPr>
        <p:txBody>
          <a:bodyPr wrap="square" lIns="0" tIns="0" rIns="0" bIns="0" rtlCol="0" anchor="t"/>
          <a:lstStyle/>
          <a:p>
            <a:pPr indent="0" marL="0">
              <a:buNone/>
            </a:pPr>
            <a:r>
              <a:rPr lang="en-US" sz="1300" dirty="0">
                <a:solidFill>
                  <a:schemeClr val="tx1"/>
                </a:solidFill>
              </a:rPr>
              <a:t>Three layers: database row-level security on 86 tables, a permission check on every route, and an automated cross-school probe in CI.</a:t>
            </a:r>
            <a:endParaRPr lang="en-US" sz="1300" dirty="0"/>
          </a:p>
        </p:txBody>
      </p:sp>
      <p:sp>
        <p:nvSpPr>
          <p:cNvPr id="13" name="Q 4"/>
          <p:cNvSpPr/>
          <p:nvPr/>
        </p:nvSpPr>
        <p:spPr>
          <a:xfrm>
            <a:off x="6172200" y="3136392"/>
            <a:ext cx="5440680" cy="1389888"/>
          </a:xfrm>
          <a:prstGeom prst="roundRect">
            <a:avLst>
              <a:gd name="adj" fmla="val 6579"/>
            </a:avLst>
          </a:prstGeom>
          <a:solidFill>
            <a:srgbClr val="F3F6FC"/>
          </a:solidFill>
          <a:ln w="12700">
            <a:solidFill>
              <a:srgbClr val="F3F6FC"/>
            </a:solidFill>
            <a:prstDash val="solid"/>
          </a:ln>
        </p:spPr>
      </p:sp>
      <p:sp>
        <p:nvSpPr>
          <p:cNvPr id="14" name="Text 12"/>
          <p:cNvSpPr txBox="1"/>
          <p:nvPr/>
        </p:nvSpPr>
        <p:spPr>
          <a:xfrm>
            <a:off x="6400800" y="3264408"/>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What about poor internet?</a:t>
            </a:r>
            <a:endParaRPr lang="en-US" sz="1500" dirty="0"/>
          </a:p>
        </p:txBody>
      </p:sp>
      <p:sp>
        <p:nvSpPr>
          <p:cNvPr id="15" name="Text 13"/>
          <p:cNvSpPr txBox="1"/>
          <p:nvPr/>
        </p:nvSpPr>
        <p:spPr>
          <a:xfrm>
            <a:off x="6400800" y="3611880"/>
            <a:ext cx="4983480" cy="868680"/>
          </a:xfrm>
          <a:prstGeom prst="rect">
            <a:avLst/>
          </a:prstGeom>
          <a:noFill/>
          <a:ln/>
        </p:spPr>
        <p:txBody>
          <a:bodyPr wrap="square" lIns="0" tIns="0" rIns="0" bIns="0" rtlCol="0" anchor="t"/>
          <a:lstStyle/>
          <a:p>
            <a:pPr indent="0" marL="0">
              <a:buNone/>
            </a:pPr>
            <a:r>
              <a:rPr lang="en-US" sz="1300" dirty="0">
                <a:solidFill>
                  <a:schemeClr val="tx1"/>
                </a:solidFill>
              </a:rPr>
              <a:t>The app keeps the class list on the phone and queues registers offline. Replays are ignored, so nothing is counted twice.</a:t>
            </a:r>
            <a:endParaRPr lang="en-US" sz="1300" dirty="0"/>
          </a:p>
        </p:txBody>
      </p:sp>
      <p:sp>
        <p:nvSpPr>
          <p:cNvPr id="16" name="Q 5"/>
          <p:cNvSpPr/>
          <p:nvPr/>
        </p:nvSpPr>
        <p:spPr>
          <a:xfrm>
            <a:off x="548640" y="4672584"/>
            <a:ext cx="5440680" cy="1389888"/>
          </a:xfrm>
          <a:prstGeom prst="roundRect">
            <a:avLst>
              <a:gd name="adj" fmla="val 6579"/>
            </a:avLst>
          </a:prstGeom>
          <a:solidFill>
            <a:srgbClr val="F3F6FC"/>
          </a:solidFill>
          <a:ln w="12700">
            <a:solidFill>
              <a:srgbClr val="F3F6FC"/>
            </a:solidFill>
            <a:prstDash val="solid"/>
          </a:ln>
        </p:spPr>
      </p:sp>
      <p:sp>
        <p:nvSpPr>
          <p:cNvPr id="17" name="Text 15"/>
          <p:cNvSpPr txBox="1"/>
          <p:nvPr/>
        </p:nvSpPr>
        <p:spPr>
          <a:xfrm>
            <a:off x="777240" y="4800600"/>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Do you hold parents' money?</a:t>
            </a:r>
            <a:endParaRPr lang="en-US" sz="1500" dirty="0"/>
          </a:p>
        </p:txBody>
      </p:sp>
      <p:sp>
        <p:nvSpPr>
          <p:cNvPr id="18" name="Text 16"/>
          <p:cNvSpPr txBox="1"/>
          <p:nvPr/>
        </p:nvSpPr>
        <p:spPr>
          <a:xfrm>
            <a:off x="777240" y="5148072"/>
            <a:ext cx="4983480" cy="868680"/>
          </a:xfrm>
          <a:prstGeom prst="rect">
            <a:avLst/>
          </a:prstGeom>
          <a:noFill/>
          <a:ln/>
        </p:spPr>
        <p:txBody>
          <a:bodyPr wrap="square" lIns="0" tIns="0" rIns="0" bIns="0" rtlCol="0" anchor="t"/>
          <a:lstStyle/>
          <a:p>
            <a:pPr indent="0" marL="0">
              <a:buNone/>
            </a:pPr>
            <a:r>
              <a:rPr lang="en-US" sz="1300" dirty="0">
                <a:solidFill>
                  <a:schemeClr val="tx1"/>
                </a:solidFill>
              </a:rPr>
              <a:t>No. Payments go to the school's own Razorpay account. We verify signatures and webhooks and reconcile orders and refunds.</a:t>
            </a:r>
            <a:endParaRPr lang="en-US" sz="1300" dirty="0"/>
          </a:p>
        </p:txBody>
      </p:sp>
      <p:sp>
        <p:nvSpPr>
          <p:cNvPr id="19" name="Q 6"/>
          <p:cNvSpPr/>
          <p:nvPr/>
        </p:nvSpPr>
        <p:spPr>
          <a:xfrm>
            <a:off x="6172200" y="4672584"/>
            <a:ext cx="5440680" cy="1389888"/>
          </a:xfrm>
          <a:prstGeom prst="roundRect">
            <a:avLst>
              <a:gd name="adj" fmla="val 6579"/>
            </a:avLst>
          </a:prstGeom>
          <a:solidFill>
            <a:srgbClr val="F3F6FC"/>
          </a:solidFill>
          <a:ln w="12700">
            <a:solidFill>
              <a:srgbClr val="F3F6FC"/>
            </a:solidFill>
            <a:prstDash val="solid"/>
          </a:ln>
        </p:spPr>
      </p:sp>
      <p:sp>
        <p:nvSpPr>
          <p:cNvPr id="20" name="Text 18"/>
          <p:cNvSpPr txBox="1"/>
          <p:nvPr/>
        </p:nvSpPr>
        <p:spPr>
          <a:xfrm>
            <a:off x="6400800" y="4800600"/>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SMS needs DLT registration. Are you blocked?</a:t>
            </a:r>
            <a:endParaRPr lang="en-US" sz="1500" dirty="0"/>
          </a:p>
        </p:txBody>
      </p:sp>
      <p:sp>
        <p:nvSpPr>
          <p:cNvPr id="21" name="Text 19"/>
          <p:cNvSpPr txBox="1"/>
          <p:nvPr/>
        </p:nvSpPr>
        <p:spPr>
          <a:xfrm>
            <a:off x="6400800" y="5148072"/>
            <a:ext cx="4983480" cy="868680"/>
          </a:xfrm>
          <a:prstGeom prst="rect">
            <a:avLst/>
          </a:prstGeom>
          <a:noFill/>
          <a:ln/>
        </p:spPr>
        <p:txBody>
          <a:bodyPr wrap="square" lIns="0" tIns="0" rIns="0" bIns="0" rtlCol="0" anchor="t"/>
          <a:lstStyle/>
          <a:p>
            <a:pPr indent="0" marL="0">
              <a:buNone/>
            </a:pPr>
            <a:r>
              <a:rPr lang="en-US" sz="1300" dirty="0">
                <a:solidFill>
                  <a:schemeClr val="tx1"/>
                </a:solidFill>
              </a:rPr>
              <a:t>No. The product runs on passwords and one-time codes from the school office; push is free. SMS switches on after DLT, with a daily limit.</a:t>
            </a:r>
            <a:endParaRPr lang="en-US" sz="13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841248" y="329184"/>
            <a:ext cx="73152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APPENDIX · JUDGE Q&amp;A 2/2</a:t>
            </a:r>
            <a:endParaRPr lang="en-US" sz="12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Questions we expect: risk, money and roadmap</a:t>
            </a:r>
            <a:endParaRPr lang="en-US" sz="3000" dirty="0"/>
          </a:p>
        </p:txBody>
      </p:sp>
      <p:sp>
        <p:nvSpPr>
          <p:cNvPr id="4" name="Q 7"/>
          <p:cNvSpPr/>
          <p:nvPr/>
        </p:nvSpPr>
        <p:spPr>
          <a:xfrm>
            <a:off x="548640" y="1600200"/>
            <a:ext cx="5440680" cy="1389888"/>
          </a:xfrm>
          <a:prstGeom prst="roundRect">
            <a:avLst>
              <a:gd name="adj" fmla="val 6579"/>
            </a:avLst>
          </a:prstGeom>
          <a:solidFill>
            <a:srgbClr val="F3F6FC"/>
          </a:solidFill>
          <a:ln w="12700">
            <a:solidFill>
              <a:srgbClr val="F3F6FC"/>
            </a:solidFill>
            <a:prstDash val="solid"/>
          </a:ln>
        </p:spPr>
      </p:sp>
      <p:sp>
        <p:nvSpPr>
          <p:cNvPr id="5" name="Text 3"/>
          <p:cNvSpPr txBox="1"/>
          <p:nvPr/>
        </p:nvSpPr>
        <p:spPr>
          <a:xfrm>
            <a:off x="777240" y="1728216"/>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Is the AI safe for children's data?</a:t>
            </a:r>
            <a:endParaRPr lang="en-US" sz="1500" dirty="0"/>
          </a:p>
        </p:txBody>
      </p:sp>
      <p:sp>
        <p:nvSpPr>
          <p:cNvPr id="6" name="Text 4"/>
          <p:cNvSpPr txBox="1"/>
          <p:nvPr/>
        </p:nvSpPr>
        <p:spPr>
          <a:xfrm>
            <a:off x="777240" y="2075688"/>
            <a:ext cx="4983480" cy="868680"/>
          </a:xfrm>
          <a:prstGeom prst="rect">
            <a:avLst/>
          </a:prstGeom>
          <a:noFill/>
          <a:ln/>
        </p:spPr>
        <p:txBody>
          <a:bodyPr wrap="square" lIns="0" tIns="0" rIns="0" bIns="0" rtlCol="0" anchor="t"/>
          <a:lstStyle/>
          <a:p>
            <a:pPr indent="0" marL="0">
              <a:buNone/>
            </a:pPr>
            <a:r>
              <a:rPr lang="en-US" sz="1300" dirty="0">
                <a:solidFill>
                  <a:schemeClr val="tx1"/>
                </a:solidFill>
              </a:rPr>
              <a:t>Names and phones are masked before anything reaches the model; it can only call permission-checked report tools; it's off until the live evaluation passes.</a:t>
            </a:r>
            <a:endParaRPr lang="en-US" sz="1300" dirty="0"/>
          </a:p>
        </p:txBody>
      </p:sp>
      <p:sp>
        <p:nvSpPr>
          <p:cNvPr id="7" name="Q 8"/>
          <p:cNvSpPr/>
          <p:nvPr/>
        </p:nvSpPr>
        <p:spPr>
          <a:xfrm>
            <a:off x="6172200" y="1600200"/>
            <a:ext cx="5440680" cy="1389888"/>
          </a:xfrm>
          <a:prstGeom prst="roundRect">
            <a:avLst>
              <a:gd name="adj" fmla="val 6579"/>
            </a:avLst>
          </a:prstGeom>
          <a:solidFill>
            <a:srgbClr val="F3F6FC"/>
          </a:solidFill>
          <a:ln w="12700">
            <a:solidFill>
              <a:srgbClr val="F3F6FC"/>
            </a:solidFill>
            <a:prstDash val="solid"/>
          </a:ln>
        </p:spPr>
      </p:sp>
      <p:sp>
        <p:nvSpPr>
          <p:cNvPr id="8" name="Text 6"/>
          <p:cNvSpPr txBox="1"/>
          <p:nvPr/>
        </p:nvSpPr>
        <p:spPr>
          <a:xfrm>
            <a:off x="6400800" y="1728216"/>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How do ID cards work? QR or RFID?</a:t>
            </a:r>
            <a:endParaRPr lang="en-US" sz="1500" dirty="0"/>
          </a:p>
        </p:txBody>
      </p:sp>
      <p:sp>
        <p:nvSpPr>
          <p:cNvPr id="9" name="Text 7"/>
          <p:cNvSpPr txBox="1"/>
          <p:nvPr/>
        </p:nvSpPr>
        <p:spPr>
          <a:xfrm>
            <a:off x="6400800" y="2075688"/>
            <a:ext cx="4983480" cy="868680"/>
          </a:xfrm>
          <a:prstGeom prst="rect">
            <a:avLst/>
          </a:prstGeom>
          <a:noFill/>
          <a:ln/>
        </p:spPr>
        <p:txBody>
          <a:bodyPr wrap="square" lIns="0" tIns="0" rIns="0" bIns="0" rtlCol="0" anchor="t"/>
          <a:lstStyle/>
          <a:p>
            <a:pPr indent="0" marL="0">
              <a:buNone/>
            </a:pPr>
            <a:r>
              <a:rPr lang="en-US" sz="1300" dirty="0">
                <a:solidFill>
                  <a:schemeClr val="tx1"/>
                </a:solidFill>
              </a:rPr>
              <a:t>Today: a print-ready PDF from profile data, one student or a whole section, office-only. QR or RFID would be a future enhancement; it isn't built.</a:t>
            </a:r>
            <a:endParaRPr lang="en-US" sz="1300" dirty="0"/>
          </a:p>
        </p:txBody>
      </p:sp>
      <p:sp>
        <p:nvSpPr>
          <p:cNvPr id="10" name="Q 9"/>
          <p:cNvSpPr/>
          <p:nvPr/>
        </p:nvSpPr>
        <p:spPr>
          <a:xfrm>
            <a:off x="548640" y="3136392"/>
            <a:ext cx="5440680" cy="1389888"/>
          </a:xfrm>
          <a:prstGeom prst="roundRect">
            <a:avLst>
              <a:gd name="adj" fmla="val 6579"/>
            </a:avLst>
          </a:prstGeom>
          <a:solidFill>
            <a:srgbClr val="F3F6FC"/>
          </a:solidFill>
          <a:ln w="12700">
            <a:solidFill>
              <a:srgbClr val="F3F6FC"/>
            </a:solidFill>
            <a:prstDash val="solid"/>
          </a:ln>
        </p:spPr>
      </p:sp>
      <p:sp>
        <p:nvSpPr>
          <p:cNvPr id="11" name="Text 9"/>
          <p:cNvSpPr txBox="1"/>
          <p:nvPr/>
        </p:nvSpPr>
        <p:spPr>
          <a:xfrm>
            <a:off x="777240" y="3264408"/>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What does it cost to run?</a:t>
            </a:r>
            <a:endParaRPr lang="en-US" sz="1500" dirty="0"/>
          </a:p>
        </p:txBody>
      </p:sp>
      <p:sp>
        <p:nvSpPr>
          <p:cNvPr id="12" name="Text 10"/>
          <p:cNvSpPr txBox="1"/>
          <p:nvPr/>
        </p:nvSpPr>
        <p:spPr>
          <a:xfrm>
            <a:off x="777240" y="3611880"/>
            <a:ext cx="4983480" cy="868680"/>
          </a:xfrm>
          <a:prstGeom prst="rect">
            <a:avLst/>
          </a:prstGeom>
          <a:noFill/>
          <a:ln/>
        </p:spPr>
        <p:txBody>
          <a:bodyPr wrap="square" lIns="0" tIns="0" rIns="0" bIns="0" rtlCol="0" anchor="t"/>
          <a:lstStyle/>
          <a:p>
            <a:pPr indent="0" marL="0">
              <a:buNone/>
            </a:pPr>
            <a:r>
              <a:rPr lang="en-US" sz="1300" dirty="0">
                <a:solidFill>
                  <a:schemeClr val="tx1"/>
                </a:solidFill>
              </a:rPr>
              <a:t>Our infrastructure notes put lean staging at about $25–45 a month: Cloud Run scales to zero and queues live in Postgres.</a:t>
            </a:r>
            <a:endParaRPr lang="en-US" sz="1300" dirty="0"/>
          </a:p>
        </p:txBody>
      </p:sp>
      <p:sp>
        <p:nvSpPr>
          <p:cNvPr id="13" name="Q 10"/>
          <p:cNvSpPr/>
          <p:nvPr/>
        </p:nvSpPr>
        <p:spPr>
          <a:xfrm>
            <a:off x="6172200" y="3136392"/>
            <a:ext cx="5440680" cy="1389888"/>
          </a:xfrm>
          <a:prstGeom prst="roundRect">
            <a:avLst>
              <a:gd name="adj" fmla="val 6579"/>
            </a:avLst>
          </a:prstGeom>
          <a:solidFill>
            <a:srgbClr val="F3F6FC"/>
          </a:solidFill>
          <a:ln w="12700">
            <a:solidFill>
              <a:srgbClr val="F3F6FC"/>
            </a:solidFill>
            <a:prstDash val="solid"/>
          </a:ln>
        </p:spPr>
      </p:sp>
      <p:sp>
        <p:nvSpPr>
          <p:cNvPr id="14" name="Text 12"/>
          <p:cNvSpPr txBox="1"/>
          <p:nvPr/>
        </p:nvSpPr>
        <p:spPr>
          <a:xfrm>
            <a:off x="6400800" y="3264408"/>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How will you price it?</a:t>
            </a:r>
            <a:endParaRPr lang="en-US" sz="1500" dirty="0"/>
          </a:p>
        </p:txBody>
      </p:sp>
      <p:sp>
        <p:nvSpPr>
          <p:cNvPr id="15" name="Text 13"/>
          <p:cNvSpPr txBox="1"/>
          <p:nvPr/>
        </p:nvSpPr>
        <p:spPr>
          <a:xfrm>
            <a:off x="6400800" y="3611880"/>
            <a:ext cx="4983480" cy="868680"/>
          </a:xfrm>
          <a:prstGeom prst="rect">
            <a:avLst/>
          </a:prstGeom>
          <a:noFill/>
          <a:ln/>
        </p:spPr>
        <p:txBody>
          <a:bodyPr wrap="square" lIns="0" tIns="0" rIns="0" bIns="0" rtlCol="0" anchor="t"/>
          <a:lstStyle/>
          <a:p>
            <a:pPr indent="0" marL="0">
              <a:buNone/>
            </a:pPr>
            <a:r>
              <a:rPr lang="en-US" sz="1300" dirty="0">
                <a:solidFill>
                  <a:schemeClr val="tx1"/>
                </a:solidFill>
              </a:rPr>
              <a:t>Yearly subscription by plan, sized by students. Limits are enforced in code; launch prices will be set after pilots.</a:t>
            </a:r>
            <a:endParaRPr lang="en-US" sz="1300" dirty="0"/>
          </a:p>
        </p:txBody>
      </p:sp>
      <p:sp>
        <p:nvSpPr>
          <p:cNvPr id="16" name="Q 11"/>
          <p:cNvSpPr/>
          <p:nvPr/>
        </p:nvSpPr>
        <p:spPr>
          <a:xfrm>
            <a:off x="548640" y="4672584"/>
            <a:ext cx="5440680" cy="1389888"/>
          </a:xfrm>
          <a:prstGeom prst="roundRect">
            <a:avLst>
              <a:gd name="adj" fmla="val 6579"/>
            </a:avLst>
          </a:prstGeom>
          <a:solidFill>
            <a:srgbClr val="F3F6FC"/>
          </a:solidFill>
          <a:ln w="12700">
            <a:solidFill>
              <a:srgbClr val="F3F6FC"/>
            </a:solidFill>
            <a:prstDash val="solid"/>
          </a:ln>
        </p:spPr>
      </p:sp>
      <p:sp>
        <p:nvSpPr>
          <p:cNvPr id="17" name="Text 15"/>
          <p:cNvSpPr txBox="1"/>
          <p:nvPr/>
        </p:nvSpPr>
        <p:spPr>
          <a:xfrm>
            <a:off x="777240" y="4800600"/>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What about iOS?</a:t>
            </a:r>
            <a:endParaRPr lang="en-US" sz="1500" dirty="0"/>
          </a:p>
        </p:txBody>
      </p:sp>
      <p:sp>
        <p:nvSpPr>
          <p:cNvPr id="18" name="Text 16"/>
          <p:cNvSpPr txBox="1"/>
          <p:nvPr/>
        </p:nvSpPr>
        <p:spPr>
          <a:xfrm>
            <a:off x="777240" y="5148072"/>
            <a:ext cx="4983480" cy="868680"/>
          </a:xfrm>
          <a:prstGeom prst="rect">
            <a:avLst/>
          </a:prstGeom>
          <a:noFill/>
          <a:ln/>
        </p:spPr>
        <p:txBody>
          <a:bodyPr wrap="square" lIns="0" tIns="0" rIns="0" bIns="0" rtlCol="0" anchor="t"/>
          <a:lstStyle/>
          <a:p>
            <a:pPr indent="0" marL="0">
              <a:buNone/>
            </a:pPr>
            <a:r>
              <a:rPr lang="en-US" sz="1300" dirty="0">
                <a:solidFill>
                  <a:schemeClr val="tx1"/>
                </a:solidFill>
              </a:rPr>
              <a:t>Planned. The app is Flutter, so the same code targets iOS; it needs an Apple developer account and a Mac build.</a:t>
            </a:r>
            <a:endParaRPr lang="en-US" sz="1300" dirty="0"/>
          </a:p>
        </p:txBody>
      </p:sp>
      <p:sp>
        <p:nvSpPr>
          <p:cNvPr id="19" name="Q 12"/>
          <p:cNvSpPr/>
          <p:nvPr/>
        </p:nvSpPr>
        <p:spPr>
          <a:xfrm>
            <a:off x="6172200" y="4672584"/>
            <a:ext cx="5440680" cy="1389888"/>
          </a:xfrm>
          <a:prstGeom prst="roundRect">
            <a:avLst>
              <a:gd name="adj" fmla="val 6579"/>
            </a:avLst>
          </a:prstGeom>
          <a:solidFill>
            <a:srgbClr val="F3F6FC"/>
          </a:solidFill>
          <a:ln w="12700">
            <a:solidFill>
              <a:srgbClr val="F3F6FC"/>
            </a:solidFill>
            <a:prstDash val="solid"/>
          </a:ln>
        </p:spPr>
      </p:sp>
      <p:sp>
        <p:nvSpPr>
          <p:cNvPr id="20" name="Text 18"/>
          <p:cNvSpPr txBox="1"/>
          <p:nvPr/>
        </p:nvSpPr>
        <p:spPr>
          <a:xfrm>
            <a:off x="6400800" y="4800600"/>
            <a:ext cx="4983480" cy="329184"/>
          </a:xfrm>
          <a:prstGeom prst="rect">
            <a:avLst/>
          </a:prstGeom>
          <a:noFill/>
          <a:ln/>
        </p:spPr>
        <p:txBody>
          <a:bodyPr wrap="square" lIns="0" tIns="0" rIns="0" bIns="0" rtlCol="0" anchor="ctr"/>
          <a:lstStyle/>
          <a:p>
            <a:pPr indent="0" marL="0">
              <a:buNone/>
            </a:pPr>
            <a:r>
              <a:rPr lang="en-US" sz="1500" b="1" dirty="0">
                <a:solidFill>
                  <a:schemeClr val="accent1"/>
                </a:solidFill>
              </a:rPr>
              <a:t>Privacy law compliance?</a:t>
            </a:r>
            <a:endParaRPr lang="en-US" sz="1500" dirty="0"/>
          </a:p>
        </p:txBody>
      </p:sp>
      <p:sp>
        <p:nvSpPr>
          <p:cNvPr id="21" name="Text 19"/>
          <p:cNvSpPr txBox="1"/>
          <p:nvPr/>
        </p:nvSpPr>
        <p:spPr>
          <a:xfrm>
            <a:off x="6400800" y="5148072"/>
            <a:ext cx="4983480" cy="868680"/>
          </a:xfrm>
          <a:prstGeom prst="rect">
            <a:avLst/>
          </a:prstGeom>
          <a:noFill/>
          <a:ln/>
        </p:spPr>
        <p:txBody>
          <a:bodyPr wrap="square" lIns="0" tIns="0" rIns="0" bIns="0" rtlCol="0" anchor="t"/>
          <a:lstStyle/>
          <a:p>
            <a:pPr indent="0" marL="0">
              <a:buNone/>
            </a:pPr>
            <a:r>
              <a:rPr lang="en-US" sz="1300" dirty="0">
                <a:solidFill>
                  <a:schemeClr val="tx1"/>
                </a:solidFill>
              </a:rPr>
              <a:t>Designed around the DPDP Act: the school is the fiduciary, Bastaa the processor; data in Indian regions; audit log; legal review before go-live.</a:t>
            </a:r>
            <a:endParaRPr lang="en-US" sz="1300" dirty="0"/>
          </a:p>
        </p:txBody>
      </p:sp>
      <p:sp>
        <p:nvSpPr>
          <p:cNvPr id="25" name="Slide Number Placeholder 0"/>
          <p:cNvSpPr>
            <a:spLocks noGrp="1"/>
          </p:cNvSpPr>
          <p:nvPr>
            <p:ph type="sldNum" sz="quarter" idx="4294967295"/>
          </p:nvPr>
        </p:nvSpPr>
        <p:spPr>
          <a:xfrm>
            <a:off x="1115568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Bastaa">
  <a:themeElements>
    <a:clrScheme name="Bastaa">
      <a:dk1>
        <a:srgbClr val="0E1630"/>
      </a:dk1>
      <a:lt1>
        <a:srgbClr val="FFFFFF"/>
      </a:lt1>
      <a:dk2>
        <a:srgbClr val="1C2747"/>
      </a:dk2>
      <a:lt2>
        <a:srgbClr val="F3F6FC"/>
      </a:lt2>
      <a:accent1>
        <a:srgbClr val="2F6FEB"/>
      </a:accent1>
      <a:accent2>
        <a:srgbClr val="F7A400"/>
      </a:accent2>
      <a:accent3>
        <a:srgbClr val="13804B"/>
      </a:accent3>
      <a:accent4>
        <a:srgbClr val="5B6478"/>
      </a:accent4>
      <a:accent5>
        <a:srgbClr val="A9C3FA"/>
      </a:accent5>
      <a:accent6>
        <a:srgbClr val="D64545"/>
      </a:accent6>
      <a:hlink>
        <a:srgbClr val="2F6FEB"/>
      </a:hlink>
      <a:folHlink>
        <a:srgbClr val="5B6478"/>
      </a:folHlink>
    </a:clrScheme>
    <a:fontScheme name="Basta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Bastaa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Bastaa — school management for Indian schools</dc:title>
  <dc:subject>PptxGenJS Presentation</dc:subject>
  <dc:creator>Bastaa</dc:creator>
  <cp:lastModifiedBy>Bastaa</cp:lastModifiedBy>
  <cp:revision>1</cp:revision>
  <dcterms:created xsi:type="dcterms:W3CDTF">2026-10-23T18:58:43Z</dcterms:created>
  <dcterms:modified xsi:type="dcterms:W3CDTF">2026-10-23T18:58:43Z</dcterms:modified>
</cp:coreProperties>
</file>